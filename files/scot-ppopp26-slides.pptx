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1.xml" ContentType="application/vnd.openxmlformats-officedocument.presentationml.slideLayout+xml"/>
  <Override PartName="/ppt/diagrams/quickStyle1.xml" ContentType="application/vnd.openxmlformats-officedocument.drawingml.diagramQuickStyl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diagrams/data1.xml" ContentType="application/vnd.openxmlformats-officedocument.drawingml.diagramData+xml"/>
  <Override PartName="/ppt/notesSlides/notesSlide40.xml" ContentType="application/vnd.openxmlformats-officedocument.presentationml.notesSlide+xml"/>
  <Override PartName="/ppt/diagrams/drawing1.xml" ContentType="application/vnd.openxmlformats-officedocument.drawingml.diagramDrawing+xml"/>
  <Override PartName="/ppt/slides/slide32.xml" ContentType="application/vnd.openxmlformats-officedocument.presentationml.slide+xml"/>
  <Override PartName="/ppt/diagrams/layout1.xml" ContentType="application/vnd.openxmlformats-officedocument.drawingml.diagramLayout+xml"/>
  <Override PartName="/ppt/notesSlides/notesSlide26.xml" ContentType="application/vnd.openxmlformats-officedocument.presentationml.notesSlide+xml"/>
  <Override PartName="/ppt/slides/slide17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ustom.xml" ContentType="application/vnd.openxmlformats-officedocument.custom-properties+xml"/>
  <Override PartName="/ppt/notesSlides/notesSlide22.xml" ContentType="application/vnd.openxmlformats-officedocument.presentationml.notes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diagrams/colors1.xml" ContentType="application/vnd.openxmlformats-officedocument.drawingml.diagramColors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4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115116320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 /><Relationship Id="rId47" Type="http://schemas.openxmlformats.org/officeDocument/2006/relationships/tableStyles" Target="tableStyles.xml" /><Relationship Id="rId48" Type="http://schemas.openxmlformats.org/officeDocument/2006/relationships/viewProps" Target="viewProps.xml" /></Relationships>
</file>

<file path=ppt/diagrams/_rels/data1.xml.rels><?xml version="1.0" encoding="UTF-8" standalone="yes"?>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/Relationships>
</file>

<file path=ppt/diagrams/_rels/drawing1.xml.rels><?xml version="1.0" encoding="UTF-8" standalone="yes"?>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1">
    <dgm:fillClrLst hueDir="cw" meth="repeat">
      <a:schemeClr val="bg1"/>
    </dgm:fillClrLst>
    <dgm:linClrLst hueDir="cw" meth="repeat">
      <a:schemeClr val="lt1">
        <a:alpha val="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Node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span"/>
    <dgm:txEffectClrLst hueDir="cw" meth="span"/>
  </dgm:styleLbl>
  <dgm:styleLbl name="lnNode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vennNode1">
    <dgm:fillClrLst hueDir="cw"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2">
    <dgm:fillClrLst hueDir="cw" meth="span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3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node4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ImgPlace1">
    <dgm:fillClrLst hueDir="cw"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alignImgPlace1">
    <dgm:fillClrLst hueDir="cw" meth="span">
      <a:schemeClr val="accent1">
        <a:tint val="50000"/>
      </a:schemeClr>
      <a:schemeClr val="accent2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ImgPlace1">
    <dgm:fillClrLst hueDir="cw" meth="span">
      <a:schemeClr val="accent1">
        <a:tint val="50000"/>
      </a:schemeClr>
      <a:schemeClr val="accent2">
        <a:tint val="2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2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cycle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fgSibTrans2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cycle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bgSibTrans2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cycle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sibTrans1D1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callout">
    <dgm:fillClrLst hueDir="cw" meth="repeat">
      <a:schemeClr val="accent2"/>
    </dgm:fillClrLst>
    <dgm:linClrLst hueDir="cw" meth="repeat">
      <a:schemeClr val="accent2">
        <a:tint val="50000"/>
      </a:schemeClr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asst0">
    <dgm:fillClrLst hueDir="cw" meth="repeat">
      <a:schemeClr val="accent1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2">
    <dgm:fillClrLst hueDir="cw" meth="span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3">
    <dgm:fillClrLst hueDir="cw" meth="span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asst4">
    <dgm:fillClrLst hueDir="cw" meth="span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1">
    <dgm:fillClrLst hueDir="cw" meth="repeat">
      <a:schemeClr val="accent2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2D2">
    <dgm:fillClrLst hueDir="cw" meth="repeat">
      <a:schemeClr val="accent3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3">
    <dgm:fillClrLst hueDir="cw" meth="repeat">
      <a:schemeClr val="accent4"/>
    </dgm:fillClrLst>
    <dgm:linClrLst hueDir="cw" meth="repeat">
      <a:schemeClr val="lt1"/>
    </dgm:linClrLst>
    <dgm:effectClrLst hueDir="cw" meth="span"/>
    <dgm:txLinClrLst hueDir="cw" meth="span"/>
    <dgm:txFillClrLst hueDir="cw" meth="span"/>
    <dgm:txEffectClrLst hueDir="cw" meth="span"/>
  </dgm:styleLbl>
  <dgm:styleLbl name="parChTrans2D4">
    <dgm:fillClrLst hueDir="cw" meth="repeat">
      <a:schemeClr val="accent5"/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parChTrans1D1">
    <dgm:fillClrLst hueDir="cw" meth="repeat">
      <a:schemeClr val="accent2"/>
    </dgm:fillClrLst>
    <dgm:linClrLst hueDir="cw" meth="repeat">
      <a:schemeClr val="accent1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2">
    <dgm:fillClrLst hueDir="cw" meth="repeat">
      <a:schemeClr val="accent3">
        <a:tint val="9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3">
    <dgm:fillClrLst hueDir="cw" meth="repeat">
      <a:schemeClr val="accent4">
        <a:tint val="70000"/>
      </a:schemeClr>
    </dgm:fillClrLst>
    <dgm:linClrLst hueDir="cw" meth="repeat">
      <a:schemeClr val="accent3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parChTrans1D4">
    <dgm:fillClrLst hueDir="cw" meth="repeat">
      <a:schemeClr val="accent5">
        <a:tint val="50000"/>
      </a:schemeClr>
    </dgm:fillClrLst>
    <dgm:linClrLst hueDir="cw" meth="repeat">
      <a:schemeClr val="accent4"/>
    </dgm:linClrLst>
    <dgm:effectClrLst hueDir="cw" meth="span"/>
    <dgm:txLinClrLst hueDir="cw" meth="span"/>
    <dgm:txFillClrLst hueDir="cw" meth="repeat">
      <a:schemeClr val="tx1"/>
    </dgm:txFillClrLst>
    <dgm:txEffectClrLst hueDir="cw" meth="span"/>
  </dgm:styleLbl>
  <dgm:styleLbl name="fg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conFg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trAlignAcc1">
    <dgm:fillClrLst hueDir="cw" meth="repeat">
      <a:schemeClr val="lt1">
        <a:alpha val="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1">
    <dgm:fillClrLst hueDir="cw" meth="repeat">
      <a:schemeClr val="lt1">
        <a:alpha val="90000"/>
      </a:schemeClr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FgAcc1">
    <dgm:fillClrLst hueDir="cw" meth="repeat">
      <a:schemeClr val="lt1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AlignAcc1">
    <dgm:fillClrLst hueDir="cw" meth="repeat">
      <a:schemeClr val="lt1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solidBgAcc1">
    <dgm:fillClrLst hueDir="cw" meth="repeat">
      <a:schemeClr val="lt1"/>
    </dgm:fillClrLst>
    <dgm:linClrLst hueDir="cw" meth="repeat">
      <a:schemeClr val="accent2"/>
      <a:schemeClr val="accent3"/>
      <a:schemeClr val="accent4"/>
      <a:schemeClr val="accent5"/>
      <a:schemeClr val="accent6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FollowNode1">
    <dgm:fill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alignAccFollowNode1">
    <dgm:fill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AccFollowNode1">
    <dgm:fill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hueDir="cw"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0">
    <dgm:fillClrLst hueDir="cw" meth="repeat">
      <a:schemeClr val="lt1">
        <a:alpha val="90000"/>
      </a:schemeClr>
    </dgm:fillClrLst>
    <dgm:linClrLst hueDir="cw" meth="span">
      <a:schemeClr val="accen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2">
    <dgm:fillClrLst hueDir="cw" meth="repeat">
      <a:schemeClr val="lt1">
        <a:alpha val="90000"/>
      </a:schemeClr>
    </dgm:fillClrLst>
    <dgm:linClrLst hueDir="cw" meth="span">
      <a:schemeClr val="accent2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3">
    <dgm:fillClrLst hueDir="cw" meth="repeat">
      <a:schemeClr val="lt1">
        <a:alpha val="90000"/>
      </a:schemeClr>
    </dgm:fillClrLst>
    <dgm:linClrLst hueDir="cw" meth="span">
      <a:schemeClr val="accent3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fgAcc4">
    <dgm:fillClrLst hueDir="cw" meth="repeat">
      <a:schemeClr val="lt1">
        <a:alpha val="90000"/>
      </a:schemeClr>
    </dgm:fillClrLst>
    <dgm:linClrLst hueDir="cw" meth="span">
      <a:schemeClr val="accent4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bgShp">
    <dgm:fillClrLst hueDir="cw" meth="repeat">
      <a:schemeClr val="accent2"/>
      <a:schemeClr val="accent3"/>
      <a:schemeClr val="accent4"/>
      <a:schemeClr val="accent5"/>
      <a:schemeClr val="accent6"/>
    </dgm:fillClrLst>
    <dgm:linClrLst hueDir="cw" meth="repeat">
      <a:schemeClr val="lt1">
        <a:alpha val="0"/>
      </a:schemeClr>
    </dgm:linClrLst>
    <dgm:effectClrLst hueDir="cw" meth="span"/>
    <dgm:txLinClrLst hueDir="cw" meth="span"/>
    <dgm:txFillClrLst hueDir="cw" meth="span"/>
    <dgm:txEffectClrLst hueDir="cw" meth="span"/>
  </dgm:styleLbl>
  <dgm:styleLbl name="dkBgShp">
    <dgm:fillClrLst hueDir="cw" meth="repeat">
      <a:schemeClr val="accent2">
        <a:shade val="90000"/>
      </a:schemeClr>
    </dgm:fillClrLst>
    <dgm:linClrLst hueDir="cw" meth="repeat">
      <a:schemeClr val="dk1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trBgShp">
    <dgm:fillClrLst hueDir="cw" meth="repeat">
      <a:schemeClr val="accent1">
        <a:tint val="50000"/>
        <a:alpha val="40000"/>
      </a:schemeClr>
    </dgm:fillClrLst>
    <dgm:linClrLst hueDir="cw" meth="repeat">
      <a:schemeClr val="accent2"/>
    </dgm:linClrLst>
    <dgm:effectClrLst hueDir="cw" meth="span"/>
    <dgm:txLinClrLst hueDir="cw" meth="span"/>
    <dgm:txFillClrLst hueDir="cw" meth="repeat">
      <a:schemeClr val="lt1"/>
    </dgm:txFillClrLst>
    <dgm:txEffectClrLst hueDir="cw" meth="span"/>
  </dgm:styleLbl>
  <dgm:styleLbl name="fgShp">
    <dgm:fillClrLst hueDir="cw" meth="repeat">
      <a:schemeClr val="accent2">
        <a:tint val="40000"/>
      </a:schemeClr>
    </dgm:fillClrLst>
    <dgm:linClrLst hueDir="cw" meth="repeat">
      <a:schemeClr val="lt1"/>
    </dgm:linClrLst>
    <dgm:effectClrLst hueDir="cw" meth="span"/>
    <dgm:txLinClrLst hueDir="cw" meth="span"/>
    <dgm:txFillClrLst hueDir="cw" meth="repeat">
      <a:schemeClr val="dk1"/>
    </dgm:txFillClrLst>
    <dgm:txEffectClrLst hueDir="cw" meth="span"/>
  </dgm:styleLbl>
  <dgm:styleLbl name="revTx">
    <dgm:fillClrLst hueDir="cw" meth="repeat">
      <a:schemeClr val="accent2">
        <a:alpha val="0"/>
      </a:schemeClr>
    </dgm:fillClrLst>
    <dgm:linClrLst hueDir="cw" meth="repeat">
      <a:schemeClr val="accent2">
        <a:alpha val="0"/>
      </a:schemeClr>
    </dgm:linClrLst>
    <dgm:effectClrLst hueDir="cw" meth="span"/>
    <dgm:txLinClrLst hueDir="cw" meth="span"/>
    <dgm:txFillClrLst hueDir="cw" meth="repeat">
      <a:schemeClr val="accent2"/>
      <a:schemeClr val="accent3"/>
      <a:schemeClr val="accent4"/>
      <a:schemeClr val="accent5"/>
      <a:schemeClr val="accent6"/>
    </dgm:txFillClrLst>
    <dgm:txEffectClrLst hueDir="cw" meth="span"/>
  </dgm:styleLbl>
</dgm:colorsDef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93BCEAEB-17C8-40C0-938D-A23991BBE45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 bwMode="auto"/>
      <dgm:t>
        <a:bodyPr/>
        <a:lstStyle/>
        <a:p>
          <a:pPr>
            <a:defRPr/>
          </a:pPr>
          <a:endParaRPr lang="en-US"/>
        </a:p>
      </dgm:t>
    </dgm:pt>
    <dgm:pt modelId="{EBD9625F-5264-483A-A314-DC54699AED80}" type="node">
      <dgm:prSet/>
      <dgm:spPr bwMode="auto"/>
      <dgm:t>
        <a:bodyPr vert="horz" anchor="t"/>
        <a:lstStyle/>
        <a:p>
          <a:pPr mar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en-US"/>
            <a:t>Thank You!</a:t>
          </a:r>
          <a:endParaRPr/>
        </a:p>
      </dgm:t>
    </dgm:pt>
    <dgm:pt modelId="{1D738220-65ED-4448-82EC-3AD64629C7EB}" type="parTrans" cxnId="{D0EDDB22-8433-4394-A825-363D574F38B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30C86F2E-DB15-4424-A7F5-869ACB1B2615}" type="sibTrans" cxnId="{D0EDDB22-8433-4394-A825-363D574F38BD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877625F6-D15C-4304-B323-C81716D083F5}" type="node">
      <dgm:prSet/>
      <dgm:spPr bwMode="auto"/>
      <dgm:t>
        <a:bodyPr vert="horz" anchor="t"/>
        <a:lstStyle/>
        <a:p>
          <a:pPr mar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defRPr/>
          </a:pPr>
          <a:r>
            <a:rPr lang="en-US"/>
            <a:t>Questions?</a:t>
          </a:r>
          <a:endParaRPr/>
        </a:p>
      </dgm:t>
    </dgm:pt>
    <dgm:pt modelId="{E26607BA-E591-487B-9CBC-2691F2CCD2D3}" type="parTrans" cxnId="{FCCBBB86-63F7-4483-8285-A51DF0C0BE8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4BE4701C-AD7B-42BB-BA08-F4A8565C5B4D}" type="sibTrans" cxnId="{FCCBBB86-63F7-4483-8285-A51DF0C0BE80}">
      <dgm:prSet/>
      <dgm:spPr bwMode="auto"/>
      <dgm:t>
        <a:bodyPr/>
        <a:lstStyle/>
        <a:p>
          <a:pPr>
            <a:defRPr/>
          </a:pPr>
          <a:endParaRPr lang="en-US"/>
        </a:p>
      </dgm:t>
    </dgm:pt>
    <dgm:pt modelId="{6E7D6B7F-1268-40E2-82BF-BA82CF15F172}" type="pres">
      <dgm:prSet presAssocID="{93BCEAEB-17C8-40C0-938D-A23991BBE45C}" presName="root" presStyleCnt="0">
        <dgm:presLayoutVars>
          <dgm:dir val="norm"/>
          <dgm:resizeHandles val="exact"/>
        </dgm:presLayoutVars>
      </dgm:prSet>
      <dgm:spPr bwMode="auto"/>
    </dgm:pt>
    <dgm:pt modelId="{27490C54-FD3D-4594-A9D2-11B375C849BD}" type="pres">
      <dgm:prSet presAssocID="{EBD9625F-5264-483A-A314-DC54699AED80}" presName="compNode" presStyleCnt="0"/>
      <dgm:spPr bwMode="auto"/>
    </dgm:pt>
    <dgm:pt modelId="{02AEA1C4-7EB4-4EF3-8F1F-A744BB143D36}" type="pres">
      <dgm:prSet presAssocID="{EBD9625F-5264-483A-A314-DC54699AED80}" presName="iconBgRect" presStyleLbl="bgShp" presStyleIdx="0" presStyleCnt="2"/>
      <dgm:spPr bwMode="auto">
        <a:solidFill>
          <a:schemeClr val="accent2">
            <a:lumMod val="40000"/>
            <a:lumOff val="60000"/>
          </a:schemeClr>
        </a:solidFill>
      </dgm:spPr>
    </dgm:pt>
    <dgm:pt modelId="{9CD84287-164A-4FD0-A7C8-903FCF0942C1}" type="pres">
      <dgm:prSet presAssocID="{EBD9625F-5264-483A-A314-DC54699AED80}" presName="iconRect" presStyleLbl="node1" presStyleIdx="0" presStyleCnt="2"/>
      <dgm:spPr bwMode="auto">
        <a:blipFill rotWithShape="1">
          <a:blip r:embed="rId1"/>
          <a:stretch/>
        </a:blipFill>
        <a:ln w="19050" cap="flat" cmpd="sng" algn="ctr">
          <a:noFill/>
          <a:prstDash val="solid"/>
          <a:miter lim="800000"/>
        </a:ln>
        <a:effectLst/>
      </dgm:spPr>
    </dgm:pt>
    <dgm:pt modelId="{F0B2E262-E1E0-48AF-B22A-3CAC82DA9FCF}" type="pres">
      <dgm:prSet presAssocID="{EBD9625F-5264-483A-A314-DC54699AED80}" presName="spaceRect" presStyleCnt="0"/>
      <dgm:spPr bwMode="auto"/>
    </dgm:pt>
    <dgm:pt modelId="{AFC032F2-6602-4F1E-9CB1-309B6906AE43}" type="pres">
      <dgm:prSet presAssocID="{EBD9625F-5264-483A-A314-DC54699AED80}" presName="textRect" presStyleLbl="revTx" presStyleIdx="0" presStyleCnt="2">
        <dgm:presLayoutVars>
          <dgm:chMax val="1"/>
          <dgm:chPref val="1"/>
        </dgm:presLayoutVars>
      </dgm:prSet>
      <dgm:spPr bwMode="auto"/>
    </dgm:pt>
    <dgm:pt modelId="{7945D099-6937-4E68-A01A-3D8C1FF819F2}" type="pres">
      <dgm:prSet presAssocID="{30C86F2E-DB15-4424-A7F5-869ACB1B2615}" presName="sibTrans" presStyleCnt="0"/>
      <dgm:spPr bwMode="auto"/>
    </dgm:pt>
    <dgm:pt modelId="{2C47D29D-F022-453C-BD53-7D4F1A5EAC74}" type="pres">
      <dgm:prSet presAssocID="{877625F6-D15C-4304-B323-C81716D083F5}" presName="compNode" presStyleCnt="0"/>
      <dgm:spPr bwMode="auto"/>
    </dgm:pt>
    <dgm:pt modelId="{FA5782E3-FAD1-4CDD-85F7-E0A855FC6E19}" type="pres">
      <dgm:prSet presAssocID="{877625F6-D15C-4304-B323-C81716D083F5}" presName="iconBgRect" presStyleLbl="bgShp" presStyleIdx="1" presStyleCnt="2"/>
      <dgm:spPr bwMode="auto">
        <a:solidFill>
          <a:schemeClr val="accent1">
            <a:lumMod val="40000"/>
            <a:lumOff val="60000"/>
          </a:schemeClr>
        </a:solidFill>
      </dgm:spPr>
    </dgm:pt>
    <dgm:pt modelId="{1DEACDB4-5AAB-4336-8A3D-82E358E4B420}" type="pres">
      <dgm:prSet presAssocID="{877625F6-D15C-4304-B323-C81716D083F5}" presName="iconRect" presStyleLbl="node1" presStyleIdx="1" presStyleCnt="2"/>
      <dgm:spPr bwMode="auto">
        <a:blipFill rotWithShape="1">
          <a:blip r:embed="rId2"/>
          <a:stretch/>
        </a:blipFill>
        <a:ln>
          <a:noFill/>
        </a:ln>
      </dgm:spPr>
    </dgm:pt>
    <dgm:pt modelId="{3DD370C4-4E46-4D7F-882C-F33DDA2ACD42}" type="pres">
      <dgm:prSet presAssocID="{877625F6-D15C-4304-B323-C81716D083F5}" presName="spaceRect" presStyleCnt="0"/>
      <dgm:spPr bwMode="auto"/>
    </dgm:pt>
    <dgm:pt modelId="{D144BA79-E794-47A8-A6F2-C6F059308834}" type="pres">
      <dgm:prSet presAssocID="{877625F6-D15C-4304-B323-C81716D083F5}" presName="textRect" presStyleLbl="revTx" presStyleIdx="1" presStyleCnt="2">
        <dgm:presLayoutVars>
          <dgm:chMax val="1"/>
          <dgm:chPref val="1"/>
        </dgm:presLayoutVars>
      </dgm:prSet>
      <dgm:spPr bwMode="auto"/>
    </dgm:pt>
  </dgm:ptLst>
  <dgm:cxnLst>
    <dgm:cxn modelId="{D0EDDB22-8433-4394-A825-363D574F38BD}" type="parOf" srcId="{93BCEAEB-17C8-40C0-938D-A23991BBE45C}" destId="{EBD9625F-5264-483A-A314-DC54699AED80}" srcOrd="0" destOrd="0" parTransId="{1D738220-65ED-4448-82EC-3AD64629C7EB}" sibTransId="{30C86F2E-DB15-4424-A7F5-869ACB1B2615}"/>
    <dgm:cxn modelId="{39228181-D734-4AEB-AC55-D3D6C493F790}" type="presOf" srcId="{EBD9625F-5264-483A-A314-DC54699AED80}" destId="{AFC032F2-6602-4F1E-9CB1-309B6906AE43}" srcOrd="0" destOrd="0" presId="urn:microsoft.com/office/officeart/2018/5/layout/IconCircleLabelList"/>
    <dgm:cxn modelId="{FCCBBB86-63F7-4483-8285-A51DF0C0BE80}" type="parOf" srcId="{93BCEAEB-17C8-40C0-938D-A23991BBE45C}" destId="{877625F6-D15C-4304-B323-C81716D083F5}" srcOrd="1" destOrd="0" parTransId="{E26607BA-E591-487B-9CBC-2691F2CCD2D3}" sibTransId="{4BE4701C-AD7B-42BB-BA08-F4A8565C5B4D}"/>
    <dgm:cxn modelId="{7D9CBDB9-5CA5-4310-B307-DC0B9D295376}" type="presOf" srcId="{877625F6-D15C-4304-B323-C81716D083F5}" destId="{D144BA79-E794-47A8-A6F2-C6F059308834}" srcOrd="0" destOrd="0" presId="urn:microsoft.com/office/officeart/2018/5/layout/IconCircleLabelList"/>
    <dgm:cxn modelId="{C82586D6-9CFF-4024-9944-C25DFC92B0A0}" type="presOf" srcId="{93BCEAEB-17C8-40C0-938D-A23991BBE45C}" destId="{6E7D6B7F-1268-40E2-82BF-BA82CF15F172}" srcOrd="0" destOrd="0" presId="urn:microsoft.com/office/officeart/2018/5/layout/IconCircleLabelList"/>
    <dgm:cxn modelId="{ED450CF6-EF13-4680-822D-631E4F523714}" type="presParOf" srcId="{6E7D6B7F-1268-40E2-82BF-BA82CF15F172}" destId="{27490C54-FD3D-4594-A9D2-11B375C849BD}" srcOrd="0" destOrd="0" presId="urn:microsoft.com/office/officeart/2018/5/layout/IconCircleLabelList"/>
    <dgm:cxn modelId="{BE7FCC9A-58BC-49F7-A121-AC04EBE08666}" type="presParOf" srcId="{27490C54-FD3D-4594-A9D2-11B375C849BD}" destId="{02AEA1C4-7EB4-4EF3-8F1F-A744BB143D36}" srcOrd="0" destOrd="0" presId="urn:microsoft.com/office/officeart/2018/5/layout/IconCircleLabelList"/>
    <dgm:cxn modelId="{8B952BC4-BC38-4204-8B2A-434B7DD97099}" type="presParOf" srcId="{27490C54-FD3D-4594-A9D2-11B375C849BD}" destId="{9CD84287-164A-4FD0-A7C8-903FCF0942C1}" srcOrd="1" destOrd="0" presId="urn:microsoft.com/office/officeart/2018/5/layout/IconCircleLabelList"/>
    <dgm:cxn modelId="{7277D0D1-196E-4A14-8D10-7FE5FD75C90C}" type="presParOf" srcId="{27490C54-FD3D-4594-A9D2-11B375C849BD}" destId="{F0B2E262-E1E0-48AF-B22A-3CAC82DA9FCF}" srcOrd="2" destOrd="0" presId="urn:microsoft.com/office/officeart/2018/5/layout/IconCircleLabelList"/>
    <dgm:cxn modelId="{57F04FB5-10D9-426F-B0B8-7175A2962C4D}" type="presParOf" srcId="{27490C54-FD3D-4594-A9D2-11B375C849BD}" destId="{AFC032F2-6602-4F1E-9CB1-309B6906AE43}" srcOrd="3" destOrd="0" presId="urn:microsoft.com/office/officeart/2018/5/layout/IconCircleLabelList"/>
    <dgm:cxn modelId="{A5BD66A2-E7FF-4DD0-A037-A0E53E0EFC26}" type="presParOf" srcId="{6E7D6B7F-1268-40E2-82BF-BA82CF15F172}" destId="{7945D099-6937-4E68-A01A-3D8C1FF819F2}" srcOrd="1" destOrd="0" presId="urn:microsoft.com/office/officeart/2018/5/layout/IconCircleLabelList"/>
    <dgm:cxn modelId="{F55A8540-F6C4-4766-A755-E20E25093424}" type="presParOf" srcId="{6E7D6B7F-1268-40E2-82BF-BA82CF15F172}" destId="{2C47D29D-F022-453C-BD53-7D4F1A5EAC74}" srcOrd="2" destOrd="0" presId="urn:microsoft.com/office/officeart/2018/5/layout/IconCircleLabelList"/>
    <dgm:cxn modelId="{9A243E6C-8F29-4EE4-94AC-2A96CA1E35D2}" type="presParOf" srcId="{2C47D29D-F022-453C-BD53-7D4F1A5EAC74}" destId="{FA5782E3-FAD1-4CDD-85F7-E0A855FC6E19}" srcOrd="0" destOrd="0" presId="urn:microsoft.com/office/officeart/2018/5/layout/IconCircleLabelList"/>
    <dgm:cxn modelId="{CC3169A6-F1DE-4D00-BC5E-38F68B037360}" type="presParOf" srcId="{2C47D29D-F022-453C-BD53-7D4F1A5EAC74}" destId="{1DEACDB4-5AAB-4336-8A3D-82E358E4B420}" srcOrd="1" destOrd="0" presId="urn:microsoft.com/office/officeart/2018/5/layout/IconCircleLabelList"/>
    <dgm:cxn modelId="{9763F37F-A555-4BF2-9051-CE29A5081323}" type="presParOf" srcId="{2C47D29D-F022-453C-BD53-7D4F1A5EAC74}" destId="{3DD370C4-4E46-4D7F-882C-F33DDA2ACD42}" srcOrd="2" destOrd="0" presId="urn:microsoft.com/office/officeart/2018/5/layout/IconCircleLabelList"/>
    <dgm:cxn modelId="{A2C30BE3-EF25-40EA-94EE-1B0CA4F42540}" type="presParOf" srcId="{2C47D29D-F022-453C-BD53-7D4F1A5EAC74}" destId="{D144BA79-E794-47A8-A6F2-C6F05930883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dgm="http://schemas.openxmlformats.org/drawingml/2006/diagram" xmlns:a="http://schemas.openxmlformats.org/drawingml/2006/main" xmlns:r="http://schemas.openxmlformats.org/officeDocument/2006/relationships">
  <dsp:spTree>
    <dsp:nvGrpSpPr>
      <dsp:cNvPr id="700586755" name=""/>
      <dsp:cNvGrpSpPr/>
    </dsp:nvGrpSpPr>
    <dsp:grpSpPr bwMode="auto">
      <a:xfrm rot="0">
        <a:off x="0" y="0"/>
        <a:ext cx="8922240" cy="2868840"/>
        <a:chOff x="0" y="0"/>
        <a:chExt cx="8922240" cy="2868840"/>
      </a:xfrm>
    </dsp:grpSpPr>
    <dsp:sp modelId="{02AEA1C4-7EB4-4EF3-8F1F-A744BB143D36}">
      <dsp:nvSpPr>
        <dsp:cNvPr id="812028203" name=""/>
        <dsp:cNvSpPr/>
      </dsp:nvSpPr>
      <dsp:spPr bwMode="auto">
        <a:xfrm>
          <a:off x="2101734" y="17163"/>
          <a:ext cx="1612685" cy="1612685"/>
        </a:xfrm>
        <a:prstGeom prst="ellipse">
          <a:avLst/>
        </a:prstGeom>
        <a:solidFill>
          <a:schemeClr val="accent2">
            <a:lumMod val="40000"/>
            <a:lumOff val="6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9CD84287-164A-4FD0-A7C8-903FCF0942C1}">
      <dsp:nvSpPr>
        <dsp:cNvPr id="1764974999" name=""/>
        <dsp:cNvSpPr/>
      </dsp:nvSpPr>
      <dsp:spPr bwMode="auto">
        <a:xfrm>
          <a:off x="2445421" y="360851"/>
          <a:ext cx="925309" cy="925309"/>
        </a:xfrm>
        <a:prstGeom prst="rect">
          <a:avLst/>
        </a:prstGeom>
        <a:blipFill rotWithShape="1">
          <a:blip r:embed="rId1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AFC032F2-6602-4F1E-9CB1-309B6906AE43}">
      <dsp:nvSpPr>
        <dsp:cNvPr id="1517621918" name=""/>
        <dsp:cNvSpPr/>
      </dsp:nvSpPr>
      <dsp:spPr bwMode="auto">
        <a:xfrm>
          <a:off x="1586202" y="2132164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67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cap="all"/>
          </a:pPr>
          <a:r>
            <a:rPr lang="en-US" sz="3600"/>
            <a:t>Thank You!</a:t>
          </a:r>
          <a:endParaRPr/>
        </a:p>
      </dsp:txBody>
      <dsp:txXfrm>
        <a:off x="1586202" y="2132164"/>
        <a:ext cx="2643750" cy="720000"/>
      </dsp:txXfrm>
    </dsp:sp>
    <dsp:sp modelId="{FA5782E3-FAD1-4CDD-85F7-E0A855FC6E19}">
      <dsp:nvSpPr>
        <dsp:cNvPr id="1303684188" name=""/>
        <dsp:cNvSpPr/>
      </dsp:nvSpPr>
      <dsp:spPr bwMode="auto">
        <a:xfrm>
          <a:off x="5208140" y="17163"/>
          <a:ext cx="1612685" cy="1612685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  <a:ln>
          <a:noFill/>
        </a:ln>
        <a:effectLst/>
      </dsp:spPr>
      <dsp:style>
        <a:lnRef idx="0">
          <a:srgbClr val="000000"/>
        </a:lnRef>
        <a:fillRef idx="1">
          <a:srgbClr val="000000"/>
        </a:fillRef>
        <a:effectRef idx="0">
          <a:srgbClr val="000000"/>
        </a:effectRef>
        <a:fontRef idx="minor"/>
      </dsp:style>
    </dsp:sp>
    <dsp:sp modelId="{1DEACDB4-5AAB-4336-8A3D-82E358E4B420}">
      <dsp:nvSpPr>
        <dsp:cNvPr id="1152268834" name=""/>
        <dsp:cNvSpPr/>
      </dsp:nvSpPr>
      <dsp:spPr bwMode="auto">
        <a:xfrm>
          <a:off x="5551827" y="360851"/>
          <a:ext cx="925309" cy="925309"/>
        </a:xfrm>
        <a:prstGeom prst="rect">
          <a:avLst/>
        </a:prstGeom>
        <a:blipFill rotWithShape="1">
          <a:blip r:embed="rId2"/>
          <a:stretch/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rgbClr val="000000"/>
        </a:lnRef>
        <a:fillRef idx="1">
          <a:srgbClr val="000000"/>
        </a:fillRef>
        <a:effectRef idx="0">
          <a:srgbClr val="000000"/>
        </a:effectRef>
        <a:fontRef idx="minor">
          <a:schemeClr val="lt1"/>
        </a:fontRef>
      </dsp:style>
    </dsp:sp>
    <dsp:sp modelId="{D144BA79-E794-47A8-A6F2-C6F059308834}">
      <dsp:nvSpPr>
        <dsp:cNvPr id="1565503637" name=""/>
        <dsp:cNvSpPr/>
      </dsp:nvSpPr>
      <dsp:spPr bwMode="auto">
        <a:xfrm>
          <a:off x="4692609" y="2132164"/>
          <a:ext cx="26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minor"/>
      </dsp:style>
      <dsp:txBody>
        <a:bodyPr spcFirstLastPara="0" vert="horz" wrap="square" lIns="0" tIns="0" rIns="0" bIns="0" numCol="1" spcCol="1267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ts val="0"/>
            </a:spcBef>
            <a:spcAft>
              <a:spcPts val="0"/>
            </a:spcAft>
            <a:buNone/>
            <a:defRPr cap="all"/>
          </a:pPr>
          <a:r>
            <a:rPr lang="en-US" sz="3600"/>
            <a:t>Questions?</a:t>
          </a:r>
          <a:endParaRPr/>
        </a:p>
      </dsp:txBody>
      <dsp:txXfrm>
        <a:off x="4692609" y="2132164"/>
        <a:ext cx="264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xmlns:r="http://schemas.openxmlformats.org/officeDocument/2006/relationships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shape rot="0.000000" type="none" r:blip="" blipPhldr="0" lkTxEntry="0" zOrderOff="0" hideGeom="0">
      <dgm:adjLst/>
    </dgm:shape>
    <dgm:presOf/>
    <dgm:ruleLst>
      <dgm:rule type="w" for="ch" forName="compNode" ptType="all" val="50" fact="NaN" max="NaN"/>
    </dgm:ruleLst>
    <dgm:varLst>
      <dgm:dir val="norm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choose name="Name3">
      <dgm:if name="Name4" axis="ch" ptType="node" func="cnt" arg="none" op="lte" val="2">
        <dgm:constrLst>
          <dgm:constr type="h" for="ch" forName="compNode" ptType="all" refPtType="all" refType="h" refFor="self" op="none" fact="0.400000" val="0"/>
          <dgm:constr type="w" for="ch" forName="compNode" ptType="all" refPtType="all" refType="none" refFor="self" op="none" fact="1.000000" val="10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44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if>
      <dgm:if name="Name5" axis="ch" ptType="node" func="cnt" arg="none" op="lte" val="3">
        <dgm:constrLst>
          <dgm:constr type="h" for="ch" forName="compNode" ptType="all" refPtType="all" refType="h" refFor="self" op="none" fact="0.400000" val="0"/>
          <dgm:constr type="w" for="ch" forName="compNode" ptType="all" refPtType="all" refType="none" refFor="self" op="none" fact="1.000000" val="10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40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if>
      <dgm:if name="Name6" axis="ch" ptType="node" func="cnt" arg="none" op="lte" val="4">
        <dgm:constrLst>
          <dgm:constr type="h" for="ch" forName="compNode" ptType="all" refPtType="all" refType="h" refFor="self" op="none" fact="0.400000" val="0"/>
          <dgm:constr type="w" for="ch" forName="compNode" ptType="all" refPtType="all" refType="w" refFor="self" op="none" fact="1.000000" val="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32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if>
      <dgm:else name="Name7">
        <dgm:constrLst>
          <dgm:constr type="h" for="ch" forName="compNode" ptType="all" refPtType="all" refType="h" refFor="self" op="none" fact="0.400000" val="0"/>
          <dgm:constr type="w" for="ch" forName="compNode" ptType="all" refPtType="all" refType="w" refFor="self" op="none" fact="1.000000" val="0"/>
          <dgm:constr type="w" for="ch" forName="sibTrans" ptType="all" refPtType="all" refType="w" refFor="ch" refForName="compNode" op="none" fact="0.175000" val="0"/>
          <dgm:constr type="sp" for="self" ptType="all" refPtType="all" refType="w" refFor="ch" refForName="compNode" op="equ" fact="0.250000" val="0"/>
          <dgm:constr type="primFontSz" for="des" ptType="node" refPtType="all" refType="none" refFor="self" op="equ" fact="1.000000" val="24"/>
          <dgm:constr type="h" for="des" forName="compNode" ptType="all" refPtType="all" refType="none" refFor="self" op="equ" fact="1.000000" val="0"/>
          <dgm:constr type="h" for="des" forName="textRect" ptType="all" refPtType="all" refType="none" refFor="self" op="equ" fact="1.000000" val="0"/>
        </dgm:constrLst>
      </dgm:else>
    </dgm:choose>
    <dgm:forEach name="Name8" axis="ch" ptType="node">
      <dgm:layoutNode name="compNode">
        <dgm:alg type="composite"/>
        <dgm:shape rot="0.000000" type="none" r:blip="" blipPhldr="0" lkTxEntry="0" zOrderOff="0" hideGeom="0">
          <dgm:adjLst/>
        </dgm:shape>
        <dgm:presOf axis="self"/>
        <dgm:constrLst>
          <dgm:constr type="w" for="ch" forName="iconBgRect" ptType="all" refPtType="all" refType="w" refFor="self" op="none" fact="0.610000" val="0"/>
          <dgm:constr type="h" for="ch" forName="iconBgRect" ptType="all" refPtType="all" refType="w" refFor="ch" refForName="iconBgRect" op="none" fact="1.000000" val="0"/>
          <dgm:constr type="t" for="ch" forName="iconBgRect" ptType="all" refPtType="all" refType="none" refFor="self" op="none" fact="1.000000" val="0"/>
          <dgm:constr type="ctrX" for="ch" forName="iconBgRect" ptType="all" refPtType="all" refType="w" refFor="self" op="none" fact="0.500000" val="0"/>
          <dgm:constr type="w" for="ch" forName="iconRect" ptType="all" refPtType="all" refType="w" refFor="self" op="none" fact="0.350000" val="0"/>
          <dgm:constr type="h" for="ch" forName="iconRect" ptType="all" refPtType="all" refType="w" refFor="ch" refForName="iconRect" op="none" fact="1.000000" val="0"/>
          <dgm:constr type="ctrX" for="ch" forName="iconRect" ptType="all" refPtType="all" refType="ctrX" refFor="ch" refForName="iconBgRect" op="none" fact="1.000000" val="0"/>
          <dgm:constr type="ctrY" for="ch" forName="iconRect" ptType="all" refPtType="all" refType="ctrY" refFor="ch" refForName="iconBgRect" op="none" fact="1.000000" val="0"/>
          <dgm:constr type="h" for="ch" forName="spaceRect" ptType="all" refPtType="all" refType="w" refFor="self" op="none" fact="0.190000" val="0"/>
          <dgm:constr type="w" for="ch" forName="spaceRect" ptType="all" refPtType="all" refType="w" refFor="self" op="none" fact="1.000000" val="0"/>
          <dgm:constr type="l" for="ch" forName="spaceRect" ptType="all" refPtType="all" refType="none" refFor="self" op="none" fact="1.000000" val="0"/>
          <dgm:constr type="t" for="ch" forName="spaceRect" ptType="all" refPtType="all" refType="b" refFor="ch" refForName="iconBgRect" op="none" fact="1.000000" val="0"/>
          <dgm:constr type="h" for="ch" forName="textRect" ptType="all" refPtType="all" refType="none" refFor="self" op="none" fact="1.000000" val="20"/>
          <dgm:constr type="w" for="ch" forName="textRect" ptType="all" refPtType="all" refType="w" refFor="self" op="none" fact="1.000000" val="0"/>
          <dgm:constr type="l" for="ch" forName="textRect" ptType="all" refPtType="all" refType="none" refFor="self" op="none" fact="1.000000" val="0"/>
          <dgm:constr type="t" for="ch" forName="textRect" ptType="all" refPtType="all" refType="b" refFor="ch" refForName="spaceRect" op="none" fact="1.000000" val="0"/>
        </dgm:constrLst>
        <dgm:ruleLst>
          <dgm:rule type="h" for="self" ptType="all" val="INF" fact="NaN" max="NaN"/>
        </dgm:ruleLst>
        <dgm:layoutNode name="iconBgRect" styleLbl="bgShp">
          <dgm:alg type="sp"/>
          <dgm:shape rot="0.000000" type="ellipse" r:blip="" blipPhldr="0" lkTxEntry="0" zOrderOff="0" hideGeom="0">
            <dgm:adjLst/>
          </dgm:shape>
          <dgm:presOf/>
          <dgm:constrLst/>
          <dgm:ruleLst/>
        </dgm:layoutNode>
        <dgm:layoutNode name="iconRect" styleLbl="node1">
          <dgm:alg type="sp"/>
          <dgm:shape rot="0.000000" type="rect" r:blip="" blipPhldr="1" lkTxEntry="0" zOrderOff="0" hideGeom="0">
            <dgm:adjLst/>
          </dgm:shape>
          <dgm:presOf/>
          <dgm:constrLst/>
          <dgm:ruleLst/>
        </dgm:layoutNode>
        <dgm:layoutNode name="spaceRect">
          <dgm:alg type="sp"/>
          <dgm:shape rot="0.000000" type="none" r:blip="" blipPhldr="0" lkTxEntry="0" zOrderOff="0" hideGeom="0">
            <dgm:adjLst/>
          </dgm:shape>
          <dgm:presOf/>
          <dgm:constrLst/>
          <dgm:ruleLst/>
        </dgm:layoutNode>
        <dgm:layoutNode name="textRect" styleLbl="revTx">
          <dgm:alg type="tx">
            <dgm:param type="txAnchorVert" val="t"/>
          </dgm:alg>
          <dgm:shape rot="0.000000" type="rect" r:blip="" blipPhldr="0" lkTxEntry="0" zOrderOff="0" hideGeom="0">
            <dgm:adjLst/>
          </dgm:shape>
          <dgm:presOf axis="self" ptType="node"/>
          <dgm:constrLst>
            <dgm:constr type="lMarg" for="self" ptType="all" refPtType="all" refType="none" refFor="self" op="none" fact="1.000000" val="0"/>
            <dgm:constr type="rMarg" for="self" ptType="all" refPtType="all" refType="none" refFor="self" op="none" fact="1.000000" val="0"/>
            <dgm:constr type="tMarg" for="self" ptType="all" refPtType="all" refType="none" refFor="self" op="none" fact="1.000000" val="0"/>
            <dgm:constr type="bMarg" for="self" ptType="all" refPtType="all" refType="none" refFor="self" op="none" fact="1.000000" val="0"/>
          </dgm:constrLst>
          <dgm:ruleLst>
            <dgm:rule type="primFontSz" for="self" ptType="all" val="11" fact="NaN" max="NaN"/>
            <dgm:rule type="h" for="self" ptType="all" val="INF" fact="NaN" max="NaN"/>
          </dgm:ruleLst>
          <dgm:varLst>
            <dgm:chMax val="1"/>
            <dgm:chPref val="1"/>
          </dgm:varLst>
        </dgm:layoutNode>
      </dgm:layoutNode>
      <dgm:forEach name="Name9" axis="followSib" ptType="sibTrans" cnt="1">
        <dgm:layoutNode name="sibTrans">
          <dgm:alg type="sp"/>
          <dgm:shape rot="0.000000" type="none" r:blip="" blipPhldr="0" lkTxEntry="0" zOrderOff="0" hideGeom="0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alig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b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con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dk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ImgPlac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hp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fg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2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3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1D4">
    <dgm:scene3d>
      <a:camera prst="orthographicFront"/>
      <a:lightRig rig="threePt" dir="t"/>
    </dgm:scene3d>
    <dgm:sp3d/>
    <dgm:style>
      <a:lnRef idx="2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parChTrans2D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style>
      <a:lnRef idx="0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1D1">
    <dgm:scene3d>
      <a:camera prst="orthographicFront"/>
      <a:lightRig rig="threePt" dir="t"/>
    </dgm:scene3d>
    <dgm:sp3d/>
    <dgm:style>
      <a:lnRef idx="1">
        <a:srgbClr val="000000"/>
      </a:lnRef>
      <a:fillRef idx="0">
        <a:srgbClr val="000000"/>
      </a:fillRef>
      <a:effectRef idx="0">
        <a:srgbClr val="000000"/>
      </a:effectRef>
      <a:fontRef idx="minor"/>
    </dgm:style>
  </dgm:styleLbl>
  <dgm:styleLbl name="sibTrans2D1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B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solidFgAcc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AlignAcc1">
    <dgm:scene3d>
      <a:camera prst="orthographicFront"/>
      <a:lightRig rig="threePt" dir="t"/>
    </dgm:scene3d>
    <dgm:sp3d/>
    <dgm:style>
      <a:lnRef idx="1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trBgShp">
    <dgm:scene3d>
      <a:camera prst="orthographicFront"/>
      <a:lightRig rig="threePt" dir="t"/>
    </dgm:scene3d>
    <dgm:sp3d/>
    <dgm:style>
      <a:lnRef idx="0">
        <a:srgbClr val="000000"/>
      </a:lnRef>
      <a:fillRef idx="1">
        <a:srgbClr val="000000"/>
      </a:fillRef>
      <a:effectRef idx="0">
        <a:srgbClr val="000000"/>
      </a:effectRef>
      <a:fontRef idx="minor"/>
    </dgm:style>
  </dgm:styleLbl>
  <dgm:styleLbl name="vennNode1">
    <dgm:scene3d>
      <a:camera prst="orthographicFront"/>
      <a:lightRig rig="threePt" dir="t"/>
    </dgm:scene3d>
    <dgm:sp3d/>
    <dgm:style>
      <a:lnRef idx="2">
        <a:srgbClr val="000000"/>
      </a:lnRef>
      <a:fillRef idx="1">
        <a:srgbClr val="000000"/>
      </a:fillRef>
      <a:effectRef idx="0">
        <a:srgbClr val="000000"/>
      </a:effectRef>
      <a:fontRef idx="minor">
        <a:schemeClr val="tx1"/>
      </a:fontRef>
    </dgm:style>
  </dgm:styleLbl>
</dgm:styleDef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985432" name="PlaceHolder 1"/>
          <p:cNvSpPr>
            <a:spLocks noGrp="1"/>
          </p:cNvSpPr>
          <p:nvPr>
            <p:ph type="sldImg"/>
          </p:nvPr>
        </p:nvSpPr>
        <p:spPr bwMode="auto"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91372990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4128181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3969566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1589988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598435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23DE52D5-E27B-4C1F-8690-C60C6EFE03B3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624125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363613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7958905" name="PlaceHolder 3"/>
          <p:cNvSpPr>
            <a:spLocks noGrp="1"/>
          </p:cNvSpPr>
          <p:nvPr>
            <p:ph type="sldNum" idx="3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391317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047626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194725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764186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2548323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697031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05784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995595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457601" name="PlaceHolder 3"/>
          <p:cNvSpPr>
            <a:spLocks noGrp="1"/>
          </p:cNvSpPr>
          <p:nvPr>
            <p:ph type="sldNum" idx="4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04490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009388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872087" name="PlaceHolder 3"/>
          <p:cNvSpPr>
            <a:spLocks noGrp="1"/>
          </p:cNvSpPr>
          <p:nvPr>
            <p:ph type="sldNum" idx="4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069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126213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895529" name="PlaceHolder 3"/>
          <p:cNvSpPr>
            <a:spLocks noGrp="1"/>
          </p:cNvSpPr>
          <p:nvPr>
            <p:ph type="sldNum" idx="4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432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9154396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3635031" name="PlaceHolder 3"/>
          <p:cNvSpPr>
            <a:spLocks noGrp="1"/>
          </p:cNvSpPr>
          <p:nvPr>
            <p:ph type="sldNum" idx="4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820532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775941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281735" name="PlaceHolder 3"/>
          <p:cNvSpPr>
            <a:spLocks noGrp="1"/>
          </p:cNvSpPr>
          <p:nvPr>
            <p:ph type="sldNum" idx="4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10547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14272522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3115448" name="PlaceHolder 3"/>
          <p:cNvSpPr>
            <a:spLocks noGrp="1"/>
          </p:cNvSpPr>
          <p:nvPr>
            <p:ph type="sldNum" idx="4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089907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49437810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790466" name="PlaceHolder 3"/>
          <p:cNvSpPr>
            <a:spLocks noGrp="1"/>
          </p:cNvSpPr>
          <p:nvPr>
            <p:ph type="sldNum" idx="4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424395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335056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255745" name="PlaceHolder 3"/>
          <p:cNvSpPr>
            <a:spLocks noGrp="1"/>
          </p:cNvSpPr>
          <p:nvPr>
            <p:ph type="sldNum" idx="4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59396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60505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029323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81155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088237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090731" name="PlaceHolder 3"/>
          <p:cNvSpPr>
            <a:spLocks noGrp="1"/>
          </p:cNvSpPr>
          <p:nvPr>
            <p:ph type="sldNum" idx="4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7148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716190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58464" name="PlaceHolder 3"/>
          <p:cNvSpPr>
            <a:spLocks noGrp="1"/>
          </p:cNvSpPr>
          <p:nvPr>
            <p:ph type="sldNum" idx="5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4193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717000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6561884" name="PlaceHolder 3"/>
          <p:cNvSpPr>
            <a:spLocks noGrp="1"/>
          </p:cNvSpPr>
          <p:nvPr>
            <p:ph type="sldNum" idx="5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424445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974035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883724" name="PlaceHolder 3"/>
          <p:cNvSpPr>
            <a:spLocks noGrp="1"/>
          </p:cNvSpPr>
          <p:nvPr>
            <p:ph type="sldNum" idx="5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370005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9953166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054618" name="PlaceHolder 3"/>
          <p:cNvSpPr>
            <a:spLocks noGrp="1"/>
          </p:cNvSpPr>
          <p:nvPr>
            <p:ph type="sldNum" idx="5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01211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037929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37608" name="PlaceHolder 3"/>
          <p:cNvSpPr>
            <a:spLocks noGrp="1"/>
          </p:cNvSpPr>
          <p:nvPr>
            <p:ph type="sldNum" idx="5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53648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4542597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842333" name="PlaceHolder 3"/>
          <p:cNvSpPr>
            <a:spLocks noGrp="1"/>
          </p:cNvSpPr>
          <p:nvPr>
            <p:ph type="sldNum" idx="5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42075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457308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248938" name="PlaceHolder 3"/>
          <p:cNvSpPr>
            <a:spLocks noGrp="1"/>
          </p:cNvSpPr>
          <p:nvPr>
            <p:ph type="sldNum" idx="5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90293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466172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2641439" name="PlaceHolder 3"/>
          <p:cNvSpPr>
            <a:spLocks noGrp="1"/>
          </p:cNvSpPr>
          <p:nvPr>
            <p:ph type="sldNum" idx="5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28968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742121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5996536" name="PlaceHolder 3"/>
          <p:cNvSpPr>
            <a:spLocks noGrp="1"/>
          </p:cNvSpPr>
          <p:nvPr>
            <p:ph type="sldNum" idx="5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64544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495719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741827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84074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060257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399303" name="PlaceHolder 3"/>
          <p:cNvSpPr>
            <a:spLocks noGrp="1"/>
          </p:cNvSpPr>
          <p:nvPr>
            <p:ph type="sldNum" idx="5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70289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8892827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10171" name="PlaceHolder 3"/>
          <p:cNvSpPr>
            <a:spLocks noGrp="1"/>
          </p:cNvSpPr>
          <p:nvPr>
            <p:ph type="sldNum" idx="6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58066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8310191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752253" name="PlaceHolder 3"/>
          <p:cNvSpPr>
            <a:spLocks noGrp="1"/>
          </p:cNvSpPr>
          <p:nvPr>
            <p:ph type="sldNum" idx="6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4039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776637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607100" name="PlaceHolder 3"/>
          <p:cNvSpPr>
            <a:spLocks noGrp="1"/>
          </p:cNvSpPr>
          <p:nvPr>
            <p:ph type="sldNum" idx="6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31622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095622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8609711" name="PlaceHolder 3"/>
          <p:cNvSpPr>
            <a:spLocks noGrp="1"/>
          </p:cNvSpPr>
          <p:nvPr>
            <p:ph type="sldNum" idx="6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79264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276395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6463766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6181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4823938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009698" name="PlaceHolder 3"/>
          <p:cNvSpPr>
            <a:spLocks noGrp="1"/>
          </p:cNvSpPr>
          <p:nvPr>
            <p:ph type="sldNum" idx="5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49423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3078233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0013816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83188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392642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6533967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099640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09027702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596135" name="PlaceHolder 3"/>
          <p:cNvSpPr>
            <a:spLocks noGrp="1"/>
          </p:cNvSpPr>
          <p:nvPr>
            <p:ph type="sldNum" idx="4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1410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05367400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376983" name="PlaceHolder 3"/>
          <p:cNvSpPr>
            <a:spLocks noGrp="1"/>
          </p:cNvSpPr>
          <p:nvPr>
            <p:ph type="sldNum" idx="6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954328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670557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769583" name="PlaceHolder 3"/>
          <p:cNvSpPr>
            <a:spLocks noGrp="1"/>
          </p:cNvSpPr>
          <p:nvPr>
            <p:ph type="sldNum" idx="6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065249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405153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9191137" name="PlaceHolder 3"/>
          <p:cNvSpPr>
            <a:spLocks noGrp="1"/>
          </p:cNvSpPr>
          <p:nvPr>
            <p:ph type="sldNum" idx="6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803622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335891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4929196" name="PlaceHolder 3"/>
          <p:cNvSpPr>
            <a:spLocks noGrp="1"/>
          </p:cNvSpPr>
          <p:nvPr>
            <p:ph type="sldNum" idx="6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477484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9936196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8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929558" name="PlaceHolder 3"/>
          <p:cNvSpPr>
            <a:spLocks noGrp="1"/>
          </p:cNvSpPr>
          <p:nvPr>
            <p:ph type="sldNum" idx="6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00615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551882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2717460" name="PlaceHolder 3"/>
          <p:cNvSpPr>
            <a:spLocks noGrp="1"/>
          </p:cNvSpPr>
          <p:nvPr>
            <p:ph type="sldNum" idx="6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086011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952609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896205" name="PlaceHolder 3"/>
          <p:cNvSpPr>
            <a:spLocks noGrp="1"/>
          </p:cNvSpPr>
          <p:nvPr>
            <p:ph type="sldNum" idx="6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589293" name="PlaceHolder 1"/>
          <p:cNvSpPr>
            <a:spLocks noGrp="1"/>
          </p:cNvSpPr>
          <p:nvPr>
            <p:ph type="sldImg"/>
          </p:nvPr>
        </p:nvSpPr>
        <p:spPr bwMode="auto"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4559523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20317" name="PlaceHolder 3"/>
          <p:cNvSpPr>
            <a:spLocks noGrp="1"/>
          </p:cNvSpPr>
          <p:nvPr>
            <p:ph type="sldNum" idx="6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24884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li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k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o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it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ti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tl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 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60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24985846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5781056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166727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90FC0C2-7FA8-446E-BBE4-9891E2099CC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1382562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609599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11208520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66747447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050808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4601878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6C86A3E-D8AE-44B7-9CBD-87FAE636BC8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747206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2502091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04871451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3509931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0807522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F2D1DE7-BC96-4CBB-9E4D-DBDAF5FBF63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60800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58414788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7636752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4349495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7736266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F8E1A8C-3D3F-441E-9F8B-0D597B0AEBC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Section Header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620046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60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75075980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5211599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3844987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7329316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423ABA4-5F1B-4819-B987-DD09147D7BA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77959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8564420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17876159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02511990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4803335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1862613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FE965A5-70C0-4BE1-B83E-5E30C6D0708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is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106283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469323201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540881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403556612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98264967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09604261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8812864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3864274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138B298-ACBC-45EF-8CCC-5F459300FB8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14150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99780780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6729802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1827814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3347780-1708-437E-B466-AAEEC15A2C8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620140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084420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7165089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83898D1-1D5C-435F-8A9A-AF278D12A965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9383226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40198039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Second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Aptos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ntent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1545557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545126729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rial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72364825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91629047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0139472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961198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01A1467-5CDD-41A3-9092-FEACA31381AF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icture with Caption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51552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 Display"/>
                <a:ea typeface="Arial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987229715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Aptos"/>
                <a:ea typeface="Arial"/>
              </a:rPr>
              <a:t>Click icon to add picture</a:t>
            </a:r>
            <a:endParaRPr lang="en-US" sz="32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632929030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1600" b="0" u="none" strike="noStrike">
                <a:solidFill>
                  <a:schemeClr val="dk1"/>
                </a:solidFill>
                <a:latin typeface="Aptos"/>
                <a:ea typeface="Arial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025547600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7167548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9479246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0D57FF-1B09-46B4-8924-FE1B38AC54E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latin typeface="Aptos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rovi@psu.edu" TargetMode="External"/><Relationship Id="rId4" Type="http://schemas.openxmlformats.org/officeDocument/2006/relationships/hyperlink" Target="mailto:rnikola@psu.edu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media1.sv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media2.sv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media3.sv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Relationship Id="rId4" Type="http://schemas.openxmlformats.org/officeDocument/2006/relationships/image" Target="../media/media4.svg"/><Relationship Id="rId5" Type="http://schemas.openxmlformats.org/officeDocument/2006/relationships/image" Target="../media/image7.png"/><Relationship Id="rId6" Type="http://schemas.openxmlformats.org/officeDocument/2006/relationships/image" Target="../media/media5.sv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Relationship Id="rId4" Type="http://schemas.openxmlformats.org/officeDocument/2006/relationships/image" Target="../media/media6.svg"/><Relationship Id="rId5" Type="http://schemas.openxmlformats.org/officeDocument/2006/relationships/image" Target="../media/image9.png"/><Relationship Id="rId6" Type="http://schemas.openxmlformats.org/officeDocument/2006/relationships/image" Target="../media/media7.sv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ithub.com/rusnikola/scot" TargetMode="External"/><Relationship Id="rId4" Type="http://schemas.openxmlformats.org/officeDocument/2006/relationships/hyperlink" Target="https://doi.org/10.5281/zenodo.17707898" TargetMode="External"/><Relationship Id="rId5" Type="http://schemas.openxmlformats.org/officeDocument/2006/relationships/image" Target="../media/image10.png"/><Relationship Id="rId6" Type="http://schemas.openxmlformats.org/officeDocument/2006/relationships/image" Target="../media/media8.sv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rusnikola/scot" TargetMode="External"/><Relationship Id="rId4" Type="http://schemas.openxmlformats.org/officeDocument/2006/relationships/hyperlink" Target="https://doi.org/10.5281/zenodo.17707898" TargetMode="External"/><Relationship Id="rId5" Type="http://schemas.openxmlformats.org/officeDocument/2006/relationships/image" Target="../media/image11.png"/><Relationship Id="rId6" Type="http://schemas.microsoft.com/office/2007/relationships/diagramDrawing" Target="../diagrams/drawing1.xml" /><Relationship Id="rId7" Type="http://schemas.openxmlformats.org/officeDocument/2006/relationships/diagramData" Target="../diagrams/data1.xml" /><Relationship Id="rId8" Type="http://schemas.openxmlformats.org/officeDocument/2006/relationships/diagramColors" Target="../diagrams/colors1.xml" /><Relationship Id="rId9" Type="http://schemas.openxmlformats.org/officeDocument/2006/relationships/diagramLayout" Target="../diagrams/layout1.xml" /><Relationship Id="rId10" Type="http://schemas.openxmlformats.org/officeDocument/2006/relationships/diagramQuickStyle" Target="../diagrams/quickStyle1.xml" 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media9.svg"/><Relationship Id="rId5" Type="http://schemas.openxmlformats.org/officeDocument/2006/relationships/image" Target="../media/image17.png"/><Relationship Id="rId6" Type="http://schemas.openxmlformats.org/officeDocument/2006/relationships/image" Target="../media/media10.sv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png"/><Relationship Id="rId4" Type="http://schemas.openxmlformats.org/officeDocument/2006/relationships/image" Target="../media/media11.svg"/><Relationship Id="rId5" Type="http://schemas.openxmlformats.org/officeDocument/2006/relationships/image" Target="../media/image19.png"/><Relationship Id="rId6" Type="http://schemas.openxmlformats.org/officeDocument/2006/relationships/image" Target="../media/media12.sv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Relationship Id="rId4" Type="http://schemas.openxmlformats.org/officeDocument/2006/relationships/image" Target="../media/media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217190" name="PlaceHolder 1"/>
          <p:cNvSpPr>
            <a:spLocks noGrp="1"/>
          </p:cNvSpPr>
          <p:nvPr>
            <p:ph type="title"/>
          </p:nvPr>
        </p:nvSpPr>
        <p:spPr bwMode="auto">
          <a:xfrm>
            <a:off x="1066619" y="1993496"/>
            <a:ext cx="1005876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Fixing Non-blocking Data Structures </a:t>
            </a:r>
            <a:b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</a:br>
            <a: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 for Better Compatibility with </a:t>
            </a:r>
            <a:b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</a:br>
            <a:r>
              <a:rPr lang="en-US" sz="4800" b="0" i="0" u="none" strike="noStrike" cap="none" spc="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Memory Reclamation Schemes</a:t>
            </a:r>
            <a:endParaRPr sz="4800" b="0" u="none" strike="noStrike">
              <a:solidFill>
                <a:schemeClr val="dk1"/>
              </a:solidFill>
              <a:latin typeface="Aptos Display"/>
              <a:cs typeface="Aptos Display"/>
            </a:endParaRPr>
          </a:p>
        </p:txBody>
      </p:sp>
      <p:sp>
        <p:nvSpPr>
          <p:cNvPr id="2113781112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1471030" y="4589640"/>
            <a:ext cx="9977437" cy="170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Md Amit Hasan Arovi, </a:t>
            </a:r>
            <a:r>
              <a:rPr lang="en-US" sz="2200" b="0" u="sng" strike="noStrike">
                <a:solidFill>
                  <a:schemeClr val="accent6"/>
                </a:solidFill>
                <a:latin typeface="Aptos"/>
                <a:ea typeface="Aptos"/>
                <a:hlinkClick r:id="rId3" tooltip=""/>
              </a:rPr>
              <a:t>arovi@psu.edu</a:t>
            </a: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, The Pennsylvania State University, USA</a:t>
            </a:r>
            <a:endParaRPr sz="2200" b="0" u="none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Ruslan Nikolaev, </a:t>
            </a:r>
            <a:r>
              <a:rPr lang="en-US" sz="2200" b="0" u="sng" strike="noStrike">
                <a:solidFill>
                  <a:schemeClr val="dk1"/>
                </a:solidFill>
                <a:latin typeface="Aptos"/>
                <a:ea typeface="Aptos"/>
                <a:hlinkClick r:id="rId4" tooltip=""/>
              </a:rPr>
              <a:t>rnikola@psu.edu</a:t>
            </a:r>
            <a:r>
              <a:rPr lang="en-US" sz="2200" b="0" u="none" strike="noStrike">
                <a:solidFill>
                  <a:schemeClr val="dk1"/>
                </a:solidFill>
                <a:latin typeface="Aptos"/>
                <a:ea typeface="Aptos"/>
              </a:rPr>
              <a:t>, The Pennsylvania State University, USA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5606079" name="" descr=""/>
          <p:cNvPicPr/>
          <p:nvPr/>
        </p:nvPicPr>
        <p:blipFill rotWithShape="1">
          <a:blip r:embed="rId5"/>
          <a:stretch/>
        </p:blipFill>
        <p:spPr bwMode="auto">
          <a:xfrm>
            <a:off x="1047240" y="385560"/>
            <a:ext cx="3243600" cy="1824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3255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Non-blocking Data Structures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56242769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690200"/>
            <a:ext cx="10761755" cy="497980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Allow multiple threads to operate without mutual exclusion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i="1" u="none" strike="noStrike">
                <a:solidFill>
                  <a:schemeClr val="dk1"/>
                </a:solidFill>
                <a:latin typeface="Aptos"/>
                <a:ea typeface="Aptos"/>
              </a:rPr>
              <a:t> Lock-free</a:t>
            </a: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 data structures: at least one thread always makes progress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i="1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Wait-free</a:t>
            </a:r>
            <a:r>
              <a:rPr lang="en-US" sz="28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 data structures: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all threads always make progress in a finite number of steps</a:t>
            </a:r>
            <a:endParaRPr lang="en-US"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Require safe memory reclamation (SMR) techniques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Epoch-Based Reclamation (EBR) is easy-to-use but has potentially unbounded memory usage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Hazard Pointers (HP) is more difficult to use but is </a:t>
            </a: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ptos"/>
              </a:rPr>
              <a:t>robust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17233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Problems with Non-blocking Data Structures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79223150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917532"/>
            <a:ext cx="10515239" cy="4686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Many robust memory reclamation schemes (e.g., HP) fail to support </a:t>
            </a:r>
            <a:r>
              <a:rPr lang="en-US" sz="2800" b="1" u="none" strike="noStrike">
                <a:solidFill>
                  <a:schemeClr val="dk1"/>
                </a:solidFill>
                <a:latin typeface="Aptos"/>
                <a:ea typeface="Aptos"/>
              </a:rPr>
              <a:t>optimistic traversals</a:t>
            </a: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 used in many lock-free algorithms: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Harris’ linked list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The Natarajan-Mittal tree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Many others (skip lists, hash tables, etc)</a:t>
            </a:r>
            <a:endParaRPr lang="en-US" sz="24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8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Workarounds are sometimes available with performance costs 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Harris-Michael linked list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No such modification for the Natarajan-Mittal tree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</a:rPr>
              <a:t> 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559212" name="Rectangle 6"/>
          <p:cNvSpPr/>
          <p:nvPr/>
        </p:nvSpPr>
        <p:spPr bwMode="auto">
          <a:xfrm>
            <a:off x="3855240" y="2121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15770824" name="Straight Arrow Connector 7"/>
          <p:cNvCxnSpPr/>
          <p:nvPr/>
        </p:nvCxnSpPr>
        <p:spPr bwMode="auto">
          <a:xfrm>
            <a:off x="4477320" y="21207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30669168" name="TextBox 9"/>
          <p:cNvSpPr/>
          <p:nvPr/>
        </p:nvSpPr>
        <p:spPr bwMode="auto">
          <a:xfrm>
            <a:off x="3991320" y="22010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057844" name="Arrow: Right 10"/>
          <p:cNvSpPr/>
          <p:nvPr/>
        </p:nvSpPr>
        <p:spPr bwMode="auto">
          <a:xfrm>
            <a:off x="5094360" y="2315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13583481" name="Rectangle 15"/>
          <p:cNvSpPr/>
          <p:nvPr/>
        </p:nvSpPr>
        <p:spPr bwMode="auto">
          <a:xfrm>
            <a:off x="5727600" y="2157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36654430" name="Straight Arrow Connector 16"/>
          <p:cNvCxnSpPr/>
          <p:nvPr/>
        </p:nvCxnSpPr>
        <p:spPr bwMode="auto">
          <a:xfrm>
            <a:off x="6386039" y="21571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22411691" name="TextBox 17"/>
          <p:cNvSpPr/>
          <p:nvPr/>
        </p:nvSpPr>
        <p:spPr bwMode="auto">
          <a:xfrm>
            <a:off x="5900039" y="22298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805912" name="Arrow: Right 1"/>
          <p:cNvSpPr/>
          <p:nvPr/>
        </p:nvSpPr>
        <p:spPr bwMode="auto">
          <a:xfrm>
            <a:off x="3216240" y="22885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91745489" name="Rectangle 2"/>
          <p:cNvSpPr/>
          <p:nvPr/>
        </p:nvSpPr>
        <p:spPr bwMode="auto">
          <a:xfrm>
            <a:off x="1964520" y="2130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5477310" name="Straight Arrow Connector 3"/>
          <p:cNvCxnSpPr/>
          <p:nvPr/>
        </p:nvCxnSpPr>
        <p:spPr bwMode="auto">
          <a:xfrm>
            <a:off x="2622960" y="21304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98315239" name="TextBox 4"/>
          <p:cNvSpPr/>
          <p:nvPr/>
        </p:nvSpPr>
        <p:spPr bwMode="auto">
          <a:xfrm>
            <a:off x="2143440" y="22032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345670" name="Arrow: Right 12"/>
          <p:cNvSpPr/>
          <p:nvPr/>
        </p:nvSpPr>
        <p:spPr bwMode="auto">
          <a:xfrm>
            <a:off x="6974280" y="2315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5414812" name="Rectangle 13"/>
          <p:cNvSpPr/>
          <p:nvPr/>
        </p:nvSpPr>
        <p:spPr bwMode="auto">
          <a:xfrm>
            <a:off x="9418680" y="21243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90250326" name="Straight Arrow Connector 18"/>
          <p:cNvCxnSpPr/>
          <p:nvPr/>
        </p:nvCxnSpPr>
        <p:spPr bwMode="auto">
          <a:xfrm>
            <a:off x="10077120" y="21243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84796426" name="TextBox 20"/>
          <p:cNvSpPr/>
          <p:nvPr/>
        </p:nvSpPr>
        <p:spPr bwMode="auto">
          <a:xfrm>
            <a:off x="9591120" y="21970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229433" name="TextBox 5"/>
          <p:cNvSpPr/>
          <p:nvPr/>
        </p:nvSpPr>
        <p:spPr bwMode="auto">
          <a:xfrm>
            <a:off x="2143440" y="4299840"/>
            <a:ext cx="88581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Thread 0: Delete(B) =&gt; Node B is marked for logical deletion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rgbClr val="FF0000"/>
                </a:solidFill>
                <a:latin typeface="Aptos"/>
                <a:ea typeface="Arial"/>
              </a:rPr>
              <a:t>... Thread 0 is stalled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33926822" name="Straight Arrow Connector 8"/>
          <p:cNvCxnSpPr/>
          <p:nvPr/>
        </p:nvCxnSpPr>
        <p:spPr bwMode="auto">
          <a:xfrm rot="21419981" flipH="0" flipV="0">
            <a:off x="7678567" y="2403027"/>
            <a:ext cx="1008898" cy="4572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402259373" name="Arrow: Right 14"/>
          <p:cNvSpPr/>
          <p:nvPr/>
        </p:nvSpPr>
        <p:spPr bwMode="auto">
          <a:xfrm>
            <a:off x="8758800" y="23086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28881013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 with HP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556292" name="Rectangle 6"/>
          <p:cNvSpPr/>
          <p:nvPr/>
        </p:nvSpPr>
        <p:spPr bwMode="auto">
          <a:xfrm>
            <a:off x="5067360" y="27889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49793798" name="Straight Arrow Connector 7"/>
          <p:cNvCxnSpPr/>
          <p:nvPr/>
        </p:nvCxnSpPr>
        <p:spPr bwMode="auto">
          <a:xfrm>
            <a:off x="5689440" y="27885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970189589" name="TextBox 9"/>
          <p:cNvSpPr/>
          <p:nvPr/>
        </p:nvSpPr>
        <p:spPr bwMode="auto">
          <a:xfrm>
            <a:off x="5203440" y="28684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2135896" name="Arrow: Right 10"/>
          <p:cNvSpPr/>
          <p:nvPr/>
        </p:nvSpPr>
        <p:spPr bwMode="auto">
          <a:xfrm>
            <a:off x="6306480" y="29829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51031957" name="Rectangle 15"/>
          <p:cNvSpPr/>
          <p:nvPr/>
        </p:nvSpPr>
        <p:spPr bwMode="auto">
          <a:xfrm>
            <a:off x="6939720" y="28249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5447949" name="Straight Arrow Connector 16"/>
          <p:cNvCxnSpPr/>
          <p:nvPr/>
        </p:nvCxnSpPr>
        <p:spPr bwMode="auto">
          <a:xfrm>
            <a:off x="7598160" y="282492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87382292" name="TextBox 17"/>
          <p:cNvSpPr/>
          <p:nvPr/>
        </p:nvSpPr>
        <p:spPr bwMode="auto">
          <a:xfrm>
            <a:off x="7112160" y="2897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302803" name="Arrow: Right 1"/>
          <p:cNvSpPr/>
          <p:nvPr/>
        </p:nvSpPr>
        <p:spPr bwMode="auto">
          <a:xfrm>
            <a:off x="4428360" y="29559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05958348" name="Rectangle 2"/>
          <p:cNvSpPr/>
          <p:nvPr/>
        </p:nvSpPr>
        <p:spPr bwMode="auto">
          <a:xfrm>
            <a:off x="3176280" y="2798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89247874" name="Straight Arrow Connector 3"/>
          <p:cNvCxnSpPr/>
          <p:nvPr/>
        </p:nvCxnSpPr>
        <p:spPr bwMode="auto">
          <a:xfrm>
            <a:off x="3834720" y="27982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24442181" name="TextBox 4"/>
          <p:cNvSpPr/>
          <p:nvPr/>
        </p:nvSpPr>
        <p:spPr bwMode="auto">
          <a:xfrm>
            <a:off x="3355560" y="28710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008216" name="Arrow: Right 12"/>
          <p:cNvSpPr/>
          <p:nvPr/>
        </p:nvSpPr>
        <p:spPr bwMode="auto">
          <a:xfrm>
            <a:off x="8186039" y="29829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93744826" name="Rectangle 13"/>
          <p:cNvSpPr/>
          <p:nvPr/>
        </p:nvSpPr>
        <p:spPr bwMode="auto">
          <a:xfrm>
            <a:off x="10630800" y="2792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95309486" name="Straight Arrow Connector 18"/>
          <p:cNvCxnSpPr/>
          <p:nvPr/>
        </p:nvCxnSpPr>
        <p:spPr bwMode="auto">
          <a:xfrm>
            <a:off x="11289240" y="2792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71868936" name="TextBox 20"/>
          <p:cNvSpPr/>
          <p:nvPr/>
        </p:nvSpPr>
        <p:spPr bwMode="auto">
          <a:xfrm>
            <a:off x="10802880" y="28648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5734869" name="TextBox 5"/>
          <p:cNvSpPr/>
          <p:nvPr/>
        </p:nvSpPr>
        <p:spPr bwMode="auto">
          <a:xfrm>
            <a:off x="2462760" y="4299840"/>
            <a:ext cx="8065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1: Locate node 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91977381" name="Straight Arrow Connector 8"/>
          <p:cNvCxnSpPr/>
          <p:nvPr/>
        </p:nvCxnSpPr>
        <p:spPr bwMode="auto">
          <a:xfrm>
            <a:off x="8896680" y="309672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318337589" name="Arrow: Right 14"/>
          <p:cNvSpPr/>
          <p:nvPr/>
        </p:nvSpPr>
        <p:spPr bwMode="auto">
          <a:xfrm>
            <a:off x="9970560" y="29761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99611089" name="TextBox 19"/>
          <p:cNvSpPr/>
          <p:nvPr/>
        </p:nvSpPr>
        <p:spPr bwMode="auto">
          <a:xfrm>
            <a:off x="178200" y="2189880"/>
            <a:ext cx="266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56958943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530691644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1868787763" name=""/>
          <p:cNvSpPr/>
          <p:nvPr/>
        </p:nvSpPr>
        <p:spPr bwMode="auto">
          <a:xfrm>
            <a:off x="5517000" y="3484080"/>
            <a:ext cx="475920" cy="50112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56901562" name=""/>
          <p:cNvSpPr/>
          <p:nvPr/>
        </p:nvSpPr>
        <p:spPr bwMode="auto">
          <a:xfrm>
            <a:off x="5975640" y="3785040"/>
            <a:ext cx="27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92D050"/>
                </a:solidFill>
                <a:latin typeface="Aptos"/>
                <a:ea typeface="Arial"/>
              </a:rPr>
              <a:t>traversing the list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691743" name="Rectangle 6"/>
          <p:cNvSpPr/>
          <p:nvPr/>
        </p:nvSpPr>
        <p:spPr bwMode="auto">
          <a:xfrm>
            <a:off x="4922280" y="3246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08977157" name="Straight Arrow Connector 7"/>
          <p:cNvCxnSpPr/>
          <p:nvPr/>
        </p:nvCxnSpPr>
        <p:spPr bwMode="auto">
          <a:xfrm>
            <a:off x="5544360" y="32457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993590803" name="TextBox 9"/>
          <p:cNvSpPr/>
          <p:nvPr/>
        </p:nvSpPr>
        <p:spPr bwMode="auto">
          <a:xfrm>
            <a:off x="5058360" y="33256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491788" name="Arrow: Right 10"/>
          <p:cNvSpPr/>
          <p:nvPr/>
        </p:nvSpPr>
        <p:spPr bwMode="auto">
          <a:xfrm>
            <a:off x="616140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15854898" name="Rectangle 15"/>
          <p:cNvSpPr/>
          <p:nvPr/>
        </p:nvSpPr>
        <p:spPr bwMode="auto">
          <a:xfrm>
            <a:off x="6794640" y="3282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361292" name="Straight Arrow Connector 16"/>
          <p:cNvCxnSpPr/>
          <p:nvPr/>
        </p:nvCxnSpPr>
        <p:spPr bwMode="auto">
          <a:xfrm>
            <a:off x="7453080" y="328212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23615758" name="TextBox 17"/>
          <p:cNvSpPr/>
          <p:nvPr/>
        </p:nvSpPr>
        <p:spPr bwMode="auto">
          <a:xfrm>
            <a:off x="6966720" y="33548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356284" name="Arrow: Right 1"/>
          <p:cNvSpPr/>
          <p:nvPr/>
        </p:nvSpPr>
        <p:spPr bwMode="auto">
          <a:xfrm>
            <a:off x="4282920" y="3413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36128381" name="Rectangle 2"/>
          <p:cNvSpPr/>
          <p:nvPr/>
        </p:nvSpPr>
        <p:spPr bwMode="auto">
          <a:xfrm>
            <a:off x="3031200" y="3255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5875190" name="Straight Arrow Connector 3"/>
          <p:cNvCxnSpPr/>
          <p:nvPr/>
        </p:nvCxnSpPr>
        <p:spPr bwMode="auto">
          <a:xfrm>
            <a:off x="3689640" y="32554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05644998" name="TextBox 4"/>
          <p:cNvSpPr/>
          <p:nvPr/>
        </p:nvSpPr>
        <p:spPr bwMode="auto">
          <a:xfrm>
            <a:off x="3210480" y="33282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1845453" name="Arrow: Right 12"/>
          <p:cNvSpPr/>
          <p:nvPr/>
        </p:nvSpPr>
        <p:spPr bwMode="auto">
          <a:xfrm>
            <a:off x="804096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65580509" name="Rectangle 13"/>
          <p:cNvSpPr/>
          <p:nvPr/>
        </p:nvSpPr>
        <p:spPr bwMode="auto">
          <a:xfrm>
            <a:off x="10485360" y="32493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50244438" name="Straight Arrow Connector 18"/>
          <p:cNvCxnSpPr/>
          <p:nvPr/>
        </p:nvCxnSpPr>
        <p:spPr bwMode="auto">
          <a:xfrm>
            <a:off x="11143800" y="32493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98987523" name="TextBox 20"/>
          <p:cNvSpPr/>
          <p:nvPr/>
        </p:nvSpPr>
        <p:spPr bwMode="auto">
          <a:xfrm>
            <a:off x="10657800" y="33220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384805" name="TextBox 5"/>
          <p:cNvSpPr/>
          <p:nvPr/>
        </p:nvSpPr>
        <p:spPr bwMode="auto">
          <a:xfrm>
            <a:off x="2782080" y="5388120"/>
            <a:ext cx="8040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2: Delete(C)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00372413" name="Straight Arrow Connector 8"/>
          <p:cNvCxnSpPr/>
          <p:nvPr/>
        </p:nvCxnSpPr>
        <p:spPr bwMode="auto">
          <a:xfrm>
            <a:off x="8751600" y="3553920"/>
            <a:ext cx="107496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532155018" name="Arrow: Right 14"/>
          <p:cNvSpPr/>
          <p:nvPr/>
        </p:nvSpPr>
        <p:spPr bwMode="auto">
          <a:xfrm>
            <a:off x="9825480" y="3433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74801937" name="TextBox 19"/>
          <p:cNvSpPr/>
          <p:nvPr/>
        </p:nvSpPr>
        <p:spPr bwMode="auto">
          <a:xfrm>
            <a:off x="203040" y="2189880"/>
            <a:ext cx="276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3344628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1491181300" name="TextBox 22"/>
          <p:cNvSpPr/>
          <p:nvPr/>
        </p:nvSpPr>
        <p:spPr bwMode="auto">
          <a:xfrm>
            <a:off x="203040" y="4214520"/>
            <a:ext cx="2769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75578240" name="Straight Arrow Connector 23"/>
          <p:cNvCxnSpPr/>
          <p:nvPr/>
        </p:nvCxnSpPr>
        <p:spPr bwMode="auto">
          <a:xfrm flipV="1">
            <a:off x="2785320" y="433404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615071057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300474" name="Rectangle 6"/>
          <p:cNvSpPr/>
          <p:nvPr/>
        </p:nvSpPr>
        <p:spPr bwMode="auto">
          <a:xfrm>
            <a:off x="4922280" y="3246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85510641" name="Straight Arrow Connector 7"/>
          <p:cNvCxnSpPr/>
          <p:nvPr/>
        </p:nvCxnSpPr>
        <p:spPr bwMode="auto">
          <a:xfrm>
            <a:off x="5544360" y="32457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025993626" name="TextBox 9"/>
          <p:cNvSpPr/>
          <p:nvPr/>
        </p:nvSpPr>
        <p:spPr bwMode="auto">
          <a:xfrm>
            <a:off x="5058360" y="33256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616546" name="Arrow: Right 10"/>
          <p:cNvSpPr/>
          <p:nvPr/>
        </p:nvSpPr>
        <p:spPr bwMode="auto">
          <a:xfrm>
            <a:off x="616140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20498396" name="Rectangle 15"/>
          <p:cNvSpPr/>
          <p:nvPr/>
        </p:nvSpPr>
        <p:spPr bwMode="auto">
          <a:xfrm>
            <a:off x="6794640" y="328212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60059128" name="Straight Arrow Connector 16"/>
          <p:cNvCxnSpPr/>
          <p:nvPr/>
        </p:nvCxnSpPr>
        <p:spPr bwMode="auto">
          <a:xfrm>
            <a:off x="7453080" y="328212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79450217" name="TextBox 17"/>
          <p:cNvSpPr/>
          <p:nvPr/>
        </p:nvSpPr>
        <p:spPr bwMode="auto">
          <a:xfrm>
            <a:off x="6966720" y="33548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618059" name="Arrow: Right 1"/>
          <p:cNvSpPr/>
          <p:nvPr/>
        </p:nvSpPr>
        <p:spPr bwMode="auto">
          <a:xfrm>
            <a:off x="4282920" y="3413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51138776" name="Rectangle 2"/>
          <p:cNvSpPr/>
          <p:nvPr/>
        </p:nvSpPr>
        <p:spPr bwMode="auto">
          <a:xfrm>
            <a:off x="3031200" y="32554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55691876" name="Straight Arrow Connector 3"/>
          <p:cNvCxnSpPr/>
          <p:nvPr/>
        </p:nvCxnSpPr>
        <p:spPr bwMode="auto">
          <a:xfrm>
            <a:off x="3689640" y="32554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46938678" name="TextBox 4"/>
          <p:cNvSpPr/>
          <p:nvPr/>
        </p:nvSpPr>
        <p:spPr bwMode="auto">
          <a:xfrm>
            <a:off x="3210480" y="33282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971992" name="Arrow: Right 12"/>
          <p:cNvSpPr/>
          <p:nvPr/>
        </p:nvSpPr>
        <p:spPr bwMode="auto">
          <a:xfrm>
            <a:off x="8040960" y="34401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65082158" name="Rectangle 13"/>
          <p:cNvSpPr/>
          <p:nvPr/>
        </p:nvSpPr>
        <p:spPr bwMode="auto">
          <a:xfrm>
            <a:off x="10485360" y="32493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09995276" name="Straight Arrow Connector 18"/>
          <p:cNvCxnSpPr/>
          <p:nvPr/>
        </p:nvCxnSpPr>
        <p:spPr bwMode="auto">
          <a:xfrm>
            <a:off x="11143800" y="32493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32228726" name="TextBox 20"/>
          <p:cNvSpPr/>
          <p:nvPr/>
        </p:nvSpPr>
        <p:spPr bwMode="auto">
          <a:xfrm>
            <a:off x="10657800" y="332208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680235" name="TextBox 5"/>
          <p:cNvSpPr/>
          <p:nvPr/>
        </p:nvSpPr>
        <p:spPr bwMode="auto">
          <a:xfrm>
            <a:off x="2782080" y="5388120"/>
            <a:ext cx="8029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2: Node C is marked  for logical deletion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623403" name="Straight Arrow Connector 8"/>
          <p:cNvCxnSpPr/>
          <p:nvPr/>
        </p:nvCxnSpPr>
        <p:spPr bwMode="auto">
          <a:xfrm>
            <a:off x="8751600" y="3553920"/>
            <a:ext cx="107496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468566649" name="Arrow: Right 14"/>
          <p:cNvSpPr/>
          <p:nvPr/>
        </p:nvSpPr>
        <p:spPr bwMode="auto">
          <a:xfrm>
            <a:off x="9825480" y="3433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04137476" name="TextBox 19"/>
          <p:cNvSpPr/>
          <p:nvPr/>
        </p:nvSpPr>
        <p:spPr bwMode="auto">
          <a:xfrm>
            <a:off x="153000" y="2189880"/>
            <a:ext cx="269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6577354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1878034455" name="TextBox 22"/>
          <p:cNvSpPr/>
          <p:nvPr/>
        </p:nvSpPr>
        <p:spPr bwMode="auto">
          <a:xfrm>
            <a:off x="178200" y="4214520"/>
            <a:ext cx="2794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42366369" name="Straight Arrow Connector 23"/>
          <p:cNvCxnSpPr/>
          <p:nvPr/>
        </p:nvCxnSpPr>
        <p:spPr bwMode="auto">
          <a:xfrm flipV="1">
            <a:off x="2785320" y="433404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1699905608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794224" name="Rectangle 6"/>
          <p:cNvSpPr/>
          <p:nvPr/>
        </p:nvSpPr>
        <p:spPr bwMode="auto">
          <a:xfrm>
            <a:off x="4885920" y="3100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11705629" name="Straight Arrow Connector 7"/>
          <p:cNvCxnSpPr/>
          <p:nvPr/>
        </p:nvCxnSpPr>
        <p:spPr bwMode="auto">
          <a:xfrm>
            <a:off x="5508000" y="310068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691649473" name="TextBox 9"/>
          <p:cNvSpPr/>
          <p:nvPr/>
        </p:nvSpPr>
        <p:spPr bwMode="auto">
          <a:xfrm>
            <a:off x="5022000" y="31806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8908160" name="Arrow: Right 10"/>
          <p:cNvSpPr/>
          <p:nvPr/>
        </p:nvSpPr>
        <p:spPr bwMode="auto">
          <a:xfrm>
            <a:off x="6125039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46780435" name="Rectangle 15"/>
          <p:cNvSpPr/>
          <p:nvPr/>
        </p:nvSpPr>
        <p:spPr bwMode="auto">
          <a:xfrm>
            <a:off x="6758280" y="31370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08417189" name="Straight Arrow Connector 16"/>
          <p:cNvCxnSpPr/>
          <p:nvPr/>
        </p:nvCxnSpPr>
        <p:spPr bwMode="auto">
          <a:xfrm>
            <a:off x="7416720" y="313704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66441982" name="TextBox 17"/>
          <p:cNvSpPr/>
          <p:nvPr/>
        </p:nvSpPr>
        <p:spPr bwMode="auto">
          <a:xfrm>
            <a:off x="6930720" y="3209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5377332" name="Arrow: Right 1"/>
          <p:cNvSpPr/>
          <p:nvPr/>
        </p:nvSpPr>
        <p:spPr bwMode="auto">
          <a:xfrm>
            <a:off x="4246920" y="3268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24303" name="Rectangle 2"/>
          <p:cNvSpPr/>
          <p:nvPr/>
        </p:nvSpPr>
        <p:spPr bwMode="auto">
          <a:xfrm>
            <a:off x="2994840" y="3110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97498353" name="Straight Arrow Connector 3"/>
          <p:cNvCxnSpPr/>
          <p:nvPr/>
        </p:nvCxnSpPr>
        <p:spPr bwMode="auto">
          <a:xfrm>
            <a:off x="3653280" y="311004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17799204" name="TextBox 4"/>
          <p:cNvSpPr/>
          <p:nvPr/>
        </p:nvSpPr>
        <p:spPr bwMode="auto">
          <a:xfrm>
            <a:off x="3174120" y="3182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84165" name="Arrow: Right 12"/>
          <p:cNvSpPr/>
          <p:nvPr/>
        </p:nvSpPr>
        <p:spPr bwMode="auto">
          <a:xfrm>
            <a:off x="8004600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37126569" name="Rectangle 13"/>
          <p:cNvSpPr/>
          <p:nvPr/>
        </p:nvSpPr>
        <p:spPr bwMode="auto">
          <a:xfrm>
            <a:off x="10449360" y="3104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70751350" name="Straight Arrow Connector 18"/>
          <p:cNvCxnSpPr/>
          <p:nvPr/>
        </p:nvCxnSpPr>
        <p:spPr bwMode="auto">
          <a:xfrm>
            <a:off x="11107800" y="31039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067018581" name="TextBox 20"/>
          <p:cNvSpPr/>
          <p:nvPr/>
        </p:nvSpPr>
        <p:spPr bwMode="auto">
          <a:xfrm>
            <a:off x="10621440" y="3176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4218162" name="TextBox 5"/>
          <p:cNvSpPr/>
          <p:nvPr/>
        </p:nvSpPr>
        <p:spPr bwMode="auto">
          <a:xfrm>
            <a:off x="1581840" y="5533560"/>
            <a:ext cx="995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</a:t>
            </a: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ptos"/>
              </a:rPr>
              <a:t>unlinks the entire chain of nodes between Node A and Node 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ptos"/>
              </a:rPr>
              <a:t>(assuming </a:t>
            </a:r>
            <a:r>
              <a:rPr lang="en-US" sz="2400" b="1" i="1" u="none" strike="noStrike">
                <a:solidFill>
                  <a:schemeClr val="accent1"/>
                </a:solidFill>
                <a:latin typeface="Aptos"/>
                <a:ea typeface="Aptos"/>
              </a:rPr>
              <a:t>all </a:t>
            </a: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ptos"/>
              </a:rPr>
              <a:t>consecutive nodes in the chain are logically deleted)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49736297" name="Straight Arrow Connector 8"/>
          <p:cNvCxnSpPr/>
          <p:nvPr/>
        </p:nvCxnSpPr>
        <p:spPr bwMode="auto">
          <a:xfrm>
            <a:off x="8715240" y="340884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467441718" name="Arrow: Right 14"/>
          <p:cNvSpPr/>
          <p:nvPr/>
        </p:nvSpPr>
        <p:spPr bwMode="auto">
          <a:xfrm>
            <a:off x="9789480" y="32882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25304583" name="TextBox 19"/>
          <p:cNvSpPr/>
          <p:nvPr/>
        </p:nvSpPr>
        <p:spPr bwMode="auto">
          <a:xfrm>
            <a:off x="228240" y="2189880"/>
            <a:ext cx="2619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69645176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900526290" name="TextBox 22"/>
          <p:cNvSpPr/>
          <p:nvPr/>
        </p:nvSpPr>
        <p:spPr bwMode="auto">
          <a:xfrm>
            <a:off x="278280" y="4452120"/>
            <a:ext cx="260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73800114" name="Straight Arrow Connector 23"/>
          <p:cNvCxnSpPr/>
          <p:nvPr/>
        </p:nvCxnSpPr>
        <p:spPr bwMode="auto">
          <a:xfrm flipV="1">
            <a:off x="2821680" y="469692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1350061172" name="Straight Arrow Connector 26"/>
          <p:cNvCxnSpPr/>
          <p:nvPr/>
        </p:nvCxnSpPr>
        <p:spPr bwMode="auto">
          <a:xfrm>
            <a:off x="3652560" y="3633120"/>
            <a:ext cx="14760" cy="66096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886100132" name="Straight Arrow Connector 28"/>
          <p:cNvCxnSpPr/>
          <p:nvPr/>
        </p:nvCxnSpPr>
        <p:spPr bwMode="auto">
          <a:xfrm flipV="1">
            <a:off x="3659760" y="4264560"/>
            <a:ext cx="7409880" cy="583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1250015795" name="Straight Arrow Connector 30"/>
          <p:cNvCxnSpPr/>
          <p:nvPr/>
        </p:nvCxnSpPr>
        <p:spPr bwMode="auto">
          <a:xfrm flipV="1">
            <a:off x="11086560" y="3653280"/>
            <a:ext cx="15120" cy="59112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type="triangle" w="med" len="med"/>
          </a:ln>
        </p:spPr>
      </p:cxnSp>
      <p:sp>
        <p:nvSpPr>
          <p:cNvPr id="1619816308" name="TextBox 32"/>
          <p:cNvSpPr/>
          <p:nvPr/>
        </p:nvSpPr>
        <p:spPr bwMode="auto">
          <a:xfrm>
            <a:off x="6714720" y="3769920"/>
            <a:ext cx="166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/>
                </a:solidFill>
                <a:latin typeface="Aptos"/>
                <a:ea typeface="Arial"/>
              </a:rPr>
              <a:t>Unlinking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361967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796754" name="Rectangle 6"/>
          <p:cNvSpPr/>
          <p:nvPr/>
        </p:nvSpPr>
        <p:spPr bwMode="auto">
          <a:xfrm>
            <a:off x="4885920" y="3100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01579224" name="Straight Arrow Connector 7"/>
          <p:cNvCxnSpPr/>
          <p:nvPr/>
        </p:nvCxnSpPr>
        <p:spPr bwMode="auto">
          <a:xfrm>
            <a:off x="5508000" y="310068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234617438" name="TextBox 9"/>
          <p:cNvSpPr/>
          <p:nvPr/>
        </p:nvSpPr>
        <p:spPr bwMode="auto">
          <a:xfrm>
            <a:off x="5022000" y="31806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6743948" name="Arrow: Right 10"/>
          <p:cNvSpPr/>
          <p:nvPr/>
        </p:nvSpPr>
        <p:spPr bwMode="auto">
          <a:xfrm>
            <a:off x="6125039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688854263" name="Rectangle 15"/>
          <p:cNvSpPr/>
          <p:nvPr/>
        </p:nvSpPr>
        <p:spPr bwMode="auto">
          <a:xfrm>
            <a:off x="6758280" y="3137040"/>
            <a:ext cx="1242360" cy="52596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92185977" name="Straight Arrow Connector 16"/>
          <p:cNvCxnSpPr/>
          <p:nvPr/>
        </p:nvCxnSpPr>
        <p:spPr bwMode="auto">
          <a:xfrm>
            <a:off x="7416720" y="313704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03141910" name="TextBox 17"/>
          <p:cNvSpPr/>
          <p:nvPr/>
        </p:nvSpPr>
        <p:spPr bwMode="auto">
          <a:xfrm>
            <a:off x="6930720" y="3209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544812" name="Arrow: Right 1"/>
          <p:cNvSpPr/>
          <p:nvPr/>
        </p:nvSpPr>
        <p:spPr bwMode="auto">
          <a:xfrm>
            <a:off x="4246920" y="3268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46179855" name="Rectangle 2"/>
          <p:cNvSpPr/>
          <p:nvPr/>
        </p:nvSpPr>
        <p:spPr bwMode="auto">
          <a:xfrm>
            <a:off x="2994840" y="3110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20591590" name="Straight Arrow Connector 3"/>
          <p:cNvCxnSpPr/>
          <p:nvPr/>
        </p:nvCxnSpPr>
        <p:spPr bwMode="auto">
          <a:xfrm>
            <a:off x="3653280" y="311004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26577934" name="TextBox 4"/>
          <p:cNvSpPr/>
          <p:nvPr/>
        </p:nvSpPr>
        <p:spPr bwMode="auto">
          <a:xfrm>
            <a:off x="3174120" y="3182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859971" name="Arrow: Right 12"/>
          <p:cNvSpPr/>
          <p:nvPr/>
        </p:nvSpPr>
        <p:spPr bwMode="auto">
          <a:xfrm>
            <a:off x="8004600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28763484" name="Rectangle 13"/>
          <p:cNvSpPr/>
          <p:nvPr/>
        </p:nvSpPr>
        <p:spPr bwMode="auto">
          <a:xfrm>
            <a:off x="10449360" y="3104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41966024" name="Straight Arrow Connector 18"/>
          <p:cNvCxnSpPr/>
          <p:nvPr/>
        </p:nvCxnSpPr>
        <p:spPr bwMode="auto">
          <a:xfrm>
            <a:off x="11107800" y="31039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52473325" name="TextBox 20"/>
          <p:cNvSpPr/>
          <p:nvPr/>
        </p:nvSpPr>
        <p:spPr bwMode="auto">
          <a:xfrm>
            <a:off x="10621440" y="3176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9490818" name="TextBox 5"/>
          <p:cNvSpPr/>
          <p:nvPr/>
        </p:nvSpPr>
        <p:spPr bwMode="auto">
          <a:xfrm>
            <a:off x="2782080" y="5533560"/>
            <a:ext cx="876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Node C is Reclaimed by Thread 2 and returned to the OS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9489575" name="Straight Arrow Connector 8"/>
          <p:cNvCxnSpPr/>
          <p:nvPr/>
        </p:nvCxnSpPr>
        <p:spPr bwMode="auto">
          <a:xfrm>
            <a:off x="8715240" y="340884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821672840" name="Arrow: Right 14"/>
          <p:cNvSpPr/>
          <p:nvPr/>
        </p:nvSpPr>
        <p:spPr bwMode="auto">
          <a:xfrm>
            <a:off x="9789480" y="32882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59779388" name="TextBox 19"/>
          <p:cNvSpPr/>
          <p:nvPr/>
        </p:nvSpPr>
        <p:spPr bwMode="auto">
          <a:xfrm>
            <a:off x="178200" y="2189880"/>
            <a:ext cx="2669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51655717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2044209104" name="TextBox 22"/>
          <p:cNvSpPr/>
          <p:nvPr/>
        </p:nvSpPr>
        <p:spPr bwMode="auto">
          <a:xfrm>
            <a:off x="303480" y="4452120"/>
            <a:ext cx="270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9837379" name="Straight Arrow Connector 23"/>
          <p:cNvCxnSpPr/>
          <p:nvPr/>
        </p:nvCxnSpPr>
        <p:spPr bwMode="auto">
          <a:xfrm flipV="1">
            <a:off x="2821680" y="469692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777295548" name="Straight Arrow Connector 26"/>
          <p:cNvCxnSpPr/>
          <p:nvPr/>
        </p:nvCxnSpPr>
        <p:spPr bwMode="auto">
          <a:xfrm>
            <a:off x="3652560" y="3633120"/>
            <a:ext cx="14760" cy="66096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598580684" name="Straight Arrow Connector 28"/>
          <p:cNvCxnSpPr/>
          <p:nvPr/>
        </p:nvCxnSpPr>
        <p:spPr bwMode="auto">
          <a:xfrm flipV="1">
            <a:off x="3659760" y="4264560"/>
            <a:ext cx="7409880" cy="583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67867641" name="Straight Arrow Connector 30"/>
          <p:cNvCxnSpPr/>
          <p:nvPr/>
        </p:nvCxnSpPr>
        <p:spPr bwMode="auto">
          <a:xfrm flipV="1">
            <a:off x="11086560" y="3653280"/>
            <a:ext cx="15120" cy="59112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type="triangle" w="med" len="med"/>
          </a:ln>
        </p:spPr>
      </p:cxnSp>
      <p:sp>
        <p:nvSpPr>
          <p:cNvPr id="1000699330" name="TextBox 32"/>
          <p:cNvSpPr/>
          <p:nvPr/>
        </p:nvSpPr>
        <p:spPr bwMode="auto">
          <a:xfrm>
            <a:off x="6714720" y="3769920"/>
            <a:ext cx="161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/>
                </a:solidFill>
                <a:latin typeface="Aptos"/>
                <a:ea typeface="Arial"/>
              </a:rPr>
              <a:t>Unlinking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37887212" name="Straight Arrow Connector 24"/>
          <p:cNvCxnSpPr/>
          <p:nvPr/>
        </p:nvCxnSpPr>
        <p:spPr bwMode="auto">
          <a:xfrm>
            <a:off x="7398360" y="4468320"/>
            <a:ext cx="15120" cy="508320"/>
          </a:xfrm>
          <a:prstGeom prst="straightConnector1">
            <a:avLst/>
          </a:prstGeom>
          <a:ln w="57150">
            <a:solidFill>
              <a:srgbClr val="156082"/>
            </a:solidFill>
          </a:ln>
        </p:spPr>
      </p:cxnSp>
      <p:sp>
        <p:nvSpPr>
          <p:cNvPr id="105225509" name="TextBox 25"/>
          <p:cNvSpPr/>
          <p:nvPr/>
        </p:nvSpPr>
        <p:spPr bwMode="auto">
          <a:xfrm>
            <a:off x="7400520" y="4788000"/>
            <a:ext cx="271151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Reclaim 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749860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279307" name="Rectangle 6"/>
          <p:cNvSpPr/>
          <p:nvPr/>
        </p:nvSpPr>
        <p:spPr bwMode="auto">
          <a:xfrm>
            <a:off x="4885920" y="3100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29024251" name="Straight Arrow Connector 7"/>
          <p:cNvCxnSpPr/>
          <p:nvPr/>
        </p:nvCxnSpPr>
        <p:spPr bwMode="auto">
          <a:xfrm>
            <a:off x="5508000" y="310068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52937144" name="TextBox 9"/>
          <p:cNvSpPr/>
          <p:nvPr/>
        </p:nvSpPr>
        <p:spPr bwMode="auto">
          <a:xfrm>
            <a:off x="5022000" y="318060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279038" name="Arrow: Right 10"/>
          <p:cNvSpPr/>
          <p:nvPr/>
        </p:nvSpPr>
        <p:spPr bwMode="auto">
          <a:xfrm>
            <a:off x="6125039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87561588" name="Rectangle 15"/>
          <p:cNvSpPr/>
          <p:nvPr/>
        </p:nvSpPr>
        <p:spPr bwMode="auto">
          <a:xfrm>
            <a:off x="6758280" y="3137040"/>
            <a:ext cx="1242360" cy="52596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50048184" name="Straight Arrow Connector 16"/>
          <p:cNvCxnSpPr/>
          <p:nvPr/>
        </p:nvCxnSpPr>
        <p:spPr bwMode="auto">
          <a:xfrm>
            <a:off x="7416720" y="313704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497867443" name="TextBox 17"/>
          <p:cNvSpPr/>
          <p:nvPr/>
        </p:nvSpPr>
        <p:spPr bwMode="auto">
          <a:xfrm>
            <a:off x="6930720" y="3209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908593" name="Arrow: Right 1"/>
          <p:cNvSpPr/>
          <p:nvPr/>
        </p:nvSpPr>
        <p:spPr bwMode="auto">
          <a:xfrm>
            <a:off x="4246920" y="3268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84877810" name="Rectangle 2"/>
          <p:cNvSpPr/>
          <p:nvPr/>
        </p:nvSpPr>
        <p:spPr bwMode="auto">
          <a:xfrm>
            <a:off x="2994840" y="3110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55840739" name="Straight Arrow Connector 3"/>
          <p:cNvCxnSpPr/>
          <p:nvPr/>
        </p:nvCxnSpPr>
        <p:spPr bwMode="auto">
          <a:xfrm>
            <a:off x="3653280" y="311004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10276193" name="TextBox 4"/>
          <p:cNvSpPr/>
          <p:nvPr/>
        </p:nvSpPr>
        <p:spPr bwMode="auto">
          <a:xfrm>
            <a:off x="3174120" y="318276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A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429534" name="Arrow: Right 12"/>
          <p:cNvSpPr/>
          <p:nvPr/>
        </p:nvSpPr>
        <p:spPr bwMode="auto">
          <a:xfrm>
            <a:off x="8004600" y="32950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02516256" name="Rectangle 13"/>
          <p:cNvSpPr/>
          <p:nvPr/>
        </p:nvSpPr>
        <p:spPr bwMode="auto">
          <a:xfrm>
            <a:off x="10449360" y="31042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91045083" name="Straight Arrow Connector 18"/>
          <p:cNvCxnSpPr/>
          <p:nvPr/>
        </p:nvCxnSpPr>
        <p:spPr bwMode="auto">
          <a:xfrm>
            <a:off x="11107800" y="310392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870823136" name="TextBox 20"/>
          <p:cNvSpPr/>
          <p:nvPr/>
        </p:nvSpPr>
        <p:spPr bwMode="auto">
          <a:xfrm>
            <a:off x="10621440" y="3176640"/>
            <a:ext cx="317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4599" name="TextBox 5"/>
          <p:cNvSpPr/>
          <p:nvPr/>
        </p:nvSpPr>
        <p:spPr bwMode="auto">
          <a:xfrm>
            <a:off x="2782080" y="5533560"/>
            <a:ext cx="876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Thread 1 </a:t>
            </a: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fails</a:t>
            </a: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 when accessing </a:t>
            </a: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29776913" name="Straight Arrow Connector 8"/>
          <p:cNvCxnSpPr/>
          <p:nvPr/>
        </p:nvCxnSpPr>
        <p:spPr bwMode="auto">
          <a:xfrm>
            <a:off x="8715240" y="3408840"/>
            <a:ext cx="1075320" cy="576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778342910" name="Arrow: Right 14"/>
          <p:cNvSpPr/>
          <p:nvPr/>
        </p:nvSpPr>
        <p:spPr bwMode="auto">
          <a:xfrm>
            <a:off x="9789480" y="32882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04230195" name="TextBox 19"/>
          <p:cNvSpPr/>
          <p:nvPr/>
        </p:nvSpPr>
        <p:spPr bwMode="auto">
          <a:xfrm>
            <a:off x="228240" y="2189880"/>
            <a:ext cx="261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Thread 1 (Search)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07018739" name="Straight Arrow Connector 21"/>
          <p:cNvCxnSpPr/>
          <p:nvPr/>
        </p:nvCxnSpPr>
        <p:spPr bwMode="auto">
          <a:xfrm flipV="1">
            <a:off x="2785320" y="2367360"/>
            <a:ext cx="9151560" cy="43920"/>
          </a:xfrm>
          <a:prstGeom prst="straightConnector1">
            <a:avLst/>
          </a:prstGeom>
          <a:ln>
            <a:solidFill>
              <a:srgbClr val="4EA72E"/>
            </a:solidFill>
          </a:ln>
        </p:spPr>
      </p:cxnSp>
      <p:sp>
        <p:nvSpPr>
          <p:cNvPr id="1784709053" name="TextBox 22"/>
          <p:cNvSpPr/>
          <p:nvPr/>
        </p:nvSpPr>
        <p:spPr bwMode="auto">
          <a:xfrm>
            <a:off x="253080" y="4452120"/>
            <a:ext cx="2630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Thread 2 (Delete)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0681211" name="Straight Arrow Connector 23"/>
          <p:cNvCxnSpPr/>
          <p:nvPr/>
        </p:nvCxnSpPr>
        <p:spPr bwMode="auto">
          <a:xfrm flipV="1">
            <a:off x="2821680" y="4696920"/>
            <a:ext cx="9151560" cy="4392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561000181" name="Straight Arrow Connector 26"/>
          <p:cNvCxnSpPr/>
          <p:nvPr/>
        </p:nvCxnSpPr>
        <p:spPr bwMode="auto">
          <a:xfrm>
            <a:off x="3652560" y="3633120"/>
            <a:ext cx="14760" cy="66096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1810617613" name="Straight Arrow Connector 28"/>
          <p:cNvCxnSpPr/>
          <p:nvPr/>
        </p:nvCxnSpPr>
        <p:spPr bwMode="auto">
          <a:xfrm flipV="1">
            <a:off x="3659760" y="4264560"/>
            <a:ext cx="7409880" cy="58320"/>
          </a:xfrm>
          <a:prstGeom prst="straightConnector1">
            <a:avLst/>
          </a:prstGeom>
          <a:ln>
            <a:solidFill>
              <a:srgbClr val="156082"/>
            </a:solidFill>
            <a:prstDash val="dash"/>
          </a:ln>
        </p:spPr>
      </p:cxnSp>
      <p:cxnSp>
        <p:nvCxnSpPr>
          <p:cNvPr id="1349076807" name="Straight Arrow Connector 30"/>
          <p:cNvCxnSpPr/>
          <p:nvPr/>
        </p:nvCxnSpPr>
        <p:spPr bwMode="auto">
          <a:xfrm flipV="1">
            <a:off x="11086560" y="3653280"/>
            <a:ext cx="15120" cy="591120"/>
          </a:xfrm>
          <a:prstGeom prst="straightConnector1">
            <a:avLst/>
          </a:prstGeom>
          <a:ln>
            <a:solidFill>
              <a:srgbClr val="156082"/>
            </a:solidFill>
            <a:prstDash val="dash"/>
            <a:tailEnd type="triangle" w="med" len="med"/>
          </a:ln>
        </p:spPr>
      </p:cxnSp>
      <p:sp>
        <p:nvSpPr>
          <p:cNvPr id="1062408247" name="TextBox 32"/>
          <p:cNvSpPr/>
          <p:nvPr/>
        </p:nvSpPr>
        <p:spPr bwMode="auto">
          <a:xfrm>
            <a:off x="6714720" y="3769920"/>
            <a:ext cx="173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/>
                </a:solidFill>
                <a:latin typeface="Aptos"/>
                <a:ea typeface="Arial"/>
              </a:rPr>
              <a:t>Unlinking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09593758" name="Straight Arrow Connector 24"/>
          <p:cNvCxnSpPr/>
          <p:nvPr/>
        </p:nvCxnSpPr>
        <p:spPr bwMode="auto">
          <a:xfrm>
            <a:off x="7398360" y="4468320"/>
            <a:ext cx="15120" cy="508320"/>
          </a:xfrm>
          <a:prstGeom prst="straightConnector1">
            <a:avLst/>
          </a:prstGeom>
          <a:ln w="57150">
            <a:solidFill>
              <a:srgbClr val="156082"/>
            </a:solidFill>
          </a:ln>
        </p:spPr>
      </p:cxnSp>
      <p:sp>
        <p:nvSpPr>
          <p:cNvPr id="1839068081" name="TextBox 25"/>
          <p:cNvSpPr/>
          <p:nvPr/>
        </p:nvSpPr>
        <p:spPr bwMode="auto">
          <a:xfrm>
            <a:off x="7525800" y="4788000"/>
            <a:ext cx="262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1"/>
                </a:solidFill>
                <a:latin typeface="Aptos"/>
                <a:ea typeface="Arial"/>
              </a:rPr>
              <a:t>Reclaim 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497149" name="Multiplication Sign 27"/>
          <p:cNvSpPr/>
          <p:nvPr/>
        </p:nvSpPr>
        <p:spPr bwMode="auto">
          <a:xfrm>
            <a:off x="7618320" y="2184480"/>
            <a:ext cx="376920" cy="41328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46766284" name="TextBox 29"/>
          <p:cNvSpPr/>
          <p:nvPr/>
        </p:nvSpPr>
        <p:spPr bwMode="auto">
          <a:xfrm>
            <a:off x="8307720" y="18180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dk1"/>
              </a:solidFill>
              <a:latin typeface="Aptos"/>
              <a:ea typeface="Arial"/>
            </a:endParaRPr>
          </a:p>
        </p:txBody>
      </p:sp>
      <p:sp>
        <p:nvSpPr>
          <p:cNvPr id="1490821534" name="TextBox 31"/>
          <p:cNvSpPr/>
          <p:nvPr/>
        </p:nvSpPr>
        <p:spPr bwMode="auto">
          <a:xfrm>
            <a:off x="8006760" y="2453040"/>
            <a:ext cx="3169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SEGFAULT: Node C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938368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Problem: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 with HP</a:t>
            </a:r>
            <a:endParaRPr sz="4400" b="0" u="none" strike="noStrike">
              <a:solidFill>
                <a:srgbClr val="000000"/>
              </a:solidFill>
              <a:latin typeface="Arial"/>
            </a:endParaRPr>
          </a:p>
          <a:p>
            <a:pPr>
              <a:defRPr/>
            </a:pPr>
            <a:endParaRPr/>
          </a:p>
        </p:txBody>
      </p:sp>
      <p:sp>
        <p:nvSpPr>
          <p:cNvPr id="362792685" name=""/>
          <p:cNvSpPr/>
          <p:nvPr/>
        </p:nvSpPr>
        <p:spPr bwMode="auto">
          <a:xfrm>
            <a:off x="5223960" y="2531519"/>
            <a:ext cx="2772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i="1" u="none" strike="noStrike">
                <a:solidFill>
                  <a:srgbClr val="92D050"/>
                </a:solidFill>
                <a:latin typeface="Aptos"/>
                <a:ea typeface="Arial"/>
              </a:rPr>
              <a:t>traversing the list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057024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9951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Safe Concurrent Optimistic Traversals (SCOT)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20010314" name="PlaceHolder 2"/>
          <p:cNvSpPr>
            <a:spLocks noGrp="1"/>
          </p:cNvSpPr>
          <p:nvPr>
            <p:ph/>
          </p:nvPr>
        </p:nvSpPr>
        <p:spPr bwMode="auto">
          <a:xfrm>
            <a:off x="838080" y="2213280"/>
            <a:ext cx="10515240" cy="4390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Instead of fixing the SMR → fix the </a:t>
            </a:r>
            <a:r>
              <a:rPr lang="en-US" sz="2800" b="1" u="none" strike="noStrike">
                <a:solidFill>
                  <a:schemeClr val="dk1"/>
                </a:solidFill>
                <a:latin typeface="Aptos"/>
                <a:ea typeface="Aptos"/>
              </a:rPr>
              <a:t>data structure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Resolves the robustness vs. applicability dilemma, ERA Theorem [PODC ’23]</a:t>
            </a:r>
            <a:endParaRPr lang="en-US" sz="24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8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Redesign traversals to add </a:t>
            </a:r>
            <a:r>
              <a:rPr lang="en-US" sz="2800" b="1" u="none" strike="noStrike">
                <a:solidFill>
                  <a:schemeClr val="dk1"/>
                </a:solidFill>
                <a:latin typeface="Aptos"/>
                <a:ea typeface="Aptos"/>
              </a:rPr>
              <a:t>local validation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0757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95552660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2453198" name="TextBox 9"/>
          <p:cNvSpPr/>
          <p:nvPr/>
        </p:nvSpPr>
        <p:spPr bwMode="auto">
          <a:xfrm>
            <a:off x="2741400" y="2439720"/>
            <a:ext cx="67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4973008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96933280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30639770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0117589" name="TextBox 17"/>
          <p:cNvSpPr/>
          <p:nvPr/>
        </p:nvSpPr>
        <p:spPr bwMode="auto">
          <a:xfrm>
            <a:off x="4723560" y="2442240"/>
            <a:ext cx="718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0480571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90771434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92651588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19718939" name="TextBox 4"/>
          <p:cNvSpPr/>
          <p:nvPr/>
        </p:nvSpPr>
        <p:spPr bwMode="auto">
          <a:xfrm>
            <a:off x="920160" y="2442240"/>
            <a:ext cx="7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61389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75213367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22954476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174179657" name="TextBox 20"/>
          <p:cNvSpPr/>
          <p:nvPr/>
        </p:nvSpPr>
        <p:spPr bwMode="auto">
          <a:xfrm>
            <a:off x="8394480" y="2436120"/>
            <a:ext cx="5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983996" name="TextBox 5"/>
          <p:cNvSpPr/>
          <p:nvPr/>
        </p:nvSpPr>
        <p:spPr bwMode="auto">
          <a:xfrm>
            <a:off x="3278160" y="4165920"/>
            <a:ext cx="660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Initial State: List Contains Nodes N1-N6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9928892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0354213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91226352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18932685" name="TextBox 22"/>
          <p:cNvSpPr/>
          <p:nvPr/>
        </p:nvSpPr>
        <p:spPr bwMode="auto">
          <a:xfrm>
            <a:off x="6536520" y="2442600"/>
            <a:ext cx="835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2124747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75696463" name="TextBox 28"/>
          <p:cNvSpPr/>
          <p:nvPr/>
        </p:nvSpPr>
        <p:spPr bwMode="auto">
          <a:xfrm>
            <a:off x="10187640" y="2422800"/>
            <a:ext cx="5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782463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8331392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662320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837877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30232386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8539754" name="TextBox 9"/>
          <p:cNvSpPr/>
          <p:nvPr/>
        </p:nvSpPr>
        <p:spPr bwMode="auto">
          <a:xfrm>
            <a:off x="2741400" y="2439720"/>
            <a:ext cx="87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5453435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99014711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15961676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26257246" name="TextBox 17"/>
          <p:cNvSpPr/>
          <p:nvPr/>
        </p:nvSpPr>
        <p:spPr bwMode="auto">
          <a:xfrm>
            <a:off x="4723560" y="2442240"/>
            <a:ext cx="61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007932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74380758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67520370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563669821" name="TextBox 4"/>
          <p:cNvSpPr/>
          <p:nvPr/>
        </p:nvSpPr>
        <p:spPr bwMode="auto">
          <a:xfrm>
            <a:off x="920160" y="2442240"/>
            <a:ext cx="686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256707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84958952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97957561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62414694" name="TextBox 20"/>
          <p:cNvSpPr/>
          <p:nvPr/>
        </p:nvSpPr>
        <p:spPr bwMode="auto">
          <a:xfrm>
            <a:off x="8394480" y="2436120"/>
            <a:ext cx="591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078470" name="TextBox 5"/>
          <p:cNvSpPr/>
          <p:nvPr/>
        </p:nvSpPr>
        <p:spPr bwMode="auto">
          <a:xfrm>
            <a:off x="3292560" y="4542120"/>
            <a:ext cx="7365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Hp0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: protects next</a:t>
            </a:r>
            <a:br>
              <a:rPr sz="2400"/>
            </a:b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Hp1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: protects curr</a:t>
            </a:r>
            <a:br>
              <a:rPr sz="2400"/>
            </a:b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Hp2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: protects prev (not available at the very beginning)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759583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07586315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181322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14635543" name="TextBox 22"/>
          <p:cNvSpPr/>
          <p:nvPr/>
        </p:nvSpPr>
        <p:spPr bwMode="auto">
          <a:xfrm>
            <a:off x="6536520" y="2442600"/>
            <a:ext cx="861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177814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91999202" name="Straight Arrow Connector 8"/>
          <p:cNvCxnSpPr/>
          <p:nvPr/>
        </p:nvCxnSpPr>
        <p:spPr bwMode="auto">
          <a:xfrm flipV="1">
            <a:off x="1429920" y="28929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244779417" name="TextBox 23"/>
          <p:cNvSpPr/>
          <p:nvPr/>
        </p:nvSpPr>
        <p:spPr bwMode="auto">
          <a:xfrm>
            <a:off x="912960" y="3229200"/>
            <a:ext cx="182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2343697" name="Straight Arrow Connector 24"/>
          <p:cNvCxnSpPr/>
          <p:nvPr/>
        </p:nvCxnSpPr>
        <p:spPr bwMode="auto">
          <a:xfrm flipV="1">
            <a:off x="3227040" y="29073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79255209" name="TextBox 30"/>
          <p:cNvSpPr/>
          <p:nvPr/>
        </p:nvSpPr>
        <p:spPr bwMode="auto">
          <a:xfrm>
            <a:off x="2738519" y="3224160"/>
            <a:ext cx="2743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 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8304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66567978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94378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66767769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399097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00421956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131311674" name="TextBox 9"/>
          <p:cNvSpPr/>
          <p:nvPr/>
        </p:nvSpPr>
        <p:spPr bwMode="auto">
          <a:xfrm>
            <a:off x="2741400" y="2439720"/>
            <a:ext cx="77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rial"/>
              </a:rPr>
              <a:t> 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133069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6170798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97565879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75752716" name="TextBox 17"/>
          <p:cNvSpPr/>
          <p:nvPr/>
        </p:nvSpPr>
        <p:spPr bwMode="auto">
          <a:xfrm>
            <a:off x="4723560" y="2442240"/>
            <a:ext cx="643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836704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76361955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54566674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54700810" name="TextBox 4"/>
          <p:cNvSpPr/>
          <p:nvPr/>
        </p:nvSpPr>
        <p:spPr bwMode="auto">
          <a:xfrm>
            <a:off x="920160" y="2442240"/>
            <a:ext cx="686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5703311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26653682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80235602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73582700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134394" name="TextBox 5"/>
          <p:cNvSpPr/>
          <p:nvPr/>
        </p:nvSpPr>
        <p:spPr bwMode="auto">
          <a:xfrm>
            <a:off x="1262520" y="4398120"/>
            <a:ext cx="1051776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rial"/>
              </a:rPr>
              <a:t>Moving hazard pointers when moving to the next iteration: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curr (N1) [Hp1] -&gt; prev [Hp2]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next (N2) [Hp0] -&gt; curr [Hp1]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(new) next (N3) [Hp0]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604220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89847842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22105063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51954583" name="TextBox 22"/>
          <p:cNvSpPr/>
          <p:nvPr/>
        </p:nvSpPr>
        <p:spPr bwMode="auto">
          <a:xfrm>
            <a:off x="6536520" y="2442600"/>
            <a:ext cx="76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693462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42586862" name="Straight Arrow Connector 8"/>
          <p:cNvCxnSpPr/>
          <p:nvPr/>
        </p:nvCxnSpPr>
        <p:spPr bwMode="auto">
          <a:xfrm flipV="1">
            <a:off x="1429920" y="28929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018055837" name="TextBox 23"/>
          <p:cNvSpPr/>
          <p:nvPr/>
        </p:nvSpPr>
        <p:spPr bwMode="auto">
          <a:xfrm>
            <a:off x="912960" y="3229200"/>
            <a:ext cx="1823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48900618" name="Straight Arrow Connector 24"/>
          <p:cNvCxnSpPr/>
          <p:nvPr/>
        </p:nvCxnSpPr>
        <p:spPr bwMode="auto">
          <a:xfrm flipV="1">
            <a:off x="3227040" y="2907360"/>
            <a:ext cx="9000" cy="4374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392201541" name="TextBox 30"/>
          <p:cNvSpPr/>
          <p:nvPr/>
        </p:nvSpPr>
        <p:spPr bwMode="auto">
          <a:xfrm>
            <a:off x="2738519" y="3224160"/>
            <a:ext cx="2743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 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32273679" name="Straight Arrow Connector 25"/>
          <p:cNvCxnSpPr/>
          <p:nvPr/>
        </p:nvCxnSpPr>
        <p:spPr bwMode="auto">
          <a:xfrm flipH="1" flipV="1">
            <a:off x="5191200" y="2950200"/>
            <a:ext cx="6120" cy="3657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48764328" name="TextBox 32"/>
          <p:cNvSpPr/>
          <p:nvPr/>
        </p:nvSpPr>
        <p:spPr bwMode="auto">
          <a:xfrm>
            <a:off x="4727160" y="3258011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 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220505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7259996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7865181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64433119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460602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56446623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69739613" name="TextBox 9"/>
          <p:cNvSpPr/>
          <p:nvPr/>
        </p:nvSpPr>
        <p:spPr bwMode="auto">
          <a:xfrm>
            <a:off x="2741400" y="2439720"/>
            <a:ext cx="87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511527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677162723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67594923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919400" name="TextBox 17"/>
          <p:cNvSpPr/>
          <p:nvPr/>
        </p:nvSpPr>
        <p:spPr bwMode="auto">
          <a:xfrm>
            <a:off x="4723560" y="2442240"/>
            <a:ext cx="6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327512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60882086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47968353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37413653" name="TextBox 4"/>
          <p:cNvSpPr/>
          <p:nvPr/>
        </p:nvSpPr>
        <p:spPr bwMode="auto">
          <a:xfrm>
            <a:off x="920160" y="2442240"/>
            <a:ext cx="711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239775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13445495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57242345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30297090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014745" name="TextBox 5"/>
          <p:cNvSpPr/>
          <p:nvPr/>
        </p:nvSpPr>
        <p:spPr bwMode="auto">
          <a:xfrm>
            <a:off x="3753000" y="4366440"/>
            <a:ext cx="5049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Node N2-N4 are logically deleted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071515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76992785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88114558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0327540" name="TextBox 22"/>
          <p:cNvSpPr/>
          <p:nvPr/>
        </p:nvSpPr>
        <p:spPr bwMode="auto">
          <a:xfrm>
            <a:off x="6536520" y="2442600"/>
            <a:ext cx="73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781562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662558400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31922502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646896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35885139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226273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36300684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94910111" name="TextBox 9"/>
          <p:cNvSpPr/>
          <p:nvPr/>
        </p:nvSpPr>
        <p:spPr bwMode="auto">
          <a:xfrm>
            <a:off x="2741400" y="2439720"/>
            <a:ext cx="795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965745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42137340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15935592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21212067" name="TextBox 17"/>
          <p:cNvSpPr/>
          <p:nvPr/>
        </p:nvSpPr>
        <p:spPr bwMode="auto">
          <a:xfrm>
            <a:off x="4723560" y="2442240"/>
            <a:ext cx="743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3278943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72295834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590972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25292841" name="TextBox 4"/>
          <p:cNvSpPr/>
          <p:nvPr/>
        </p:nvSpPr>
        <p:spPr bwMode="auto">
          <a:xfrm>
            <a:off x="920160" y="2442240"/>
            <a:ext cx="762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831161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21316350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49628553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699906760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864977" name="TextBox 5"/>
          <p:cNvSpPr/>
          <p:nvPr/>
        </p:nvSpPr>
        <p:spPr bwMode="auto">
          <a:xfrm>
            <a:off x="1907640" y="4413240"/>
            <a:ext cx="7570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Need to be careful while traversing the 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0945845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39710397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28383947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647963226" name="TextBox 22"/>
          <p:cNvSpPr/>
          <p:nvPr/>
        </p:nvSpPr>
        <p:spPr bwMode="auto">
          <a:xfrm>
            <a:off x="6536520" y="2442600"/>
            <a:ext cx="785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953680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62882819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869099891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407542369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192354763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48782005" name="TextBox 30"/>
          <p:cNvSpPr/>
          <p:nvPr/>
        </p:nvSpPr>
        <p:spPr bwMode="auto">
          <a:xfrm>
            <a:off x="3760560" y="162172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722359" name="Graphic 32" descr="Danger with solid fill"/>
          <p:cNvPicPr/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6199560" y="13143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5292334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39887269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839175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3643853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037019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48750459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847048585" name="TextBox 9"/>
          <p:cNvSpPr/>
          <p:nvPr/>
        </p:nvSpPr>
        <p:spPr bwMode="auto">
          <a:xfrm>
            <a:off x="2741400" y="2439720"/>
            <a:ext cx="720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967010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10905022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76475340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361168883" name="TextBox 17"/>
          <p:cNvSpPr/>
          <p:nvPr/>
        </p:nvSpPr>
        <p:spPr bwMode="auto">
          <a:xfrm>
            <a:off x="4723560" y="2442240"/>
            <a:ext cx="693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334762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92102058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42289821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58798220" name="TextBox 4"/>
          <p:cNvSpPr/>
          <p:nvPr/>
        </p:nvSpPr>
        <p:spPr bwMode="auto">
          <a:xfrm>
            <a:off x="920160" y="2442240"/>
            <a:ext cx="66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087316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52783561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79583917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521686183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129244" name="TextBox 5"/>
          <p:cNvSpPr/>
          <p:nvPr/>
        </p:nvSpPr>
        <p:spPr bwMode="auto">
          <a:xfrm>
            <a:off x="2422440" y="4789440"/>
            <a:ext cx="840960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6"/>
                </a:solidFill>
                <a:latin typeface="Aptos"/>
                <a:ea typeface="Arial"/>
              </a:rPr>
              <a:t>N1 and N2 protected by hazard pointers’ reservations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1538825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81286819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14376645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240599622" name="TextBox 22"/>
          <p:cNvSpPr/>
          <p:nvPr/>
        </p:nvSpPr>
        <p:spPr bwMode="auto">
          <a:xfrm>
            <a:off x="6536520" y="2442600"/>
            <a:ext cx="69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0720785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18832042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492208376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742891131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807558722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77490466" name="TextBox 30"/>
          <p:cNvSpPr/>
          <p:nvPr/>
        </p:nvSpPr>
        <p:spPr bwMode="auto">
          <a:xfrm>
            <a:off x="3792599" y="169020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09163888" name="Straight Arrow Connector 32"/>
          <p:cNvCxnSpPr/>
          <p:nvPr/>
        </p:nvCxnSpPr>
        <p:spPr bwMode="auto">
          <a:xfrm flipV="1">
            <a:off x="1390680" y="292392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691066455" name="Straight Arrow Connector 33"/>
          <p:cNvCxnSpPr/>
          <p:nvPr/>
        </p:nvCxnSpPr>
        <p:spPr bwMode="auto">
          <a:xfrm flipV="1">
            <a:off x="3288960" y="287064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015245306" name="TextBox 34"/>
          <p:cNvSpPr/>
          <p:nvPr/>
        </p:nvSpPr>
        <p:spPr bwMode="auto">
          <a:xfrm>
            <a:off x="844920" y="3415320"/>
            <a:ext cx="1488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844293" name="TextBox 36"/>
          <p:cNvSpPr/>
          <p:nvPr/>
        </p:nvSpPr>
        <p:spPr bwMode="auto">
          <a:xfrm>
            <a:off x="2742480" y="3415320"/>
            <a:ext cx="155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0914699" name="Graphic 37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77600" y="13143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4263916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29861856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972220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34937409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232473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97914159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58536832" name="TextBox 9"/>
          <p:cNvSpPr/>
          <p:nvPr/>
        </p:nvSpPr>
        <p:spPr bwMode="auto">
          <a:xfrm>
            <a:off x="2741400" y="2439720"/>
            <a:ext cx="67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594826" name="Arrow: Right 10"/>
          <p:cNvSpPr/>
          <p:nvPr/>
        </p:nvSpPr>
        <p:spPr bwMode="auto">
          <a:xfrm>
            <a:off x="397836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92510803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20135574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26951127" name="TextBox 17"/>
          <p:cNvSpPr/>
          <p:nvPr/>
        </p:nvSpPr>
        <p:spPr bwMode="auto">
          <a:xfrm>
            <a:off x="4723560" y="2442240"/>
            <a:ext cx="71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074480" name="Arrow: Right 1"/>
          <p:cNvSpPr/>
          <p:nvPr/>
        </p:nvSpPr>
        <p:spPr bwMode="auto">
          <a:xfrm>
            <a:off x="2099880" y="25275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45157684" name="Rectangle 2"/>
          <p:cNvSpPr/>
          <p:nvPr/>
        </p:nvSpPr>
        <p:spPr bwMode="auto">
          <a:xfrm>
            <a:off x="848160" y="2369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042261942" name="Straight Arrow Connector 3"/>
          <p:cNvCxnSpPr/>
          <p:nvPr/>
        </p:nvCxnSpPr>
        <p:spPr bwMode="auto">
          <a:xfrm>
            <a:off x="1506600" y="23695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672265362" name="TextBox 4"/>
          <p:cNvSpPr/>
          <p:nvPr/>
        </p:nvSpPr>
        <p:spPr bwMode="auto">
          <a:xfrm>
            <a:off x="920160" y="2442240"/>
            <a:ext cx="7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032256" name="Arrow: Right 12"/>
          <p:cNvSpPr/>
          <p:nvPr/>
        </p:nvSpPr>
        <p:spPr bwMode="auto">
          <a:xfrm>
            <a:off x="5857920" y="25542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38149215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9503823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60116648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911605" name="Arrow: Right 14"/>
          <p:cNvSpPr/>
          <p:nvPr/>
        </p:nvSpPr>
        <p:spPr bwMode="auto">
          <a:xfrm>
            <a:off x="7642440" y="254736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48172880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96609491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554129312" name="TextBox 22"/>
          <p:cNvSpPr/>
          <p:nvPr/>
        </p:nvSpPr>
        <p:spPr bwMode="auto">
          <a:xfrm>
            <a:off x="6536520" y="2442600"/>
            <a:ext cx="71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135823" name="Arrow: Right 29"/>
          <p:cNvSpPr/>
          <p:nvPr/>
        </p:nvSpPr>
        <p:spPr bwMode="auto">
          <a:xfrm>
            <a:off x="9560880" y="25340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45216829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057656898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660263978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920055533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48816401" name="TextBox 30"/>
          <p:cNvSpPr/>
          <p:nvPr/>
        </p:nvSpPr>
        <p:spPr bwMode="auto">
          <a:xfrm>
            <a:off x="3802319" y="1727639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7972848" name="Straight Arrow Connector 32"/>
          <p:cNvCxnSpPr/>
          <p:nvPr/>
        </p:nvCxnSpPr>
        <p:spPr bwMode="auto">
          <a:xfrm flipV="1">
            <a:off x="1390680" y="292392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161032703" name="Straight Arrow Connector 33"/>
          <p:cNvCxnSpPr/>
          <p:nvPr/>
        </p:nvCxnSpPr>
        <p:spPr bwMode="auto">
          <a:xfrm flipV="1">
            <a:off x="3288960" y="287064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341597888" name="TextBox 34"/>
          <p:cNvSpPr/>
          <p:nvPr/>
        </p:nvSpPr>
        <p:spPr bwMode="auto">
          <a:xfrm>
            <a:off x="844920" y="3415320"/>
            <a:ext cx="1577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9206288" name="TextBox 36"/>
          <p:cNvSpPr/>
          <p:nvPr/>
        </p:nvSpPr>
        <p:spPr bwMode="auto">
          <a:xfrm>
            <a:off x="2742480" y="3415320"/>
            <a:ext cx="1674719" cy="11890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31063483" name="Straight Arrow Connector 35"/>
          <p:cNvCxnSpPr/>
          <p:nvPr/>
        </p:nvCxnSpPr>
        <p:spPr bwMode="auto">
          <a:xfrm flipV="1">
            <a:off x="5168520" y="293580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283058564" name="TextBox 37"/>
          <p:cNvSpPr/>
          <p:nvPr/>
        </p:nvSpPr>
        <p:spPr bwMode="auto">
          <a:xfrm>
            <a:off x="4626360" y="3418200"/>
            <a:ext cx="162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3965691" name="TextBox 38"/>
          <p:cNvSpPr/>
          <p:nvPr/>
        </p:nvSpPr>
        <p:spPr bwMode="auto">
          <a:xfrm flipH="0" flipV="0">
            <a:off x="721440" y="4795199"/>
            <a:ext cx="8534922" cy="11890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Next destination N3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 is the last safe node and protected by Hp2</a:t>
            </a:r>
            <a:endParaRPr lang="en-US" sz="2400" b="1" u="none" strike="noStrike">
              <a:solidFill>
                <a:schemeClr val="accent6"/>
              </a:solidFill>
              <a:latin typeface="Aptos"/>
              <a:ea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tx1"/>
                </a:solidFill>
                <a:latin typeface="Aptos"/>
                <a:ea typeface="Arial"/>
              </a:rPr>
              <a:t>Key Observation: Removing only a prefix of a chain</a:t>
            </a:r>
            <a:endParaRPr sz="2400" b="0" u="none" strike="noStrike">
              <a:solidFill>
                <a:schemeClr val="tx1"/>
              </a:solidFill>
              <a:latin typeface="Arial"/>
            </a:endParaRPr>
          </a:p>
        </p:txBody>
      </p:sp>
      <p:pic>
        <p:nvPicPr>
          <p:cNvPr id="1920185220" name="Graphic 39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250320" y="1307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3993684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929607188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0145625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1262543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159953" name="Rectangle 6"/>
          <p:cNvSpPr/>
          <p:nvPr/>
        </p:nvSpPr>
        <p:spPr bwMode="auto">
          <a:xfrm>
            <a:off x="2739240" y="2360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25927798" name="Straight Arrow Connector 7"/>
          <p:cNvCxnSpPr/>
          <p:nvPr/>
        </p:nvCxnSpPr>
        <p:spPr bwMode="auto">
          <a:xfrm>
            <a:off x="3361320" y="235980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96094488" name="TextBox 9"/>
          <p:cNvSpPr/>
          <p:nvPr/>
        </p:nvSpPr>
        <p:spPr bwMode="auto">
          <a:xfrm>
            <a:off x="2741400" y="2439720"/>
            <a:ext cx="670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58814" name="Arrow: Right 10"/>
          <p:cNvSpPr/>
          <p:nvPr/>
        </p:nvSpPr>
        <p:spPr bwMode="auto">
          <a:xfrm>
            <a:off x="3978360" y="255420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210553" name="Rectangle 15"/>
          <p:cNvSpPr/>
          <p:nvPr/>
        </p:nvSpPr>
        <p:spPr bwMode="auto">
          <a:xfrm>
            <a:off x="4611600" y="239616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08312626" name="Straight Arrow Connector 16"/>
          <p:cNvCxnSpPr/>
          <p:nvPr/>
        </p:nvCxnSpPr>
        <p:spPr bwMode="auto">
          <a:xfrm>
            <a:off x="5269680" y="239616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86955492" name="TextBox 17"/>
          <p:cNvSpPr/>
          <p:nvPr/>
        </p:nvSpPr>
        <p:spPr bwMode="auto">
          <a:xfrm>
            <a:off x="4723560" y="2442240"/>
            <a:ext cx="71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6394864" name="Arrow: Right 1"/>
          <p:cNvSpPr/>
          <p:nvPr/>
        </p:nvSpPr>
        <p:spPr bwMode="auto">
          <a:xfrm>
            <a:off x="2099880" y="252755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47541993" name="Rectangle 2"/>
          <p:cNvSpPr/>
          <p:nvPr/>
        </p:nvSpPr>
        <p:spPr bwMode="auto">
          <a:xfrm>
            <a:off x="848160" y="2369518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38275037" name="Straight Arrow Connector 3"/>
          <p:cNvCxnSpPr/>
          <p:nvPr/>
        </p:nvCxnSpPr>
        <p:spPr bwMode="auto">
          <a:xfrm>
            <a:off x="1506600" y="2369518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9069290" name="TextBox 4"/>
          <p:cNvSpPr/>
          <p:nvPr/>
        </p:nvSpPr>
        <p:spPr bwMode="auto">
          <a:xfrm>
            <a:off x="920160" y="2442240"/>
            <a:ext cx="714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97295" name="Arrow: Right 12"/>
          <p:cNvSpPr/>
          <p:nvPr/>
        </p:nvSpPr>
        <p:spPr bwMode="auto">
          <a:xfrm>
            <a:off x="5857920" y="255420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59870785" name="Rectangle 13"/>
          <p:cNvSpPr/>
          <p:nvPr/>
        </p:nvSpPr>
        <p:spPr bwMode="auto">
          <a:xfrm>
            <a:off x="8302320" y="23634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29323260" name="Straight Arrow Connector 18"/>
          <p:cNvCxnSpPr/>
          <p:nvPr/>
        </p:nvCxnSpPr>
        <p:spPr bwMode="auto">
          <a:xfrm>
            <a:off x="8960760" y="23634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2090064548" name="TextBox 20"/>
          <p:cNvSpPr/>
          <p:nvPr/>
        </p:nvSpPr>
        <p:spPr bwMode="auto">
          <a:xfrm>
            <a:off x="8394480" y="243612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4449959" name="Arrow: Right 14"/>
          <p:cNvSpPr/>
          <p:nvPr/>
        </p:nvSpPr>
        <p:spPr bwMode="auto">
          <a:xfrm>
            <a:off x="7642440" y="254736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41369864" name="Rectangle 19"/>
          <p:cNvSpPr/>
          <p:nvPr/>
        </p:nvSpPr>
        <p:spPr bwMode="auto">
          <a:xfrm>
            <a:off x="6504480" y="23702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25781595" name="Straight Arrow Connector 21"/>
          <p:cNvCxnSpPr/>
          <p:nvPr/>
        </p:nvCxnSpPr>
        <p:spPr bwMode="auto">
          <a:xfrm>
            <a:off x="7162920" y="23698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126622759" name="TextBox 22"/>
          <p:cNvSpPr/>
          <p:nvPr/>
        </p:nvSpPr>
        <p:spPr bwMode="auto">
          <a:xfrm>
            <a:off x="6536520" y="2442599"/>
            <a:ext cx="71063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474728" name="Arrow: Right 29"/>
          <p:cNvSpPr/>
          <p:nvPr/>
        </p:nvSpPr>
        <p:spPr bwMode="auto">
          <a:xfrm>
            <a:off x="9560880" y="253404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69646896" name="Straight Arrow Connector 8"/>
          <p:cNvCxnSpPr/>
          <p:nvPr/>
        </p:nvCxnSpPr>
        <p:spPr bwMode="auto">
          <a:xfrm flipH="1">
            <a:off x="246348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015014553" name="Straight Arrow Connector 23"/>
          <p:cNvCxnSpPr/>
          <p:nvPr/>
        </p:nvCxnSpPr>
        <p:spPr bwMode="auto">
          <a:xfrm flipH="1">
            <a:off x="7931160" y="217584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614248959" name="Straight Arrow Connector 24"/>
          <p:cNvCxnSpPr/>
          <p:nvPr/>
        </p:nvCxnSpPr>
        <p:spPr bwMode="auto">
          <a:xfrm flipV="1">
            <a:off x="2464920" y="3183840"/>
            <a:ext cx="5493240" cy="144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82029093" name="Straight Arrow Connector 25"/>
          <p:cNvCxnSpPr/>
          <p:nvPr/>
        </p:nvCxnSpPr>
        <p:spPr bwMode="auto">
          <a:xfrm flipV="1">
            <a:off x="2464920" y="217440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585693664" name="TextBox 30"/>
          <p:cNvSpPr/>
          <p:nvPr/>
        </p:nvSpPr>
        <p:spPr bwMode="auto">
          <a:xfrm>
            <a:off x="3802318" y="1727638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8552220" name="Straight Arrow Connector 32"/>
          <p:cNvCxnSpPr/>
          <p:nvPr/>
        </p:nvCxnSpPr>
        <p:spPr bwMode="auto">
          <a:xfrm flipV="1">
            <a:off x="1390680" y="292392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200500603" name="Straight Arrow Connector 33"/>
          <p:cNvCxnSpPr/>
          <p:nvPr/>
        </p:nvCxnSpPr>
        <p:spPr bwMode="auto">
          <a:xfrm flipV="1">
            <a:off x="3288960" y="2870639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633033013" name="TextBox 34"/>
          <p:cNvSpPr/>
          <p:nvPr/>
        </p:nvSpPr>
        <p:spPr bwMode="auto">
          <a:xfrm>
            <a:off x="844920" y="3415320"/>
            <a:ext cx="1577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278096" name="TextBox 36"/>
          <p:cNvSpPr/>
          <p:nvPr/>
        </p:nvSpPr>
        <p:spPr bwMode="auto">
          <a:xfrm>
            <a:off x="2742480" y="3415320"/>
            <a:ext cx="1672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 </a:t>
            </a: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0098141" name="Straight Arrow Connector 35"/>
          <p:cNvCxnSpPr/>
          <p:nvPr/>
        </p:nvCxnSpPr>
        <p:spPr bwMode="auto">
          <a:xfrm flipV="1">
            <a:off x="5168520" y="293580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713695134" name="TextBox 37"/>
          <p:cNvSpPr/>
          <p:nvPr/>
        </p:nvSpPr>
        <p:spPr bwMode="auto">
          <a:xfrm>
            <a:off x="4626360" y="3418200"/>
            <a:ext cx="1624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632724" name="TextBox 38"/>
          <p:cNvSpPr/>
          <p:nvPr/>
        </p:nvSpPr>
        <p:spPr bwMode="auto">
          <a:xfrm>
            <a:off x="721440" y="4795199"/>
            <a:ext cx="67363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Next destination N3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 is the last safe node and protected by Hp2</a:t>
            </a:r>
            <a:br>
              <a:rPr sz="2400"/>
            </a:b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N2 is the first unsafe node protected by </a:t>
            </a: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Hp3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7622135" name="Graphic 39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250320" y="1307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6121700" name="TextBox 40"/>
          <p:cNvSpPr/>
          <p:nvPr/>
        </p:nvSpPr>
        <p:spPr bwMode="auto">
          <a:xfrm>
            <a:off x="2158200" y="5970960"/>
            <a:ext cx="9500399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Hp3 is an extra hazard pointer which protects the 1st unsafe node</a:t>
            </a:r>
            <a:br>
              <a:rPr sz="2400"/>
            </a:b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Hp2 protects the last safe node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945365" name="Rectangle 26"/>
          <p:cNvSpPr/>
          <p:nvPr/>
        </p:nvSpPr>
        <p:spPr bwMode="auto">
          <a:xfrm>
            <a:off x="10220760" y="235008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25169520" name="TextBox 28"/>
          <p:cNvSpPr/>
          <p:nvPr/>
        </p:nvSpPr>
        <p:spPr bwMode="auto">
          <a:xfrm>
            <a:off x="10187640" y="242280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419132" name="Rectangle 26"/>
          <p:cNvSpPr/>
          <p:nvPr/>
        </p:nvSpPr>
        <p:spPr bwMode="auto">
          <a:xfrm>
            <a:off x="10830960" y="235008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26972723" name="Title 1"/>
          <p:cNvSpPr/>
          <p:nvPr/>
        </p:nvSpPr>
        <p:spPr bwMode="auto">
          <a:xfrm>
            <a:off x="838080" y="365040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05767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856711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110687963" name="TextBox 9"/>
          <p:cNvSpPr/>
          <p:nvPr/>
        </p:nvSpPr>
        <p:spPr bwMode="auto">
          <a:xfrm>
            <a:off x="2741400" y="2565360"/>
            <a:ext cx="770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836552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810838949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507809447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779906647" name="TextBox 17"/>
          <p:cNvSpPr/>
          <p:nvPr/>
        </p:nvSpPr>
        <p:spPr bwMode="auto">
          <a:xfrm>
            <a:off x="4723560" y="2567519"/>
            <a:ext cx="63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149218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4984905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72319256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431907550" name="TextBox 4"/>
          <p:cNvSpPr/>
          <p:nvPr/>
        </p:nvSpPr>
        <p:spPr bwMode="auto">
          <a:xfrm>
            <a:off x="920160" y="2567519"/>
            <a:ext cx="825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020495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55077426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1331534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974836015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404848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2963407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22823578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888647046" name="TextBox 22"/>
          <p:cNvSpPr/>
          <p:nvPr/>
        </p:nvSpPr>
        <p:spPr bwMode="auto">
          <a:xfrm>
            <a:off x="6536520" y="2568240"/>
            <a:ext cx="62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5521478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7931949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891311102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862145936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473890736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64669335" name="TextBox 30"/>
          <p:cNvSpPr/>
          <p:nvPr/>
        </p:nvSpPr>
        <p:spPr bwMode="auto">
          <a:xfrm>
            <a:off x="398844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53580006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775889190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770119855" name="TextBox 34"/>
          <p:cNvSpPr/>
          <p:nvPr/>
        </p:nvSpPr>
        <p:spPr bwMode="auto">
          <a:xfrm>
            <a:off x="844920" y="3540600"/>
            <a:ext cx="1488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753238" name="TextBox 36"/>
          <p:cNvSpPr/>
          <p:nvPr/>
        </p:nvSpPr>
        <p:spPr bwMode="auto">
          <a:xfrm>
            <a:off x="2742480" y="3540600"/>
            <a:ext cx="1421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1311644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885069718" name="TextBox 37"/>
          <p:cNvSpPr/>
          <p:nvPr/>
        </p:nvSpPr>
        <p:spPr bwMode="auto">
          <a:xfrm>
            <a:off x="4626360" y="3543480"/>
            <a:ext cx="1667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 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328515" name="TextBox 38"/>
          <p:cNvSpPr/>
          <p:nvPr/>
        </p:nvSpPr>
        <p:spPr bwMode="auto">
          <a:xfrm>
            <a:off x="1469520" y="5027400"/>
            <a:ext cx="8068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6"/>
                </a:solidFill>
                <a:latin typeface="Aptos"/>
                <a:ea typeface="Aptos"/>
              </a:rPr>
              <a:t>Validate (*prev = prev_next) after reserving N3 (Hp0)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12311" name="TextBox 39"/>
          <p:cNvSpPr/>
          <p:nvPr/>
        </p:nvSpPr>
        <p:spPr bwMode="auto">
          <a:xfrm>
            <a:off x="1469520" y="2576519"/>
            <a:ext cx="866879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000" b="1" u="none" strike="noStrike">
                <a:solidFill>
                  <a:schemeClr val="accent6"/>
                </a:solidFill>
                <a:latin typeface="Aptos"/>
                <a:ea typeface="Arial"/>
              </a:rPr>
              <a:t>prev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8199900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2060907589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485473834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  <a:tailEnd type="triangle" w="med" len="med"/>
          </a:ln>
        </p:spPr>
      </p:cxnSp>
      <p:sp>
        <p:nvSpPr>
          <p:cNvPr id="214437718" name="TextBox 43"/>
          <p:cNvSpPr/>
          <p:nvPr/>
        </p:nvSpPr>
        <p:spPr bwMode="auto">
          <a:xfrm>
            <a:off x="1657080" y="1548000"/>
            <a:ext cx="1510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0075986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56000" y="14324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2393540" name="TextBox 45"/>
          <p:cNvSpPr/>
          <p:nvPr/>
        </p:nvSpPr>
        <p:spPr bwMode="auto">
          <a:xfrm>
            <a:off x="3164040" y="18525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0837237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67080537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9546093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311132307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972092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33916452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957299455" name="TextBox 9"/>
          <p:cNvSpPr/>
          <p:nvPr/>
        </p:nvSpPr>
        <p:spPr bwMode="auto">
          <a:xfrm>
            <a:off x="2741400" y="2565360"/>
            <a:ext cx="749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210962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13047119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85965024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7633127" name="TextBox 17"/>
          <p:cNvSpPr/>
          <p:nvPr/>
        </p:nvSpPr>
        <p:spPr bwMode="auto">
          <a:xfrm>
            <a:off x="4723560" y="2567519"/>
            <a:ext cx="637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0259285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44068031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38089073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830478525" name="TextBox 4"/>
          <p:cNvSpPr/>
          <p:nvPr/>
        </p:nvSpPr>
        <p:spPr bwMode="auto">
          <a:xfrm>
            <a:off x="920160" y="2567519"/>
            <a:ext cx="6447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337985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16087239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27189117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562077696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6718756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047228636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93374478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55311534" name="TextBox 22"/>
          <p:cNvSpPr/>
          <p:nvPr/>
        </p:nvSpPr>
        <p:spPr bwMode="auto">
          <a:xfrm>
            <a:off x="6536520" y="2568240"/>
            <a:ext cx="760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873812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14303435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703639356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624783354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958859903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304148366" name="TextBox 30"/>
          <p:cNvSpPr/>
          <p:nvPr/>
        </p:nvSpPr>
        <p:spPr bwMode="auto">
          <a:xfrm>
            <a:off x="398844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49502397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985597648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858632507" name="TextBox 34"/>
          <p:cNvSpPr/>
          <p:nvPr/>
        </p:nvSpPr>
        <p:spPr bwMode="auto">
          <a:xfrm>
            <a:off x="844920" y="3540600"/>
            <a:ext cx="1438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5500695" name="TextBox 36"/>
          <p:cNvSpPr/>
          <p:nvPr/>
        </p:nvSpPr>
        <p:spPr bwMode="auto">
          <a:xfrm>
            <a:off x="2742480" y="3540600"/>
            <a:ext cx="1496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55180920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737949928" name="TextBox 37"/>
          <p:cNvSpPr/>
          <p:nvPr/>
        </p:nvSpPr>
        <p:spPr bwMode="auto">
          <a:xfrm>
            <a:off x="4626360" y="3543480"/>
            <a:ext cx="1617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762842" name="TextBox 38"/>
          <p:cNvSpPr/>
          <p:nvPr/>
        </p:nvSpPr>
        <p:spPr bwMode="auto">
          <a:xfrm>
            <a:off x="1396080" y="5027400"/>
            <a:ext cx="8141039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6"/>
                </a:solidFill>
                <a:latin typeface="Aptos"/>
                <a:ea typeface="Aptos"/>
              </a:rPr>
              <a:t>Validate (*prev = prev_next) after reserving N4 (Hp0)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826438" name="TextBox 39"/>
          <p:cNvSpPr/>
          <p:nvPr/>
        </p:nvSpPr>
        <p:spPr bwMode="auto">
          <a:xfrm>
            <a:off x="1453320" y="2576519"/>
            <a:ext cx="7556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000" b="1" u="none" strike="noStrike">
                <a:solidFill>
                  <a:schemeClr val="accent6"/>
                </a:solidFill>
                <a:latin typeface="Aptos"/>
                <a:ea typeface="Arial"/>
              </a:rPr>
              <a:t>prev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061494535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806286212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</a:ln>
        </p:spPr>
      </p:cxnSp>
      <p:cxnSp>
        <p:nvCxnSpPr>
          <p:cNvPr id="99080184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4EA72E"/>
            </a:solidFill>
            <a:prstDash val="dash"/>
            <a:tailEnd type="triangle" w="med" len="med"/>
          </a:ln>
        </p:spPr>
      </p:cxnSp>
      <p:sp>
        <p:nvSpPr>
          <p:cNvPr id="1483049564" name="TextBox 43"/>
          <p:cNvSpPr/>
          <p:nvPr/>
        </p:nvSpPr>
        <p:spPr bwMode="auto">
          <a:xfrm>
            <a:off x="1612800" y="1548000"/>
            <a:ext cx="1429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3166926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56000" y="14396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29717567" name="Straight Arrow Connector 5"/>
          <p:cNvCxnSpPr/>
          <p:nvPr/>
        </p:nvCxnSpPr>
        <p:spPr bwMode="auto">
          <a:xfrm flipV="1">
            <a:off x="6997320" y="30247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578807437" name="TextBox 46"/>
          <p:cNvSpPr/>
          <p:nvPr/>
        </p:nvSpPr>
        <p:spPr bwMode="auto">
          <a:xfrm>
            <a:off x="6505920" y="3541680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376748" name="TextBox 47"/>
          <p:cNvSpPr/>
          <p:nvPr/>
        </p:nvSpPr>
        <p:spPr bwMode="auto">
          <a:xfrm>
            <a:off x="3165840" y="18651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chemeClr val="accent6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330081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49979526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077285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7015500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338965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5156474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78393396" name="TextBox 9"/>
          <p:cNvSpPr/>
          <p:nvPr/>
        </p:nvSpPr>
        <p:spPr bwMode="auto">
          <a:xfrm>
            <a:off x="2741400" y="2565360"/>
            <a:ext cx="749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738655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525271909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33606343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45418414" name="TextBox 17"/>
          <p:cNvSpPr/>
          <p:nvPr/>
        </p:nvSpPr>
        <p:spPr bwMode="auto">
          <a:xfrm>
            <a:off x="4723560" y="2567519"/>
            <a:ext cx="68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134701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36929332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79390932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09411336" name="TextBox 4"/>
          <p:cNvSpPr/>
          <p:nvPr/>
        </p:nvSpPr>
        <p:spPr bwMode="auto">
          <a:xfrm>
            <a:off x="920160" y="2567519"/>
            <a:ext cx="736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0706723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635536993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84392071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338710136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864061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49817745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78715526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242182531" name="TextBox 22"/>
          <p:cNvSpPr/>
          <p:nvPr/>
        </p:nvSpPr>
        <p:spPr bwMode="auto">
          <a:xfrm>
            <a:off x="6536520" y="2568240"/>
            <a:ext cx="628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520567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67188195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9378122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653001518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121519626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32663178" name="TextBox 30"/>
          <p:cNvSpPr/>
          <p:nvPr/>
        </p:nvSpPr>
        <p:spPr bwMode="auto">
          <a:xfrm>
            <a:off x="411372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23110709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71610466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478648916" name="TextBox 34"/>
          <p:cNvSpPr/>
          <p:nvPr/>
        </p:nvSpPr>
        <p:spPr bwMode="auto">
          <a:xfrm>
            <a:off x="844920" y="3540600"/>
            <a:ext cx="1517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567905" name="TextBox 36"/>
          <p:cNvSpPr/>
          <p:nvPr/>
        </p:nvSpPr>
        <p:spPr bwMode="auto">
          <a:xfrm>
            <a:off x="2742480" y="3540600"/>
            <a:ext cx="14965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1081255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603774581" name="TextBox 37"/>
          <p:cNvSpPr/>
          <p:nvPr/>
        </p:nvSpPr>
        <p:spPr bwMode="auto">
          <a:xfrm>
            <a:off x="4626360" y="3543480"/>
            <a:ext cx="155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437907" name="TextBox 38"/>
          <p:cNvSpPr/>
          <p:nvPr/>
        </p:nvSpPr>
        <p:spPr bwMode="auto">
          <a:xfrm>
            <a:off x="846000" y="4773240"/>
            <a:ext cx="11043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What if  (*prev = prev_next) </a:t>
            </a: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validation fails 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due to a new node being inserted or the chain of logically deleted nodes being already eliminated by a concurrent thread?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We start from the last safe node (N1)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992321" name="TextBox 39"/>
          <p:cNvSpPr/>
          <p:nvPr/>
        </p:nvSpPr>
        <p:spPr bwMode="auto">
          <a:xfrm>
            <a:off x="1453320" y="2576519"/>
            <a:ext cx="645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1800" b="1" u="none" strike="noStrike">
                <a:solidFill>
                  <a:srgbClr val="FF0000"/>
                </a:solidFill>
                <a:latin typeface="Aptos"/>
                <a:ea typeface="Arial"/>
              </a:rPr>
              <a:t>prev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642547647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384448242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2105671854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1713430753" name="TextBox 43"/>
          <p:cNvSpPr/>
          <p:nvPr/>
        </p:nvSpPr>
        <p:spPr bwMode="auto">
          <a:xfrm>
            <a:off x="1556640" y="1548000"/>
            <a:ext cx="1610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2890533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80840" y="143316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25630980" name="Straight Arrow Connector 5"/>
          <p:cNvCxnSpPr/>
          <p:nvPr/>
        </p:nvCxnSpPr>
        <p:spPr bwMode="auto">
          <a:xfrm flipV="1">
            <a:off x="6997320" y="30247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366214196" name="TextBox 46"/>
          <p:cNvSpPr/>
          <p:nvPr/>
        </p:nvSpPr>
        <p:spPr bwMode="auto">
          <a:xfrm>
            <a:off x="6505920" y="3541680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898155" name="TextBox 47"/>
          <p:cNvSpPr/>
          <p:nvPr/>
        </p:nvSpPr>
        <p:spPr bwMode="auto">
          <a:xfrm>
            <a:off x="3165840" y="18651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1142806" name="Graphic 48" descr="Crying face with solid fill with solid fill"/>
          <p:cNvPicPr/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775160" y="1932480"/>
            <a:ext cx="5263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8451685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Recovery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402728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932851030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258764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99610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66521821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343523915" name="TextBox 9"/>
          <p:cNvSpPr/>
          <p:nvPr/>
        </p:nvSpPr>
        <p:spPr bwMode="auto">
          <a:xfrm>
            <a:off x="2741400" y="2565360"/>
            <a:ext cx="78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596724" name="Arrow: Right 10"/>
          <p:cNvSpPr/>
          <p:nvPr/>
        </p:nvSpPr>
        <p:spPr bwMode="auto">
          <a:xfrm>
            <a:off x="397836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775584631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991392021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711104322" name="TextBox 17"/>
          <p:cNvSpPr/>
          <p:nvPr/>
        </p:nvSpPr>
        <p:spPr bwMode="auto">
          <a:xfrm>
            <a:off x="4723560" y="2567519"/>
            <a:ext cx="680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194453" name="Arrow: Right 1"/>
          <p:cNvSpPr/>
          <p:nvPr/>
        </p:nvSpPr>
        <p:spPr bwMode="auto">
          <a:xfrm>
            <a:off x="2099880" y="265284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52410136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6020715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7953246" name="TextBox 4"/>
          <p:cNvSpPr/>
          <p:nvPr/>
        </p:nvSpPr>
        <p:spPr bwMode="auto">
          <a:xfrm>
            <a:off x="920160" y="2567519"/>
            <a:ext cx="68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880688" name="Arrow: Right 12"/>
          <p:cNvSpPr/>
          <p:nvPr/>
        </p:nvSpPr>
        <p:spPr bwMode="auto">
          <a:xfrm>
            <a:off x="5857920" y="267948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20851903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55866366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386521797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83564" name="Arrow: Right 14"/>
          <p:cNvSpPr/>
          <p:nvPr/>
        </p:nvSpPr>
        <p:spPr bwMode="auto">
          <a:xfrm>
            <a:off x="7642440" y="267300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50206692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21113858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65474648" name="TextBox 22"/>
          <p:cNvSpPr/>
          <p:nvPr/>
        </p:nvSpPr>
        <p:spPr bwMode="auto">
          <a:xfrm>
            <a:off x="6536520" y="2568240"/>
            <a:ext cx="785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4140222" name="Arrow: Right 29"/>
          <p:cNvSpPr/>
          <p:nvPr/>
        </p:nvSpPr>
        <p:spPr bwMode="auto">
          <a:xfrm>
            <a:off x="9560880" y="2659320"/>
            <a:ext cx="644400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0378212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406413220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914058185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603009957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57646229" name="TextBox 30"/>
          <p:cNvSpPr/>
          <p:nvPr/>
        </p:nvSpPr>
        <p:spPr bwMode="auto">
          <a:xfrm>
            <a:off x="4113720" y="139608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5352878" name="Straight Arrow Connector 32"/>
          <p:cNvCxnSpPr/>
          <p:nvPr/>
        </p:nvCxnSpPr>
        <p:spPr bwMode="auto">
          <a:xfrm flipV="1">
            <a:off x="1390680" y="3049200"/>
            <a:ext cx="5760" cy="5565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428560387" name="Straight Arrow Connector 33"/>
          <p:cNvCxnSpPr/>
          <p:nvPr/>
        </p:nvCxnSpPr>
        <p:spPr bwMode="auto">
          <a:xfrm flipV="1">
            <a:off x="3288960" y="29959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793546897" name="TextBox 34"/>
          <p:cNvSpPr/>
          <p:nvPr/>
        </p:nvSpPr>
        <p:spPr bwMode="auto">
          <a:xfrm>
            <a:off x="844920" y="3540600"/>
            <a:ext cx="1521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[Hp2]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1083401" name="TextBox 36"/>
          <p:cNvSpPr/>
          <p:nvPr/>
        </p:nvSpPr>
        <p:spPr bwMode="auto">
          <a:xfrm>
            <a:off x="2742480" y="3540600"/>
            <a:ext cx="155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[Hp3]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89331362" name="Straight Arrow Connector 35"/>
          <p:cNvCxnSpPr/>
          <p:nvPr/>
        </p:nvCxnSpPr>
        <p:spPr bwMode="auto">
          <a:xfrm flipV="1">
            <a:off x="5168520" y="306108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254864329" name="TextBox 37"/>
          <p:cNvSpPr/>
          <p:nvPr/>
        </p:nvSpPr>
        <p:spPr bwMode="auto">
          <a:xfrm>
            <a:off x="4626360" y="3543480"/>
            <a:ext cx="155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Reserved by [Hp1]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200918" name="TextBox 38"/>
          <p:cNvSpPr/>
          <p:nvPr/>
        </p:nvSpPr>
        <p:spPr bwMode="auto">
          <a:xfrm>
            <a:off x="846000" y="4773240"/>
            <a:ext cx="11099880" cy="19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What if  the last safe node (N1) is also logically deleted?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We start from the beginning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870811" name="TextBox 39"/>
          <p:cNvSpPr/>
          <p:nvPr/>
        </p:nvSpPr>
        <p:spPr bwMode="auto">
          <a:xfrm>
            <a:off x="1453320" y="2576519"/>
            <a:ext cx="6454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1800" b="1" u="none" strike="noStrike">
                <a:solidFill>
                  <a:srgbClr val="FF0000"/>
                </a:solidFill>
                <a:latin typeface="Aptos"/>
                <a:ea typeface="Arial"/>
              </a:rPr>
              <a:t>prev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17012624" name="Straight Arrow Connector 40"/>
          <p:cNvCxnSpPr/>
          <p:nvPr/>
        </p:nvCxnSpPr>
        <p:spPr bwMode="auto">
          <a:xfrm flipV="1">
            <a:off x="1738080" y="1934280"/>
            <a:ext cx="7560" cy="58068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1546182884" name="Straight Arrow Connector 41"/>
          <p:cNvCxnSpPr/>
          <p:nvPr/>
        </p:nvCxnSpPr>
        <p:spPr bwMode="auto">
          <a:xfrm>
            <a:off x="1745280" y="1924920"/>
            <a:ext cx="1422720" cy="7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56959550" name="Straight Arrow Connector 42"/>
          <p:cNvCxnSpPr/>
          <p:nvPr/>
        </p:nvCxnSpPr>
        <p:spPr bwMode="auto">
          <a:xfrm>
            <a:off x="3167640" y="1930680"/>
            <a:ext cx="360" cy="529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30502302" name="TextBox 43"/>
          <p:cNvSpPr/>
          <p:nvPr/>
        </p:nvSpPr>
        <p:spPr bwMode="auto">
          <a:xfrm>
            <a:off x="1814400" y="1548000"/>
            <a:ext cx="1353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9849629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206760" y="14324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29142977" name="Straight Arrow Connector 5"/>
          <p:cNvCxnSpPr/>
          <p:nvPr/>
        </p:nvCxnSpPr>
        <p:spPr bwMode="auto">
          <a:xfrm flipV="1">
            <a:off x="6997320" y="3024720"/>
            <a:ext cx="5760" cy="61668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965374737" name="TextBox 46"/>
          <p:cNvSpPr/>
          <p:nvPr/>
        </p:nvSpPr>
        <p:spPr bwMode="auto">
          <a:xfrm>
            <a:off x="6505920" y="3541680"/>
            <a:ext cx="2743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Reserved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400" b="0" i="1" u="none" strike="noStrike">
                <a:solidFill>
                  <a:schemeClr val="dk1"/>
                </a:solidFill>
                <a:latin typeface="Aptos"/>
                <a:ea typeface="Arial"/>
              </a:rPr>
              <a:t>by [Hp0]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24139" name="TextBox 47"/>
          <p:cNvSpPr/>
          <p:nvPr/>
        </p:nvSpPr>
        <p:spPr bwMode="auto">
          <a:xfrm>
            <a:off x="3165840" y="1865160"/>
            <a:ext cx="2743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4058197" name="Graphic 49" descr="Angry face with solid fill with solid fill"/>
          <p:cNvPicPr/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814400" y="1959840"/>
            <a:ext cx="55116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774887" name="Title 1"/>
          <p:cNvSpPr/>
          <p:nvPr/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Recovery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963325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1769761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496895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05353" name="Flowchart: Connector 40"/>
          <p:cNvSpPr/>
          <p:nvPr/>
        </p:nvSpPr>
        <p:spPr bwMode="auto">
          <a:xfrm>
            <a:off x="8072100" y="247247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97177083" name="Straight Arrow Connector 41"/>
          <p:cNvCxnSpPr/>
          <p:nvPr/>
        </p:nvCxnSpPr>
        <p:spPr bwMode="auto">
          <a:xfrm>
            <a:off x="8555940" y="2984398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890622573" name="Straight Arrow Connector 42"/>
          <p:cNvCxnSpPr/>
          <p:nvPr/>
        </p:nvCxnSpPr>
        <p:spPr bwMode="auto">
          <a:xfrm flipH="1">
            <a:off x="7868340" y="2986917"/>
            <a:ext cx="302760" cy="4539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429104030" name="Rectangle 43"/>
          <p:cNvSpPr/>
          <p:nvPr/>
        </p:nvSpPr>
        <p:spPr bwMode="auto">
          <a:xfrm>
            <a:off x="7556940" y="345203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7095680" name="TextBox 46"/>
          <p:cNvSpPr/>
          <p:nvPr/>
        </p:nvSpPr>
        <p:spPr bwMode="auto">
          <a:xfrm>
            <a:off x="8164260" y="2404798"/>
            <a:ext cx="39492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221907" name="TextBox 2"/>
          <p:cNvSpPr/>
          <p:nvPr/>
        </p:nvSpPr>
        <p:spPr bwMode="auto">
          <a:xfrm>
            <a:off x="775440" y="4826880"/>
            <a:ext cx="6872760" cy="12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600" b="0" u="none" strike="noStrike">
                <a:solidFill>
                  <a:schemeClr val="accent5"/>
                </a:solidFill>
                <a:latin typeface="Aptos"/>
                <a:ea typeface="Arial"/>
              </a:rPr>
              <a:t>Leaf nodes contain actual keys</a:t>
            </a:r>
            <a:br>
              <a:rPr sz="2600"/>
            </a:br>
            <a:br>
              <a:rPr sz="2600"/>
            </a:b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rial"/>
              </a:rPr>
              <a:t>Keys in Internal nodes are used for traversal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2633729" name="Flowchart: Connector 4"/>
          <p:cNvSpPr/>
          <p:nvPr/>
        </p:nvSpPr>
        <p:spPr bwMode="auto">
          <a:xfrm>
            <a:off x="8732340" y="340883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19206913" name="Straight Arrow Connector 5"/>
          <p:cNvCxnSpPr/>
          <p:nvPr/>
        </p:nvCxnSpPr>
        <p:spPr bwMode="auto">
          <a:xfrm>
            <a:off x="9216180" y="3920758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433001424" name="Straight Arrow Connector 6"/>
          <p:cNvCxnSpPr/>
          <p:nvPr/>
        </p:nvCxnSpPr>
        <p:spPr bwMode="auto">
          <a:xfrm flipH="1">
            <a:off x="8528580" y="3923278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675554874" name="TextBox 7"/>
          <p:cNvSpPr/>
          <p:nvPr/>
        </p:nvSpPr>
        <p:spPr bwMode="auto">
          <a:xfrm>
            <a:off x="8824500" y="334079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532356" name="Flowchart: Connector 8"/>
          <p:cNvSpPr/>
          <p:nvPr/>
        </p:nvSpPr>
        <p:spPr bwMode="auto">
          <a:xfrm>
            <a:off x="9363780" y="435203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624738076" name="Straight Arrow Connector 9"/>
          <p:cNvCxnSpPr/>
          <p:nvPr/>
        </p:nvCxnSpPr>
        <p:spPr bwMode="auto">
          <a:xfrm>
            <a:off x="9847620" y="4863958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668385113" name="Straight Arrow Connector 10"/>
          <p:cNvCxnSpPr/>
          <p:nvPr/>
        </p:nvCxnSpPr>
        <p:spPr bwMode="auto">
          <a:xfrm flipH="1">
            <a:off x="9160020" y="4866838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987824400" name="TextBox 11"/>
          <p:cNvSpPr/>
          <p:nvPr/>
        </p:nvSpPr>
        <p:spPr bwMode="auto">
          <a:xfrm>
            <a:off x="9455940" y="428435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7387156" name="Flowchart: Connector 12"/>
          <p:cNvSpPr/>
          <p:nvPr/>
        </p:nvSpPr>
        <p:spPr bwMode="auto">
          <a:xfrm>
            <a:off x="9995220" y="5295598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294958604" name="Straight Arrow Connector 13"/>
          <p:cNvCxnSpPr/>
          <p:nvPr/>
        </p:nvCxnSpPr>
        <p:spPr bwMode="auto">
          <a:xfrm>
            <a:off x="10479059" y="5807518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950126692" name="Straight Arrow Connector 14"/>
          <p:cNvCxnSpPr/>
          <p:nvPr/>
        </p:nvCxnSpPr>
        <p:spPr bwMode="auto">
          <a:xfrm flipH="1">
            <a:off x="9791460" y="5810038"/>
            <a:ext cx="302760" cy="4539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911300842" name="TextBox 15"/>
          <p:cNvSpPr/>
          <p:nvPr/>
        </p:nvSpPr>
        <p:spPr bwMode="auto">
          <a:xfrm>
            <a:off x="10087380" y="522755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21238" name="Rectangle 16"/>
          <p:cNvSpPr/>
          <p:nvPr/>
        </p:nvSpPr>
        <p:spPr bwMode="auto">
          <a:xfrm>
            <a:off x="8268300" y="438803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8749914" name="Rectangle 17"/>
          <p:cNvSpPr/>
          <p:nvPr/>
        </p:nvSpPr>
        <p:spPr bwMode="auto">
          <a:xfrm>
            <a:off x="8827020" y="533159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702298" name="Rectangle 18"/>
          <p:cNvSpPr/>
          <p:nvPr/>
        </p:nvSpPr>
        <p:spPr bwMode="auto">
          <a:xfrm>
            <a:off x="9530820" y="628235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116234" name="Rectangle 19"/>
          <p:cNvSpPr/>
          <p:nvPr/>
        </p:nvSpPr>
        <p:spPr bwMode="auto">
          <a:xfrm>
            <a:off x="10626660" y="6274798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290538" name="TextBox 20"/>
          <p:cNvSpPr/>
          <p:nvPr/>
        </p:nvSpPr>
        <p:spPr bwMode="auto">
          <a:xfrm flipH="0" flipV="0">
            <a:off x="8731620" y="2405878"/>
            <a:ext cx="14439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893423" name="TextBox 21"/>
          <p:cNvSpPr/>
          <p:nvPr/>
        </p:nvSpPr>
        <p:spPr bwMode="auto">
          <a:xfrm flipH="0" flipV="0">
            <a:off x="9363780" y="3404878"/>
            <a:ext cx="1647653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8915711" name="TextBox 22"/>
          <p:cNvSpPr/>
          <p:nvPr/>
        </p:nvSpPr>
        <p:spPr bwMode="auto">
          <a:xfrm flipH="0" flipV="0">
            <a:off x="10565099" y="5295598"/>
            <a:ext cx="1054889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8807627" name="TextBox 23"/>
          <p:cNvSpPr/>
          <p:nvPr/>
        </p:nvSpPr>
        <p:spPr bwMode="auto">
          <a:xfrm>
            <a:off x="8440740" y="6263998"/>
            <a:ext cx="719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273938" name="Flowchart: Connector 3"/>
          <p:cNvSpPr/>
          <p:nvPr/>
        </p:nvSpPr>
        <p:spPr bwMode="auto">
          <a:xfrm>
            <a:off x="8036460" y="138527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67147377" name="TextBox 26"/>
          <p:cNvSpPr/>
          <p:nvPr/>
        </p:nvSpPr>
        <p:spPr bwMode="auto">
          <a:xfrm>
            <a:off x="8128980" y="1317238"/>
            <a:ext cx="393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8207005" name="TextBox 29"/>
          <p:cNvSpPr/>
          <p:nvPr/>
        </p:nvSpPr>
        <p:spPr bwMode="auto">
          <a:xfrm>
            <a:off x="8696700" y="1408678"/>
            <a:ext cx="1067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14953" name="Title 1"/>
          <p:cNvSpPr/>
          <p:nvPr/>
        </p:nvSpPr>
        <p:spPr bwMode="auto">
          <a:xfrm flipH="0" flipV="0">
            <a:off x="844807" y="299699"/>
            <a:ext cx="8215312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80455281" name="Straight Arrow Connector 33"/>
          <p:cNvCxnSpPr/>
          <p:nvPr/>
        </p:nvCxnSpPr>
        <p:spPr bwMode="auto">
          <a:xfrm flipH="1">
            <a:off x="8361720" y="1992501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080670" name="TextBox 21"/>
          <p:cNvSpPr/>
          <p:nvPr/>
        </p:nvSpPr>
        <p:spPr bwMode="auto">
          <a:xfrm>
            <a:off x="9341454" y="3097440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133815" name="TextBox 22"/>
          <p:cNvSpPr/>
          <p:nvPr/>
        </p:nvSpPr>
        <p:spPr bwMode="auto">
          <a:xfrm>
            <a:off x="10851832" y="5015158"/>
            <a:ext cx="1220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3396526" name="TextBox 29"/>
          <p:cNvSpPr/>
          <p:nvPr/>
        </p:nvSpPr>
        <p:spPr bwMode="auto">
          <a:xfrm>
            <a:off x="826017" y="5379115"/>
            <a:ext cx="7074717" cy="8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Leaf nodes G, H, E are deleted (flagged, F=1)</a:t>
            </a:r>
            <a:br>
              <a:rPr sz="2400"/>
            </a:b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938040" name="Title 1"/>
          <p:cNvSpPr/>
          <p:nvPr/>
        </p:nvSpPr>
        <p:spPr bwMode="auto">
          <a:xfrm flipH="0" flipV="0">
            <a:off x="731545" y="271043"/>
            <a:ext cx="8171637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989491" name="Flowchart: Connector 40"/>
          <p:cNvSpPr/>
          <p:nvPr/>
        </p:nvSpPr>
        <p:spPr bwMode="auto">
          <a:xfrm>
            <a:off x="8501932" y="222308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426947073" name="Straight Arrow Connector 41"/>
          <p:cNvCxnSpPr/>
          <p:nvPr/>
        </p:nvCxnSpPr>
        <p:spPr bwMode="auto">
          <a:xfrm>
            <a:off x="8985772" y="2735002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2021830866" name="Straight Arrow Connector 42"/>
          <p:cNvCxnSpPr/>
          <p:nvPr/>
        </p:nvCxnSpPr>
        <p:spPr bwMode="auto">
          <a:xfrm flipH="1">
            <a:off x="8298172" y="2737522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21968072" name="Rectangle 43"/>
          <p:cNvSpPr/>
          <p:nvPr/>
        </p:nvSpPr>
        <p:spPr bwMode="auto">
          <a:xfrm>
            <a:off x="7986772" y="3202282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259496" name="TextBox 46"/>
          <p:cNvSpPr/>
          <p:nvPr/>
        </p:nvSpPr>
        <p:spPr bwMode="auto">
          <a:xfrm>
            <a:off x="8594092" y="2155042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314128" name="Flowchart: Connector 4"/>
          <p:cNvSpPr/>
          <p:nvPr/>
        </p:nvSpPr>
        <p:spPr bwMode="auto">
          <a:xfrm>
            <a:off x="9162172" y="3159081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47589109" name="Straight Arrow Connector 5"/>
          <p:cNvCxnSpPr/>
          <p:nvPr/>
        </p:nvCxnSpPr>
        <p:spPr bwMode="auto">
          <a:xfrm>
            <a:off x="9646012" y="3671002"/>
            <a:ext cx="351360" cy="44100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tailEnd type="triangle" w="med" len="med"/>
          </a:ln>
        </p:spPr>
      </p:cxnSp>
      <p:cxnSp>
        <p:nvCxnSpPr>
          <p:cNvPr id="1747987512" name="Straight Arrow Connector 6"/>
          <p:cNvCxnSpPr/>
          <p:nvPr/>
        </p:nvCxnSpPr>
        <p:spPr bwMode="auto">
          <a:xfrm flipH="1">
            <a:off x="8958772" y="3673522"/>
            <a:ext cx="302400" cy="45396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713236362" name="TextBox 7"/>
          <p:cNvSpPr/>
          <p:nvPr/>
        </p:nvSpPr>
        <p:spPr bwMode="auto">
          <a:xfrm>
            <a:off x="9254332" y="309140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598750" name="Flowchart: Connector 8"/>
          <p:cNvSpPr/>
          <p:nvPr/>
        </p:nvSpPr>
        <p:spPr bwMode="auto">
          <a:xfrm>
            <a:off x="9793611" y="410264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63231273" name="Straight Arrow Connector 9"/>
          <p:cNvCxnSpPr/>
          <p:nvPr/>
        </p:nvCxnSpPr>
        <p:spPr bwMode="auto">
          <a:xfrm>
            <a:off x="10277452" y="4614562"/>
            <a:ext cx="351360" cy="44100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tailEnd type="triangle" w="med" len="med"/>
          </a:ln>
        </p:spPr>
      </p:cxnSp>
      <p:cxnSp>
        <p:nvCxnSpPr>
          <p:cNvPr id="1911949636" name="Straight Arrow Connector 10"/>
          <p:cNvCxnSpPr/>
          <p:nvPr/>
        </p:nvCxnSpPr>
        <p:spPr bwMode="auto">
          <a:xfrm flipH="1">
            <a:off x="9589852" y="4617082"/>
            <a:ext cx="302760" cy="4536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226502069" name="TextBox 11"/>
          <p:cNvSpPr/>
          <p:nvPr/>
        </p:nvSpPr>
        <p:spPr bwMode="auto">
          <a:xfrm>
            <a:off x="9885771" y="4034601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683015" name="Flowchart: Connector 12"/>
          <p:cNvSpPr/>
          <p:nvPr/>
        </p:nvSpPr>
        <p:spPr bwMode="auto">
          <a:xfrm>
            <a:off x="10425052" y="504584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98822113" name="Straight Arrow Connector 13"/>
          <p:cNvCxnSpPr/>
          <p:nvPr/>
        </p:nvCxnSpPr>
        <p:spPr bwMode="auto">
          <a:xfrm>
            <a:off x="10908892" y="5557762"/>
            <a:ext cx="351360" cy="4410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cxnSp>
        <p:nvCxnSpPr>
          <p:cNvPr id="1092277777" name="Straight Arrow Connector 14"/>
          <p:cNvCxnSpPr/>
          <p:nvPr/>
        </p:nvCxnSpPr>
        <p:spPr bwMode="auto">
          <a:xfrm flipH="1">
            <a:off x="10221292" y="5560642"/>
            <a:ext cx="302760" cy="453600"/>
          </a:xfrm>
          <a:prstGeom prst="straightConnector1">
            <a:avLst/>
          </a:prstGeom>
          <a:ln w="12700">
            <a:solidFill>
              <a:srgbClr val="156082"/>
            </a:solidFill>
            <a:prstDash val="solid"/>
            <a:tailEnd type="triangle" w="med" len="med"/>
          </a:ln>
        </p:spPr>
      </p:cxnSp>
      <p:sp>
        <p:nvSpPr>
          <p:cNvPr id="65529304" name="TextBox 15"/>
          <p:cNvSpPr/>
          <p:nvPr/>
        </p:nvSpPr>
        <p:spPr bwMode="auto">
          <a:xfrm>
            <a:off x="10517212" y="497816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724930" name="Rectangle 16"/>
          <p:cNvSpPr/>
          <p:nvPr/>
        </p:nvSpPr>
        <p:spPr bwMode="auto">
          <a:xfrm>
            <a:off x="8698132" y="413864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1900832" name="Rectangle 17"/>
          <p:cNvSpPr/>
          <p:nvPr/>
        </p:nvSpPr>
        <p:spPr bwMode="auto">
          <a:xfrm>
            <a:off x="9256852" y="508184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35270" name="Rectangle 18"/>
          <p:cNvSpPr/>
          <p:nvPr/>
        </p:nvSpPr>
        <p:spPr bwMode="auto">
          <a:xfrm>
            <a:off x="9960652" y="6032601"/>
            <a:ext cx="465840" cy="36324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tx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1420157" name="Rectangle 19"/>
          <p:cNvSpPr/>
          <p:nvPr/>
        </p:nvSpPr>
        <p:spPr bwMode="auto">
          <a:xfrm>
            <a:off x="11056491" y="6025403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817861" name="TextBox 20"/>
          <p:cNvSpPr/>
          <p:nvPr/>
        </p:nvSpPr>
        <p:spPr bwMode="auto">
          <a:xfrm>
            <a:off x="9143452" y="2279962"/>
            <a:ext cx="27446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439008" name="TextBox 21"/>
          <p:cNvSpPr/>
          <p:nvPr/>
        </p:nvSpPr>
        <p:spPr bwMode="auto">
          <a:xfrm>
            <a:off x="9737452" y="3196882"/>
            <a:ext cx="237672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362091" name="TextBox 23"/>
          <p:cNvSpPr/>
          <p:nvPr/>
        </p:nvSpPr>
        <p:spPr bwMode="auto">
          <a:xfrm>
            <a:off x="8894512" y="6032601"/>
            <a:ext cx="7196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806027" name="TextBox 3"/>
          <p:cNvSpPr/>
          <p:nvPr/>
        </p:nvSpPr>
        <p:spPr bwMode="auto">
          <a:xfrm rot="18599997" flipH="0" flipV="0">
            <a:off x="8650098" y="3539740"/>
            <a:ext cx="7066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8056" name="TextBox 25"/>
          <p:cNvSpPr/>
          <p:nvPr/>
        </p:nvSpPr>
        <p:spPr bwMode="auto">
          <a:xfrm rot="18179971" flipH="0" flipV="0">
            <a:off x="9163961" y="4369700"/>
            <a:ext cx="9604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387366" name="TextBox 26"/>
          <p:cNvSpPr/>
          <p:nvPr/>
        </p:nvSpPr>
        <p:spPr bwMode="auto">
          <a:xfrm rot="3119994" flipH="0" flipV="0">
            <a:off x="10958178" y="5497990"/>
            <a:ext cx="7862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074672" name="Flowchart: Connector 24"/>
          <p:cNvSpPr/>
          <p:nvPr/>
        </p:nvSpPr>
        <p:spPr bwMode="auto">
          <a:xfrm flipH="0" flipV="0">
            <a:off x="8452612" y="1183042"/>
            <a:ext cx="628918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82296726" name="TextBox 28"/>
          <p:cNvSpPr/>
          <p:nvPr/>
        </p:nvSpPr>
        <p:spPr bwMode="auto">
          <a:xfrm flipH="0" flipV="0">
            <a:off x="8452611" y="1110681"/>
            <a:ext cx="573479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 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564305" name="TextBox 31"/>
          <p:cNvSpPr/>
          <p:nvPr/>
        </p:nvSpPr>
        <p:spPr bwMode="auto">
          <a:xfrm>
            <a:off x="9179812" y="1206442"/>
            <a:ext cx="10674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7120778" name="Straight Arrow Connector 33"/>
          <p:cNvCxnSpPr/>
          <p:nvPr/>
        </p:nvCxnSpPr>
        <p:spPr bwMode="auto">
          <a:xfrm flipH="1">
            <a:off x="8802532" y="1781361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603710649" name="TextBox 22"/>
          <p:cNvSpPr/>
          <p:nvPr/>
        </p:nvSpPr>
        <p:spPr bwMode="auto">
          <a:xfrm flipH="0" flipV="0">
            <a:off x="10994932" y="4921556"/>
            <a:ext cx="105524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6016959" name="TextBox 21"/>
          <p:cNvSpPr/>
          <p:nvPr/>
        </p:nvSpPr>
        <p:spPr bwMode="auto">
          <a:xfrm>
            <a:off x="9491691" y="3542484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0172168" name="TextBox 22"/>
          <p:cNvSpPr/>
          <p:nvPr/>
        </p:nvSpPr>
        <p:spPr bwMode="auto">
          <a:xfrm>
            <a:off x="11002068" y="5460202"/>
            <a:ext cx="122040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00410" name="TextBox 29"/>
          <p:cNvSpPr/>
          <p:nvPr/>
        </p:nvSpPr>
        <p:spPr bwMode="auto">
          <a:xfrm>
            <a:off x="642600" y="5042157"/>
            <a:ext cx="7077238" cy="11890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ptos"/>
              </a:rPr>
              <a:t>When leaf nodes G, H, E are deleted (flagged, F=1)</a:t>
            </a:r>
            <a:br>
              <a:rPr sz="2400"/>
            </a:br>
            <a:br>
              <a:rPr sz="2400"/>
            </a:b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ptos"/>
              </a:rPr>
              <a:t>Siblings (B-C, C-D, D-K) are tagged (T=1)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14734" name="Title 1"/>
          <p:cNvSpPr/>
          <p:nvPr/>
        </p:nvSpPr>
        <p:spPr bwMode="auto">
          <a:xfrm flipH="0" flipV="0">
            <a:off x="642600" y="287998"/>
            <a:ext cx="7845682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868453" name="Flowchart: Connector 40"/>
          <p:cNvSpPr/>
          <p:nvPr/>
        </p:nvSpPr>
        <p:spPr bwMode="auto">
          <a:xfrm>
            <a:off x="8432748" y="238616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72488487" name="Straight Arrow Connector 41"/>
          <p:cNvCxnSpPr/>
          <p:nvPr/>
        </p:nvCxnSpPr>
        <p:spPr bwMode="auto">
          <a:xfrm>
            <a:off x="8916588" y="2898082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420211383" name="Straight Arrow Connector 42"/>
          <p:cNvCxnSpPr/>
          <p:nvPr/>
        </p:nvCxnSpPr>
        <p:spPr bwMode="auto">
          <a:xfrm flipH="1">
            <a:off x="8228988" y="2900601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839025907" name="Rectangle 43"/>
          <p:cNvSpPr/>
          <p:nvPr/>
        </p:nvSpPr>
        <p:spPr bwMode="auto">
          <a:xfrm>
            <a:off x="7917588" y="3365362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3610642" name="TextBox 46"/>
          <p:cNvSpPr/>
          <p:nvPr/>
        </p:nvSpPr>
        <p:spPr bwMode="auto">
          <a:xfrm>
            <a:off x="8524908" y="2318122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5404898" name="Flowchart: Connector 4"/>
          <p:cNvSpPr/>
          <p:nvPr/>
        </p:nvSpPr>
        <p:spPr bwMode="auto">
          <a:xfrm>
            <a:off x="9092988" y="3322161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80159688" name="Straight Arrow Connector 5"/>
          <p:cNvCxnSpPr/>
          <p:nvPr/>
        </p:nvCxnSpPr>
        <p:spPr bwMode="auto">
          <a:xfrm>
            <a:off x="9576828" y="3834082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504428467" name="Straight Arrow Connector 6"/>
          <p:cNvCxnSpPr/>
          <p:nvPr/>
        </p:nvCxnSpPr>
        <p:spPr bwMode="auto">
          <a:xfrm flipH="1">
            <a:off x="8889588" y="3836601"/>
            <a:ext cx="302400" cy="45396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922856705" name="TextBox 7"/>
          <p:cNvSpPr/>
          <p:nvPr/>
        </p:nvSpPr>
        <p:spPr bwMode="auto">
          <a:xfrm>
            <a:off x="9185148" y="325448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892413" name="Flowchart: Connector 8"/>
          <p:cNvSpPr/>
          <p:nvPr/>
        </p:nvSpPr>
        <p:spPr bwMode="auto">
          <a:xfrm>
            <a:off x="9724427" y="426572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2139929088" name="Straight Arrow Connector 9"/>
          <p:cNvCxnSpPr/>
          <p:nvPr/>
        </p:nvCxnSpPr>
        <p:spPr bwMode="auto">
          <a:xfrm>
            <a:off x="10208268" y="4777642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141290264" name="Straight Arrow Connector 10"/>
          <p:cNvCxnSpPr/>
          <p:nvPr/>
        </p:nvCxnSpPr>
        <p:spPr bwMode="auto">
          <a:xfrm flipH="1">
            <a:off x="9520668" y="4780162"/>
            <a:ext cx="302760" cy="4536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840190173" name="TextBox 11"/>
          <p:cNvSpPr/>
          <p:nvPr/>
        </p:nvSpPr>
        <p:spPr bwMode="auto">
          <a:xfrm>
            <a:off x="9816588" y="419768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1337758" name="Flowchart: Connector 12"/>
          <p:cNvSpPr/>
          <p:nvPr/>
        </p:nvSpPr>
        <p:spPr bwMode="auto">
          <a:xfrm>
            <a:off x="10355868" y="520892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088493145" name="Straight Arrow Connector 13"/>
          <p:cNvCxnSpPr/>
          <p:nvPr/>
        </p:nvCxnSpPr>
        <p:spPr bwMode="auto">
          <a:xfrm>
            <a:off x="10839708" y="5720842"/>
            <a:ext cx="351360" cy="4410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cxnSp>
        <p:nvCxnSpPr>
          <p:cNvPr id="2052515372" name="Straight Arrow Connector 14"/>
          <p:cNvCxnSpPr/>
          <p:nvPr/>
        </p:nvCxnSpPr>
        <p:spPr bwMode="auto">
          <a:xfrm flipH="1">
            <a:off x="10152108" y="5723722"/>
            <a:ext cx="302760" cy="4536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sp>
        <p:nvSpPr>
          <p:cNvPr id="1325819793" name="TextBox 15"/>
          <p:cNvSpPr/>
          <p:nvPr/>
        </p:nvSpPr>
        <p:spPr bwMode="auto">
          <a:xfrm>
            <a:off x="10448028" y="514124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8738229" name="Rectangle 16"/>
          <p:cNvSpPr/>
          <p:nvPr/>
        </p:nvSpPr>
        <p:spPr bwMode="auto">
          <a:xfrm>
            <a:off x="8628948" y="430172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8627808" name="Rectangle 17"/>
          <p:cNvSpPr/>
          <p:nvPr/>
        </p:nvSpPr>
        <p:spPr bwMode="auto">
          <a:xfrm>
            <a:off x="9187668" y="5244922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127696" name="Rectangle 18"/>
          <p:cNvSpPr/>
          <p:nvPr/>
        </p:nvSpPr>
        <p:spPr bwMode="auto">
          <a:xfrm>
            <a:off x="9891468" y="6195681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tx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525940" name="Rectangle 19"/>
          <p:cNvSpPr/>
          <p:nvPr/>
        </p:nvSpPr>
        <p:spPr bwMode="auto">
          <a:xfrm>
            <a:off x="10987308" y="6188484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54432" name="TextBox 20"/>
          <p:cNvSpPr/>
          <p:nvPr/>
        </p:nvSpPr>
        <p:spPr bwMode="auto">
          <a:xfrm>
            <a:off x="9074268" y="2443042"/>
            <a:ext cx="27446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5930930" name="TextBox 21"/>
          <p:cNvSpPr/>
          <p:nvPr/>
        </p:nvSpPr>
        <p:spPr bwMode="auto">
          <a:xfrm>
            <a:off x="9653508" y="3285089"/>
            <a:ext cx="237672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633244" name="TextBox 23"/>
          <p:cNvSpPr/>
          <p:nvPr/>
        </p:nvSpPr>
        <p:spPr bwMode="auto">
          <a:xfrm>
            <a:off x="8855378" y="6177322"/>
            <a:ext cx="719639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333988" name="TextBox 3"/>
          <p:cNvSpPr/>
          <p:nvPr/>
        </p:nvSpPr>
        <p:spPr bwMode="auto">
          <a:xfrm rot="18599963" flipH="0" flipV="0">
            <a:off x="8580914" y="3702819"/>
            <a:ext cx="70668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278667" name="TextBox 25"/>
          <p:cNvSpPr/>
          <p:nvPr/>
        </p:nvSpPr>
        <p:spPr bwMode="auto">
          <a:xfrm rot="18179939" flipH="0" flipV="0">
            <a:off x="9094777" y="4532781"/>
            <a:ext cx="96048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3760207" name="TextBox 26"/>
          <p:cNvSpPr/>
          <p:nvPr/>
        </p:nvSpPr>
        <p:spPr bwMode="auto">
          <a:xfrm rot="3119955" flipH="0" flipV="0">
            <a:off x="10888995" y="5661069"/>
            <a:ext cx="78624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490282" name="Flowchart: Connector 24"/>
          <p:cNvSpPr/>
          <p:nvPr/>
        </p:nvSpPr>
        <p:spPr bwMode="auto">
          <a:xfrm>
            <a:off x="8442468" y="1346122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424280183" name="TextBox 28"/>
          <p:cNvSpPr/>
          <p:nvPr/>
        </p:nvSpPr>
        <p:spPr bwMode="auto">
          <a:xfrm>
            <a:off x="8534988" y="1278082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719754" name="TextBox 31"/>
          <p:cNvSpPr/>
          <p:nvPr/>
        </p:nvSpPr>
        <p:spPr bwMode="auto">
          <a:xfrm>
            <a:off x="9121595" y="1401383"/>
            <a:ext cx="1067400" cy="45755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80612408" name="Straight Arrow Connector 33"/>
          <p:cNvCxnSpPr/>
          <p:nvPr/>
        </p:nvCxnSpPr>
        <p:spPr bwMode="auto">
          <a:xfrm flipH="1">
            <a:off x="8733348" y="1944442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1778267298" name=""/>
          <p:cNvSpPr txBox="1"/>
          <p:nvPr/>
        </p:nvSpPr>
        <p:spPr bwMode="auto">
          <a:xfrm rot="2755766" flipH="0" flipV="0">
            <a:off x="9623115" y="3737275"/>
            <a:ext cx="683040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973996740" name=""/>
          <p:cNvSpPr txBox="1"/>
          <p:nvPr/>
        </p:nvSpPr>
        <p:spPr bwMode="auto">
          <a:xfrm rot="3276206" flipH="0" flipV="0">
            <a:off x="10229358" y="4664923"/>
            <a:ext cx="68339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181872128" name=""/>
          <p:cNvSpPr txBox="1"/>
          <p:nvPr/>
        </p:nvSpPr>
        <p:spPr bwMode="auto">
          <a:xfrm rot="18321882" flipH="0" flipV="0">
            <a:off x="9776170" y="5641921"/>
            <a:ext cx="68411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273954834" name="TextBox 22"/>
          <p:cNvSpPr/>
          <p:nvPr/>
        </p:nvSpPr>
        <p:spPr bwMode="auto">
          <a:xfrm flipH="0" flipV="0">
            <a:off x="10925748" y="5141242"/>
            <a:ext cx="105524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5955" name="TextBox 22"/>
          <p:cNvSpPr/>
          <p:nvPr/>
        </p:nvSpPr>
        <p:spPr bwMode="auto">
          <a:xfrm>
            <a:off x="11120040" y="4644720"/>
            <a:ext cx="1167479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6786132" name="TextBox 29"/>
          <p:cNvSpPr/>
          <p:nvPr/>
        </p:nvSpPr>
        <p:spPr bwMode="auto">
          <a:xfrm>
            <a:off x="478800" y="4730400"/>
            <a:ext cx="7663679" cy="24387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200" b="0" u="none" strike="noStrike">
                <a:solidFill>
                  <a:schemeClr val="accent1"/>
                </a:solidFill>
                <a:latin typeface="Aptos"/>
                <a:ea typeface="Aptos"/>
              </a:rPr>
              <a:t>An important observation: a chain of consecutively tagged edges can be eliminated with one CAS operation by updating ancestor’s link from successor to the remaining leaf node</a:t>
            </a:r>
            <a:br>
              <a:rPr sz="2200"/>
            </a:b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n-US" sz="2200" b="0" i="1" u="none" strike="noStrike">
                <a:solidFill>
                  <a:schemeClr val="accent1"/>
                </a:solidFill>
                <a:latin typeface="Aptos"/>
                <a:ea typeface="Aptos"/>
              </a:rPr>
              <a:t>successor node is the last untagged node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br>
              <a:rPr sz="2200"/>
            </a:b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75204406" name="Straight Arrow Connector 2"/>
          <p:cNvCxnSpPr/>
          <p:nvPr/>
        </p:nvCxnSpPr>
        <p:spPr bwMode="auto">
          <a:xfrm flipH="1">
            <a:off x="3027960" y="3228480"/>
            <a:ext cx="4761360" cy="216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20847559" name="Flowchart: Connector 89"/>
          <p:cNvSpPr/>
          <p:nvPr/>
        </p:nvSpPr>
        <p:spPr bwMode="auto">
          <a:xfrm>
            <a:off x="1239480" y="2451240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365449855" name="Straight Arrow Connector 90"/>
          <p:cNvCxnSpPr/>
          <p:nvPr/>
        </p:nvCxnSpPr>
        <p:spPr bwMode="auto">
          <a:xfrm>
            <a:off x="1723320" y="2963160"/>
            <a:ext cx="351360" cy="4410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472616838" name="Straight Arrow Connector 91"/>
          <p:cNvCxnSpPr/>
          <p:nvPr/>
        </p:nvCxnSpPr>
        <p:spPr bwMode="auto">
          <a:xfrm flipH="1">
            <a:off x="1035720" y="2966040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1396324565" name="Rectangle 92"/>
          <p:cNvSpPr/>
          <p:nvPr/>
        </p:nvSpPr>
        <p:spPr bwMode="auto">
          <a:xfrm>
            <a:off x="724320" y="3430800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4479733" name="TextBox 93"/>
          <p:cNvSpPr/>
          <p:nvPr/>
        </p:nvSpPr>
        <p:spPr bwMode="auto">
          <a:xfrm>
            <a:off x="1331640" y="2383559"/>
            <a:ext cx="39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6998361" name="TextBox 110"/>
          <p:cNvSpPr/>
          <p:nvPr/>
        </p:nvSpPr>
        <p:spPr bwMode="auto">
          <a:xfrm>
            <a:off x="1881000" y="2508480"/>
            <a:ext cx="27442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7898" name="Rectangle 118"/>
          <p:cNvSpPr/>
          <p:nvPr/>
        </p:nvSpPr>
        <p:spPr bwMode="auto">
          <a:xfrm>
            <a:off x="1900080" y="3408840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10023" name="TextBox 119"/>
          <p:cNvSpPr/>
          <p:nvPr/>
        </p:nvSpPr>
        <p:spPr bwMode="auto">
          <a:xfrm>
            <a:off x="2665440" y="3384000"/>
            <a:ext cx="719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2848469" name="TextBox 24"/>
          <p:cNvSpPr/>
          <p:nvPr/>
        </p:nvSpPr>
        <p:spPr bwMode="auto">
          <a:xfrm>
            <a:off x="3321720" y="1974960"/>
            <a:ext cx="4699080" cy="10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200" b="0" u="none" strike="noStrike">
                <a:solidFill>
                  <a:schemeClr val="accent5"/>
                </a:solidFill>
                <a:latin typeface="Aptos"/>
                <a:ea typeface="Arial"/>
              </a:rPr>
              <a:t>Ancestor’s right link is changed from successor (B) to the remaining leaf node (K)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672778" name="Title 1"/>
          <p:cNvSpPr/>
          <p:nvPr/>
        </p:nvSpPr>
        <p:spPr bwMode="auto">
          <a:xfrm flipH="0" flipV="0">
            <a:off x="724320" y="232737"/>
            <a:ext cx="7519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689325" name="Flowchart: Connector 28"/>
          <p:cNvSpPr/>
          <p:nvPr/>
        </p:nvSpPr>
        <p:spPr bwMode="auto">
          <a:xfrm>
            <a:off x="1236960" y="1413720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30044601" name="TextBox 31"/>
          <p:cNvSpPr/>
          <p:nvPr/>
        </p:nvSpPr>
        <p:spPr bwMode="auto">
          <a:xfrm>
            <a:off x="1329120" y="1345680"/>
            <a:ext cx="3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6846408" name="Straight Arrow Connector 35"/>
          <p:cNvCxnSpPr/>
          <p:nvPr/>
        </p:nvCxnSpPr>
        <p:spPr bwMode="auto">
          <a:xfrm flipH="1">
            <a:off x="1527840" y="2012040"/>
            <a:ext cx="504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973087730" name="TextBox 33"/>
          <p:cNvSpPr/>
          <p:nvPr/>
        </p:nvSpPr>
        <p:spPr bwMode="auto">
          <a:xfrm>
            <a:off x="1899000" y="1461780"/>
            <a:ext cx="106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442808" name="Flowchart: Connector 40"/>
          <p:cNvSpPr/>
          <p:nvPr/>
        </p:nvSpPr>
        <p:spPr bwMode="auto">
          <a:xfrm>
            <a:off x="8639560" y="193535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789499640" name="Straight Arrow Connector 41"/>
          <p:cNvCxnSpPr/>
          <p:nvPr/>
        </p:nvCxnSpPr>
        <p:spPr bwMode="auto">
          <a:xfrm>
            <a:off x="9123400" y="2447277"/>
            <a:ext cx="351360" cy="44064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cxnSp>
        <p:nvCxnSpPr>
          <p:cNvPr id="1577682099" name="Straight Arrow Connector 42"/>
          <p:cNvCxnSpPr/>
          <p:nvPr/>
        </p:nvCxnSpPr>
        <p:spPr bwMode="auto">
          <a:xfrm flipH="1">
            <a:off x="8435800" y="2449797"/>
            <a:ext cx="302760" cy="453600"/>
          </a:xfrm>
          <a:prstGeom prst="straightConnector1">
            <a:avLst/>
          </a:prstGeom>
          <a:ln>
            <a:solidFill>
              <a:srgbClr val="156082"/>
            </a:solidFill>
            <a:tailEnd type="triangle" w="med" len="med"/>
          </a:ln>
        </p:spPr>
      </p:cxnSp>
      <p:sp>
        <p:nvSpPr>
          <p:cNvPr id="2141520939" name="Rectangle 43"/>
          <p:cNvSpPr/>
          <p:nvPr/>
        </p:nvSpPr>
        <p:spPr bwMode="auto">
          <a:xfrm>
            <a:off x="8124400" y="2914557"/>
            <a:ext cx="465840" cy="36324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accent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002016" name="TextBox 46"/>
          <p:cNvSpPr/>
          <p:nvPr/>
        </p:nvSpPr>
        <p:spPr bwMode="auto">
          <a:xfrm>
            <a:off x="8731720" y="1867317"/>
            <a:ext cx="394918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C00000"/>
                </a:solidFill>
                <a:latin typeface="Aptos"/>
                <a:ea typeface="Arial"/>
              </a:rPr>
              <a:t>A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9607923" name="Flowchart: Connector 4"/>
          <p:cNvSpPr/>
          <p:nvPr/>
        </p:nvSpPr>
        <p:spPr bwMode="auto">
          <a:xfrm>
            <a:off x="9299800" y="2871356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650234013" name="Straight Arrow Connector 5"/>
          <p:cNvCxnSpPr/>
          <p:nvPr/>
        </p:nvCxnSpPr>
        <p:spPr bwMode="auto">
          <a:xfrm>
            <a:off x="9783640" y="3383277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470887581" name="Straight Arrow Connector 6"/>
          <p:cNvCxnSpPr/>
          <p:nvPr/>
        </p:nvCxnSpPr>
        <p:spPr bwMode="auto">
          <a:xfrm flipH="1">
            <a:off x="9096400" y="3385797"/>
            <a:ext cx="302400" cy="45396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363395283" name="TextBox 7"/>
          <p:cNvSpPr/>
          <p:nvPr/>
        </p:nvSpPr>
        <p:spPr bwMode="auto">
          <a:xfrm>
            <a:off x="9391960" y="280367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6"/>
                </a:solidFill>
                <a:latin typeface="Aptos"/>
                <a:ea typeface="Arial"/>
              </a:rPr>
              <a:t>B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421557" name="Flowchart: Connector 8"/>
          <p:cNvSpPr/>
          <p:nvPr/>
        </p:nvSpPr>
        <p:spPr bwMode="auto">
          <a:xfrm>
            <a:off x="9931239" y="381491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41696790" name="Straight Arrow Connector 9"/>
          <p:cNvCxnSpPr/>
          <p:nvPr/>
        </p:nvCxnSpPr>
        <p:spPr bwMode="auto">
          <a:xfrm>
            <a:off x="10415080" y="4326837"/>
            <a:ext cx="351360" cy="4410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cxnSp>
        <p:nvCxnSpPr>
          <p:cNvPr id="1277248106" name="Straight Arrow Connector 10"/>
          <p:cNvCxnSpPr/>
          <p:nvPr/>
        </p:nvCxnSpPr>
        <p:spPr bwMode="auto">
          <a:xfrm flipH="1">
            <a:off x="9727480" y="4329357"/>
            <a:ext cx="302760" cy="4536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sp>
        <p:nvSpPr>
          <p:cNvPr id="812127742" name="TextBox 11"/>
          <p:cNvSpPr/>
          <p:nvPr/>
        </p:nvSpPr>
        <p:spPr bwMode="auto">
          <a:xfrm>
            <a:off x="10023400" y="374687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dk1"/>
                </a:solidFill>
                <a:latin typeface="Aptos"/>
                <a:ea typeface="Arial"/>
              </a:rPr>
              <a:t>C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3680444" name="Flowchart: Connector 12"/>
          <p:cNvSpPr/>
          <p:nvPr/>
        </p:nvSpPr>
        <p:spPr bwMode="auto">
          <a:xfrm>
            <a:off x="10562680" y="4758117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92315534" name="Straight Arrow Connector 13"/>
          <p:cNvCxnSpPr/>
          <p:nvPr/>
        </p:nvCxnSpPr>
        <p:spPr bwMode="auto">
          <a:xfrm>
            <a:off x="11046520" y="5270037"/>
            <a:ext cx="351360" cy="441000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tailEnd type="triangle" w="med" len="med"/>
          </a:ln>
        </p:spPr>
      </p:cxnSp>
      <p:cxnSp>
        <p:nvCxnSpPr>
          <p:cNvPr id="1036406946" name="Straight Arrow Connector 14"/>
          <p:cNvCxnSpPr/>
          <p:nvPr/>
        </p:nvCxnSpPr>
        <p:spPr bwMode="auto">
          <a:xfrm flipH="1">
            <a:off x="10358920" y="5272917"/>
            <a:ext cx="302760" cy="453600"/>
          </a:xfrm>
          <a:prstGeom prst="straightConnector1">
            <a:avLst/>
          </a:prstGeom>
          <a:ln w="12700">
            <a:solidFill>
              <a:srgbClr val="A02B93"/>
            </a:solidFill>
            <a:prstDash val="sysDot"/>
            <a:tailEnd type="triangle" w="med" len="med"/>
          </a:ln>
        </p:spPr>
      </p:cxnSp>
      <p:sp>
        <p:nvSpPr>
          <p:cNvPr id="391140440" name="TextBox 15"/>
          <p:cNvSpPr/>
          <p:nvPr/>
        </p:nvSpPr>
        <p:spPr bwMode="auto">
          <a:xfrm>
            <a:off x="10654840" y="469043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rgbClr val="FFC000"/>
                </a:solidFill>
                <a:latin typeface="Aptos"/>
                <a:ea typeface="Arial"/>
              </a:rPr>
              <a:t>D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2995139" name="Rectangle 16"/>
          <p:cNvSpPr/>
          <p:nvPr/>
        </p:nvSpPr>
        <p:spPr bwMode="auto">
          <a:xfrm>
            <a:off x="8835760" y="3850917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G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078075" name="Rectangle 17"/>
          <p:cNvSpPr/>
          <p:nvPr/>
        </p:nvSpPr>
        <p:spPr bwMode="auto">
          <a:xfrm>
            <a:off x="9394480" y="4794117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H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132643" name="Rectangle 18"/>
          <p:cNvSpPr/>
          <p:nvPr/>
        </p:nvSpPr>
        <p:spPr bwMode="auto">
          <a:xfrm>
            <a:off x="10098280" y="5744876"/>
            <a:ext cx="465840" cy="363240"/>
          </a:xfrm>
          <a:prstGeom prst="rect">
            <a:avLst/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tx1"/>
                </a:solidFill>
                <a:latin typeface="Aptos"/>
                <a:ea typeface="Arial"/>
              </a:rPr>
              <a:t>K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987627" name="Rectangle 19"/>
          <p:cNvSpPr/>
          <p:nvPr/>
        </p:nvSpPr>
        <p:spPr bwMode="auto">
          <a:xfrm>
            <a:off x="11194120" y="5737680"/>
            <a:ext cx="465840" cy="363240"/>
          </a:xfrm>
          <a:prstGeom prst="rect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lt1"/>
                </a:solidFill>
                <a:latin typeface="Aptos"/>
                <a:ea typeface="Arial"/>
              </a:rPr>
              <a:t>E</a:t>
            </a:r>
            <a:endParaRPr lang="en-US" sz="2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009006" name="TextBox 20"/>
          <p:cNvSpPr/>
          <p:nvPr/>
        </p:nvSpPr>
        <p:spPr bwMode="auto">
          <a:xfrm>
            <a:off x="9281080" y="1992237"/>
            <a:ext cx="27450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C00000"/>
                </a:solidFill>
                <a:latin typeface="Aptos"/>
                <a:ea typeface="Arial"/>
              </a:rPr>
              <a:t>ancestor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10064" name="TextBox 21"/>
          <p:cNvSpPr/>
          <p:nvPr/>
        </p:nvSpPr>
        <p:spPr bwMode="auto">
          <a:xfrm flipH="0" flipV="0">
            <a:off x="9878860" y="2834283"/>
            <a:ext cx="2051929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6"/>
                </a:solidFill>
                <a:latin typeface="Aptos"/>
                <a:ea typeface="Arial"/>
              </a:rPr>
              <a:t>successor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1233332" name="TextBox 23"/>
          <p:cNvSpPr/>
          <p:nvPr/>
        </p:nvSpPr>
        <p:spPr bwMode="auto">
          <a:xfrm>
            <a:off x="9444520" y="5729757"/>
            <a:ext cx="71999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5"/>
                </a:solidFill>
                <a:latin typeface="Aptos"/>
                <a:ea typeface="Arial"/>
              </a:rPr>
              <a:t>leaf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289999" name="TextBox 3"/>
          <p:cNvSpPr/>
          <p:nvPr/>
        </p:nvSpPr>
        <p:spPr bwMode="auto">
          <a:xfrm rot="18599928" flipH="0" flipV="0">
            <a:off x="8787726" y="3252195"/>
            <a:ext cx="7070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604969" name="TextBox 25"/>
          <p:cNvSpPr/>
          <p:nvPr/>
        </p:nvSpPr>
        <p:spPr bwMode="auto">
          <a:xfrm rot="18179905" flipH="0" flipV="0">
            <a:off x="9301590" y="4082155"/>
            <a:ext cx="96084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90388" name="TextBox 26"/>
          <p:cNvSpPr/>
          <p:nvPr/>
        </p:nvSpPr>
        <p:spPr bwMode="auto">
          <a:xfrm rot="3119927" flipH="0" flipV="0">
            <a:off x="11095808" y="5210443"/>
            <a:ext cx="7866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F=1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764085" name="Flowchart: Connector 24"/>
          <p:cNvSpPr/>
          <p:nvPr/>
        </p:nvSpPr>
        <p:spPr bwMode="auto">
          <a:xfrm>
            <a:off x="8649280" y="895316"/>
            <a:ext cx="569880" cy="5680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465040057" name="TextBox 28"/>
          <p:cNvSpPr/>
          <p:nvPr/>
        </p:nvSpPr>
        <p:spPr bwMode="auto">
          <a:xfrm>
            <a:off x="8741800" y="827277"/>
            <a:ext cx="39456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36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</a:t>
            </a:r>
            <a:endParaRPr lang="en-US" sz="3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206066" name="TextBox 31"/>
          <p:cNvSpPr/>
          <p:nvPr/>
        </p:nvSpPr>
        <p:spPr bwMode="auto">
          <a:xfrm>
            <a:off x="9301600" y="918717"/>
            <a:ext cx="10677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ptos"/>
                <a:ea typeface="Arial"/>
              </a:rPr>
              <a:t>root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92564977" name="Straight Arrow Connector 33"/>
          <p:cNvCxnSpPr/>
          <p:nvPr/>
        </p:nvCxnSpPr>
        <p:spPr bwMode="auto">
          <a:xfrm flipH="1">
            <a:off x="8940160" y="1493637"/>
            <a:ext cx="5400" cy="422280"/>
          </a:xfrm>
          <a:prstGeom prst="straightConnector1">
            <a:avLst/>
          </a:prstGeom>
          <a:ln>
            <a:solidFill>
              <a:srgbClr val="000000"/>
            </a:solidFill>
            <a:prstDash val="sysDot"/>
          </a:ln>
        </p:spPr>
      </p:cxnSp>
      <p:sp>
        <p:nvSpPr>
          <p:cNvPr id="872975961" name=""/>
          <p:cNvSpPr txBox="1"/>
          <p:nvPr/>
        </p:nvSpPr>
        <p:spPr bwMode="auto">
          <a:xfrm rot="2755766" flipH="0" flipV="0">
            <a:off x="9829926" y="3286649"/>
            <a:ext cx="68339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1620532477" name=""/>
          <p:cNvSpPr txBox="1"/>
          <p:nvPr/>
        </p:nvSpPr>
        <p:spPr bwMode="auto">
          <a:xfrm rot="3276206" flipH="0" flipV="0">
            <a:off x="10436171" y="4214299"/>
            <a:ext cx="68375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875389503" name=""/>
          <p:cNvSpPr txBox="1"/>
          <p:nvPr/>
        </p:nvSpPr>
        <p:spPr bwMode="auto">
          <a:xfrm rot="18321882" flipH="0" flipV="0">
            <a:off x="9982981" y="5191296"/>
            <a:ext cx="68447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chemeClr val="accent5"/>
                </a:solidFill>
                <a:latin typeface="Aptos"/>
                <a:ea typeface="Aptos"/>
                <a:cs typeface="Aptos"/>
              </a:rPr>
              <a:t>T=1</a:t>
            </a:r>
            <a:endParaRPr sz="2400"/>
          </a:p>
        </p:txBody>
      </p:sp>
      <p:sp>
        <p:nvSpPr>
          <p:cNvPr id="789256607" name="TextBox 22"/>
          <p:cNvSpPr/>
          <p:nvPr/>
        </p:nvSpPr>
        <p:spPr bwMode="auto">
          <a:xfrm flipH="0" flipV="0">
            <a:off x="11120040" y="4690437"/>
            <a:ext cx="105524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C000"/>
                </a:solidFill>
                <a:latin typeface="Aptos"/>
                <a:ea typeface="Arial"/>
              </a:rPr>
              <a:t>parent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194744" name="PlaceHolder 1"/>
          <p:cNvSpPr>
            <a:spLocks noGrp="1"/>
          </p:cNvSpPr>
          <p:nvPr>
            <p:ph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ptos"/>
              </a:rPr>
              <a:t>We allocate 5 hazard pointers to protect nodes in the underlying search procedure: current, leaf, parent, successor, and ancestor. The current node points to the lowest node that is currently considered</a:t>
            </a:r>
            <a:endParaRPr lang="en-US" sz="26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6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ptos"/>
              </a:rPr>
              <a:t>After each HP reservation of the current node, if the corresponding node is flagged or tagged, we need to verify that ancestor still points to successor</a:t>
            </a:r>
            <a:endParaRPr lang="en-US" sz="26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endParaRPr lang="en-US" sz="26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600" b="0" u="none" strike="noStrike">
                <a:solidFill>
                  <a:schemeClr val="dk1"/>
                </a:solidFill>
                <a:latin typeface="Aptos"/>
                <a:ea typeface="Aptos"/>
              </a:rPr>
              <a:t>If ancestor points to some other node or successor becomes tagged, we need to restart from the very beginning</a:t>
            </a:r>
            <a:endParaRPr lang="en-US" sz="26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93195783" name="Title 1"/>
          <p:cNvSpPr/>
          <p:nvPr/>
        </p:nvSpPr>
        <p:spPr bwMode="auto">
          <a:xfrm>
            <a:off x="990720" y="517680"/>
            <a:ext cx="1051524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The Natarajan-Mittal Tree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682307" name="Rectangle 6"/>
          <p:cNvSpPr/>
          <p:nvPr/>
        </p:nvSpPr>
        <p:spPr bwMode="auto">
          <a:xfrm>
            <a:off x="2739240" y="2485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79182028" name="Straight Arrow Connector 7"/>
          <p:cNvCxnSpPr/>
          <p:nvPr/>
        </p:nvCxnSpPr>
        <p:spPr bwMode="auto">
          <a:xfrm>
            <a:off x="3361320" y="2485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388785045" name="TextBox 9"/>
          <p:cNvSpPr/>
          <p:nvPr/>
        </p:nvSpPr>
        <p:spPr bwMode="auto">
          <a:xfrm>
            <a:off x="2741400" y="2565360"/>
            <a:ext cx="78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7279255" name="Arrow: Right 10"/>
          <p:cNvSpPr/>
          <p:nvPr/>
        </p:nvSpPr>
        <p:spPr bwMode="auto">
          <a:xfrm>
            <a:off x="3978360" y="267948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45670513" name="Rectangle 15"/>
          <p:cNvSpPr/>
          <p:nvPr/>
        </p:nvSpPr>
        <p:spPr bwMode="auto">
          <a:xfrm>
            <a:off x="4611600" y="252180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69337654" name="Straight Arrow Connector 16"/>
          <p:cNvCxnSpPr/>
          <p:nvPr/>
        </p:nvCxnSpPr>
        <p:spPr bwMode="auto">
          <a:xfrm>
            <a:off x="5269680" y="252144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842095781" name="TextBox 17"/>
          <p:cNvSpPr/>
          <p:nvPr/>
        </p:nvSpPr>
        <p:spPr bwMode="auto">
          <a:xfrm>
            <a:off x="4723560" y="2567519"/>
            <a:ext cx="68039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450601" name="Arrow: Right 1"/>
          <p:cNvSpPr/>
          <p:nvPr/>
        </p:nvSpPr>
        <p:spPr bwMode="auto">
          <a:xfrm>
            <a:off x="2099880" y="265284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85638545" name="Rectangle 2"/>
          <p:cNvSpPr/>
          <p:nvPr/>
        </p:nvSpPr>
        <p:spPr bwMode="auto">
          <a:xfrm>
            <a:off x="848160" y="2494800"/>
            <a:ext cx="1242360" cy="5259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33612561" name="Straight Arrow Connector 3"/>
          <p:cNvCxnSpPr/>
          <p:nvPr/>
        </p:nvCxnSpPr>
        <p:spPr bwMode="auto">
          <a:xfrm>
            <a:off x="1506600" y="2494800"/>
            <a:ext cx="2160" cy="522360"/>
          </a:xfrm>
          <a:prstGeom prst="straightConnector1">
            <a:avLst/>
          </a:prstGeom>
          <a:ln w="12700">
            <a:solidFill>
              <a:srgbClr val="000000"/>
            </a:solidFill>
            <a:prstDash val="solid"/>
          </a:ln>
        </p:spPr>
      </p:cxnSp>
      <p:sp>
        <p:nvSpPr>
          <p:cNvPr id="2099840432" name="TextBox 4"/>
          <p:cNvSpPr/>
          <p:nvPr/>
        </p:nvSpPr>
        <p:spPr bwMode="auto">
          <a:xfrm>
            <a:off x="920160" y="2567519"/>
            <a:ext cx="685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495561" name="Arrow: Right 12"/>
          <p:cNvSpPr/>
          <p:nvPr/>
        </p:nvSpPr>
        <p:spPr bwMode="auto">
          <a:xfrm>
            <a:off x="5857920" y="267948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1085730" name="Rectangle 13"/>
          <p:cNvSpPr/>
          <p:nvPr/>
        </p:nvSpPr>
        <p:spPr bwMode="auto">
          <a:xfrm>
            <a:off x="8302320" y="24886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90498159" name="Straight Arrow Connector 18"/>
          <p:cNvCxnSpPr/>
          <p:nvPr/>
        </p:nvCxnSpPr>
        <p:spPr bwMode="auto">
          <a:xfrm>
            <a:off x="8960760" y="2488680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746644175" name="TextBox 20"/>
          <p:cNvSpPr/>
          <p:nvPr/>
        </p:nvSpPr>
        <p:spPr bwMode="auto">
          <a:xfrm>
            <a:off x="8394480" y="2561400"/>
            <a:ext cx="592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7887406" name="Arrow: Right 14"/>
          <p:cNvSpPr/>
          <p:nvPr/>
        </p:nvSpPr>
        <p:spPr bwMode="auto">
          <a:xfrm>
            <a:off x="7642440" y="267300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100641108" name="Rectangle 19"/>
          <p:cNvSpPr/>
          <p:nvPr/>
        </p:nvSpPr>
        <p:spPr bwMode="auto">
          <a:xfrm>
            <a:off x="6504480" y="24955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56889356" name="Straight Arrow Connector 21"/>
          <p:cNvCxnSpPr/>
          <p:nvPr/>
        </p:nvCxnSpPr>
        <p:spPr bwMode="auto">
          <a:xfrm>
            <a:off x="7162920" y="249516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676937484" name="TextBox 22"/>
          <p:cNvSpPr/>
          <p:nvPr/>
        </p:nvSpPr>
        <p:spPr bwMode="auto">
          <a:xfrm>
            <a:off x="6536520" y="2568240"/>
            <a:ext cx="78587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443973" name="Arrow: Right 29"/>
          <p:cNvSpPr/>
          <p:nvPr/>
        </p:nvSpPr>
        <p:spPr bwMode="auto">
          <a:xfrm>
            <a:off x="9560880" y="2659320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758278965" name="Straight Arrow Connector 8"/>
          <p:cNvCxnSpPr/>
          <p:nvPr/>
        </p:nvCxnSpPr>
        <p:spPr bwMode="auto">
          <a:xfrm flipH="1">
            <a:off x="246348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844956168" name="Straight Arrow Connector 23"/>
          <p:cNvCxnSpPr/>
          <p:nvPr/>
        </p:nvCxnSpPr>
        <p:spPr bwMode="auto">
          <a:xfrm flipH="1">
            <a:off x="7931160" y="230112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745510365" name="Straight Arrow Connector 24"/>
          <p:cNvCxnSpPr/>
          <p:nvPr/>
        </p:nvCxnSpPr>
        <p:spPr bwMode="auto">
          <a:xfrm flipV="1">
            <a:off x="2464920" y="330912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236418179" name="Straight Arrow Connector 25"/>
          <p:cNvCxnSpPr/>
          <p:nvPr/>
        </p:nvCxnSpPr>
        <p:spPr bwMode="auto">
          <a:xfrm flipV="1">
            <a:off x="2464920" y="229968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178770939" name="TextBox 30"/>
          <p:cNvSpPr/>
          <p:nvPr/>
        </p:nvSpPr>
        <p:spPr bwMode="auto">
          <a:xfrm>
            <a:off x="4113720" y="1396080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0391186" name="TextBox 36"/>
          <p:cNvSpPr/>
          <p:nvPr/>
        </p:nvSpPr>
        <p:spPr bwMode="auto">
          <a:xfrm flipH="0" flipV="0">
            <a:off x="1972332" y="4769938"/>
            <a:ext cx="7911824" cy="8233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sz="24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The original data structure with EBR allows wait-free read-only traversals, no need to restart from the beginning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127843" name="TextBox 37"/>
          <p:cNvSpPr/>
          <p:nvPr/>
        </p:nvSpPr>
        <p:spPr bwMode="auto">
          <a:xfrm>
            <a:off x="4626360" y="3543480"/>
            <a:ext cx="15548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3577874" name="TextBox 39"/>
          <p:cNvSpPr/>
          <p:nvPr/>
        </p:nvSpPr>
        <p:spPr bwMode="auto">
          <a:xfrm>
            <a:off x="1453319" y="2576519"/>
            <a:ext cx="649080" cy="36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7855137" name="TextBox 46"/>
          <p:cNvSpPr/>
          <p:nvPr/>
        </p:nvSpPr>
        <p:spPr bwMode="auto">
          <a:xfrm>
            <a:off x="6505920" y="3541680"/>
            <a:ext cx="274428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4467702" name="Title 1"/>
          <p:cNvSpPr/>
          <p:nvPr/>
        </p:nvSpPr>
        <p:spPr bwMode="auto">
          <a:xfrm>
            <a:off x="670447" y="528479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SCOT: Wait-free traversal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949802" name="Rectangle 26"/>
          <p:cNvSpPr/>
          <p:nvPr/>
        </p:nvSpPr>
        <p:spPr bwMode="auto">
          <a:xfrm>
            <a:off x="10220760" y="247536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809075958" name="TextBox 28"/>
          <p:cNvSpPr/>
          <p:nvPr/>
        </p:nvSpPr>
        <p:spPr bwMode="auto">
          <a:xfrm>
            <a:off x="10187640" y="2548080"/>
            <a:ext cx="591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84004" name="Rectangle 26"/>
          <p:cNvSpPr/>
          <p:nvPr/>
        </p:nvSpPr>
        <p:spPr bwMode="auto">
          <a:xfrm>
            <a:off x="10830960" y="247536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418566" name="TextBox 37"/>
          <p:cNvSpPr/>
          <p:nvPr/>
        </p:nvSpPr>
        <p:spPr bwMode="auto">
          <a:xfrm>
            <a:off x="4380698" y="3975840"/>
            <a:ext cx="1554840" cy="4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271252" name="TextBox 38"/>
          <p:cNvSpPr/>
          <p:nvPr/>
        </p:nvSpPr>
        <p:spPr bwMode="auto">
          <a:xfrm flipH="0" flipV="0">
            <a:off x="681367" y="4976815"/>
            <a:ext cx="10801658" cy="11890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If validation fails due to the data structure state change </a:t>
            </a:r>
            <a:r>
              <a:rPr sz="24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and the last safe node is logically deleted</a:t>
            </a:r>
            <a:r>
              <a:rPr lang="en-US" sz="2400" b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, we need to restart from the beginning; </a:t>
            </a:r>
            <a:endParaRPr lang="en-US"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ctr" defTabSz="914400">
              <a:lnSpc>
                <a:spcPct val="100000"/>
              </a:lnSpc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guarantees lock-free but not wait-free progress</a:t>
            </a:r>
            <a:r>
              <a:rPr lang="en-US" sz="2400" b="0" u="none" strike="noStrike">
                <a:solidFill>
                  <a:srgbClr val="000000"/>
                </a:solidFill>
                <a:latin typeface="Aptos"/>
                <a:ea typeface="Aptos"/>
                <a:cs typeface="Aptos"/>
              </a:rPr>
              <a:t>.  </a:t>
            </a:r>
            <a:endParaRPr sz="2400" b="0" u="none" strike="noStrike">
              <a:solidFill>
                <a:srgbClr val="00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31620530" name="Title 1"/>
          <p:cNvSpPr/>
          <p:nvPr/>
        </p:nvSpPr>
        <p:spPr bwMode="auto">
          <a:xfrm>
            <a:off x="823320" y="503280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SCOT: Wait-free traversal</a:t>
            </a: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294311" name="Rectangle 6"/>
          <p:cNvSpPr/>
          <p:nvPr/>
        </p:nvSpPr>
        <p:spPr bwMode="auto">
          <a:xfrm>
            <a:off x="2688479" y="318708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967977011" name="Straight Arrow Connector 7"/>
          <p:cNvCxnSpPr/>
          <p:nvPr/>
        </p:nvCxnSpPr>
        <p:spPr bwMode="auto">
          <a:xfrm>
            <a:off x="3310559" y="3186719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649396366" name="TextBox 9"/>
          <p:cNvSpPr/>
          <p:nvPr/>
        </p:nvSpPr>
        <p:spPr bwMode="auto">
          <a:xfrm>
            <a:off x="2690639" y="3267000"/>
            <a:ext cx="7812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N2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45686" name="Arrow: Right 10"/>
          <p:cNvSpPr/>
          <p:nvPr/>
        </p:nvSpPr>
        <p:spPr bwMode="auto">
          <a:xfrm>
            <a:off x="3927599" y="338111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502667624" name="Rectangle 15"/>
          <p:cNvSpPr/>
          <p:nvPr/>
        </p:nvSpPr>
        <p:spPr bwMode="auto">
          <a:xfrm>
            <a:off x="4560839" y="3223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851167398" name="Straight Arrow Connector 16"/>
          <p:cNvCxnSpPr/>
          <p:nvPr/>
        </p:nvCxnSpPr>
        <p:spPr bwMode="auto">
          <a:xfrm>
            <a:off x="5218919" y="3223080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379901741" name="TextBox 17"/>
          <p:cNvSpPr/>
          <p:nvPr/>
        </p:nvSpPr>
        <p:spPr bwMode="auto">
          <a:xfrm>
            <a:off x="4672798" y="3269158"/>
            <a:ext cx="6807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N3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584750" name="Arrow: Right 1"/>
          <p:cNvSpPr/>
          <p:nvPr/>
        </p:nvSpPr>
        <p:spPr bwMode="auto">
          <a:xfrm>
            <a:off x="2049119" y="335447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297864184" name="Rectangle 2"/>
          <p:cNvSpPr/>
          <p:nvPr/>
        </p:nvSpPr>
        <p:spPr bwMode="auto">
          <a:xfrm>
            <a:off x="797399" y="3196440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195952074" name="Straight Arrow Connector 3"/>
          <p:cNvCxnSpPr/>
          <p:nvPr/>
        </p:nvCxnSpPr>
        <p:spPr bwMode="auto">
          <a:xfrm>
            <a:off x="1455839" y="3196440"/>
            <a:ext cx="2160" cy="522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910333317" name="TextBox 4"/>
          <p:cNvSpPr/>
          <p:nvPr/>
        </p:nvSpPr>
        <p:spPr bwMode="auto">
          <a:xfrm>
            <a:off x="869399" y="3269158"/>
            <a:ext cx="6861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N1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089124" name="Arrow: Right 12"/>
          <p:cNvSpPr/>
          <p:nvPr/>
        </p:nvSpPr>
        <p:spPr bwMode="auto">
          <a:xfrm>
            <a:off x="5807159" y="338111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764598657" name="Rectangle 13"/>
          <p:cNvSpPr/>
          <p:nvPr/>
        </p:nvSpPr>
        <p:spPr bwMode="auto">
          <a:xfrm>
            <a:off x="8251559" y="3190319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315731438" name="Straight Arrow Connector 18"/>
          <p:cNvCxnSpPr/>
          <p:nvPr/>
        </p:nvCxnSpPr>
        <p:spPr bwMode="auto">
          <a:xfrm>
            <a:off x="8909999" y="3190319"/>
            <a:ext cx="2160" cy="522360"/>
          </a:xfrm>
          <a:prstGeom prst="straightConnector1">
            <a:avLst/>
          </a:prstGeom>
          <a:ln>
            <a:solidFill>
              <a:srgbClr val="000000"/>
            </a:solidFill>
          </a:ln>
        </p:spPr>
      </p:cxnSp>
      <p:sp>
        <p:nvSpPr>
          <p:cNvPr id="1735497622" name="TextBox 20"/>
          <p:cNvSpPr/>
          <p:nvPr/>
        </p:nvSpPr>
        <p:spPr bwMode="auto">
          <a:xfrm>
            <a:off x="8343719" y="3263039"/>
            <a:ext cx="59256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N5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044025" name="Arrow: Right 14"/>
          <p:cNvSpPr/>
          <p:nvPr/>
        </p:nvSpPr>
        <p:spPr bwMode="auto">
          <a:xfrm>
            <a:off x="7591679" y="337463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2030387285" name="Rectangle 19"/>
          <p:cNvSpPr/>
          <p:nvPr/>
        </p:nvSpPr>
        <p:spPr bwMode="auto">
          <a:xfrm>
            <a:off x="6453719" y="3197158"/>
            <a:ext cx="1242360" cy="52596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1479548046" name="Straight Arrow Connector 21"/>
          <p:cNvCxnSpPr/>
          <p:nvPr/>
        </p:nvCxnSpPr>
        <p:spPr bwMode="auto">
          <a:xfrm>
            <a:off x="7112159" y="3196799"/>
            <a:ext cx="2160" cy="52272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193712691" name="TextBox 22"/>
          <p:cNvSpPr/>
          <p:nvPr/>
        </p:nvSpPr>
        <p:spPr bwMode="auto">
          <a:xfrm>
            <a:off x="6485759" y="3269879"/>
            <a:ext cx="786238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 N4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0863136" name="Arrow: Right 29"/>
          <p:cNvSpPr/>
          <p:nvPr/>
        </p:nvSpPr>
        <p:spPr bwMode="auto">
          <a:xfrm>
            <a:off x="9510119" y="3360959"/>
            <a:ext cx="644399" cy="252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cxnSp>
        <p:nvCxnSpPr>
          <p:cNvPr id="549936034" name="Straight Arrow Connector 8"/>
          <p:cNvCxnSpPr/>
          <p:nvPr/>
        </p:nvCxnSpPr>
        <p:spPr bwMode="auto">
          <a:xfrm flipH="1">
            <a:off x="2412719" y="300276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804239311" name="Straight Arrow Connector 23"/>
          <p:cNvCxnSpPr/>
          <p:nvPr/>
        </p:nvCxnSpPr>
        <p:spPr bwMode="auto">
          <a:xfrm flipH="1">
            <a:off x="7880399" y="3002760"/>
            <a:ext cx="1800" cy="100836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284017723" name="Straight Arrow Connector 24"/>
          <p:cNvCxnSpPr/>
          <p:nvPr/>
        </p:nvCxnSpPr>
        <p:spPr bwMode="auto">
          <a:xfrm flipV="1">
            <a:off x="2414159" y="4010760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cxnSp>
        <p:nvCxnSpPr>
          <p:cNvPr id="1893577453" name="Straight Arrow Connector 25"/>
          <p:cNvCxnSpPr/>
          <p:nvPr/>
        </p:nvCxnSpPr>
        <p:spPr bwMode="auto">
          <a:xfrm flipV="1">
            <a:off x="2414159" y="3001319"/>
            <a:ext cx="5493240" cy="1800"/>
          </a:xfrm>
          <a:prstGeom prst="straightConnector1">
            <a:avLst/>
          </a:prstGeom>
          <a:ln>
            <a:solidFill>
              <a:srgbClr val="FF0000"/>
            </a:solidFill>
            <a:prstDash val="sysDot"/>
          </a:ln>
        </p:spPr>
      </p:cxnSp>
      <p:sp>
        <p:nvSpPr>
          <p:cNvPr id="711104260" name="TextBox 30"/>
          <p:cNvSpPr/>
          <p:nvPr/>
        </p:nvSpPr>
        <p:spPr bwMode="auto">
          <a:xfrm>
            <a:off x="4062959" y="2097719"/>
            <a:ext cx="27442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rgbClr val="FF0000"/>
                </a:solidFill>
                <a:latin typeface="Aptos"/>
                <a:ea typeface="Arial"/>
              </a:rPr>
              <a:t>Dangerous zone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06837" name="TextBox 39"/>
          <p:cNvSpPr/>
          <p:nvPr/>
        </p:nvSpPr>
        <p:spPr bwMode="auto">
          <a:xfrm>
            <a:off x="1402559" y="3278158"/>
            <a:ext cx="645840" cy="36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1800" b="1" u="none" strike="noStrike">
                <a:solidFill>
                  <a:srgbClr val="FF0000"/>
                </a:solidFill>
                <a:latin typeface="Aptos"/>
                <a:ea typeface="Arial"/>
              </a:rPr>
              <a:t>prev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7110760" name="Straight Arrow Connector 40"/>
          <p:cNvCxnSpPr/>
          <p:nvPr/>
        </p:nvCxnSpPr>
        <p:spPr bwMode="auto">
          <a:xfrm flipV="1">
            <a:off x="1687319" y="2635919"/>
            <a:ext cx="7560" cy="58068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1193799960" name="Straight Arrow Connector 41"/>
          <p:cNvCxnSpPr/>
          <p:nvPr/>
        </p:nvCxnSpPr>
        <p:spPr bwMode="auto">
          <a:xfrm>
            <a:off x="1694519" y="2626559"/>
            <a:ext cx="1422720" cy="7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</a:ln>
        </p:spPr>
      </p:cxnSp>
      <p:cxnSp>
        <p:nvCxnSpPr>
          <p:cNvPr id="791740381" name="Straight Arrow Connector 42"/>
          <p:cNvCxnSpPr/>
          <p:nvPr/>
        </p:nvCxnSpPr>
        <p:spPr bwMode="auto">
          <a:xfrm>
            <a:off x="3116879" y="2632319"/>
            <a:ext cx="360" cy="52992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 w="med" len="med"/>
          </a:ln>
        </p:spPr>
      </p:cxnSp>
      <p:sp>
        <p:nvSpPr>
          <p:cNvPr id="1109330247" name="TextBox 43"/>
          <p:cNvSpPr/>
          <p:nvPr/>
        </p:nvSpPr>
        <p:spPr bwMode="auto">
          <a:xfrm>
            <a:off x="1763639" y="2249639"/>
            <a:ext cx="13536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ptos"/>
              </a:rPr>
              <a:t>Validate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3735489" name="Graphic 44" descr="Danger with solid fill"/>
          <p:cNvPicPr/>
          <p:nvPr/>
        </p:nvPicPr>
        <p:blipFill rotWithShape="1">
          <a:blip r:embed="rId3"/>
          <a:stretch/>
        </p:blipFill>
        <p:spPr bwMode="auto">
          <a:xfrm>
            <a:off x="6155999" y="2134079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374607" name="TextBox 47"/>
          <p:cNvSpPr/>
          <p:nvPr/>
        </p:nvSpPr>
        <p:spPr bwMode="auto">
          <a:xfrm>
            <a:off x="3115079" y="2566799"/>
            <a:ext cx="274428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1" u="none" strike="noStrike">
                <a:solidFill>
                  <a:srgbClr val="FF0000"/>
                </a:solidFill>
                <a:latin typeface="Aptos"/>
                <a:ea typeface="Arial"/>
              </a:rPr>
              <a:t>prev_next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8202485" name="Rectangle 26"/>
          <p:cNvSpPr/>
          <p:nvPr/>
        </p:nvSpPr>
        <p:spPr bwMode="auto">
          <a:xfrm>
            <a:off x="10170000" y="3177000"/>
            <a:ext cx="609840" cy="52596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  <p:sp>
        <p:nvSpPr>
          <p:cNvPr id="1142969003" name="TextBox 28"/>
          <p:cNvSpPr/>
          <p:nvPr/>
        </p:nvSpPr>
        <p:spPr bwMode="auto">
          <a:xfrm>
            <a:off x="10136879" y="3249719"/>
            <a:ext cx="592200" cy="45755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rial"/>
              </a:rPr>
              <a:t>N6</a:t>
            </a:r>
            <a:endParaRPr lang="en-US"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461397" name="Rectangle 26"/>
          <p:cNvSpPr/>
          <p:nvPr/>
        </p:nvSpPr>
        <p:spPr bwMode="auto">
          <a:xfrm>
            <a:off x="10780199" y="3177000"/>
            <a:ext cx="522360" cy="53172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u="none" strike="noStrike">
              <a:solidFill>
                <a:schemeClr val="lt1"/>
              </a:solidFill>
              <a:latin typeface="Aptos"/>
              <a:ea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10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136800" name="TextBox 5"/>
          <p:cNvSpPr/>
          <p:nvPr/>
        </p:nvSpPr>
        <p:spPr bwMode="auto">
          <a:xfrm flipH="0" flipV="0">
            <a:off x="107642" y="6754343"/>
            <a:ext cx="11976834" cy="24419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314265258" name="Title 1"/>
          <p:cNvSpPr/>
          <p:nvPr/>
        </p:nvSpPr>
        <p:spPr bwMode="auto">
          <a:xfrm>
            <a:off x="838380" y="578478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Wait-free traversal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723506" name=""/>
          <p:cNvSpPr txBox="1"/>
          <p:nvPr/>
        </p:nvSpPr>
        <p:spPr bwMode="auto">
          <a:xfrm rot="0" flipH="0" flipV="0">
            <a:off x="907008" y="1995177"/>
            <a:ext cx="10473710" cy="1920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8" indent="-305908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Our approach is specifically tailored for traversals and uses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 per-thread record entry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. 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  <a:p>
            <a:pPr marL="305908" indent="-305908" algn="l" defTabSz="914400">
              <a:lnSpc>
                <a:spcPct val="100000"/>
              </a:lnSpc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>
            <a:pPr marL="305908" indent="-305908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Avoids nonstandard instructions (only a regular CAS) and complexity related to dynamically-allocated descriptors (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OPODIS ’12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PPoPP ’14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).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529556" name=""/>
          <p:cNvSpPr txBox="1"/>
          <p:nvPr/>
        </p:nvSpPr>
        <p:spPr bwMode="auto">
          <a:xfrm rot="0" flipH="0" flipV="0">
            <a:off x="956984" y="4437567"/>
            <a:ext cx="8602867" cy="22863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Search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          Request_Help         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Slow_Search</a:t>
            </a: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</p:txBody>
      </p:sp>
      <p:cxnSp>
        <p:nvCxnSpPr>
          <p:cNvPr id="1438064823" name=""/>
          <p:cNvCxnSpPr/>
          <p:nvPr/>
        </p:nvCxnSpPr>
        <p:spPr bwMode="auto">
          <a:xfrm flipH="0" flipV="0">
            <a:off x="4887593" y="4669426"/>
            <a:ext cx="513847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1332372" name=""/>
          <p:cNvCxnSpPr/>
          <p:nvPr/>
        </p:nvCxnSpPr>
        <p:spPr bwMode="auto">
          <a:xfrm flipH="0" flipV="0">
            <a:off x="2137464" y="4669426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40051" name="TextBox 5"/>
          <p:cNvSpPr/>
          <p:nvPr/>
        </p:nvSpPr>
        <p:spPr bwMode="auto">
          <a:xfrm flipH="0" flipV="0">
            <a:off x="107641" y="6754342"/>
            <a:ext cx="11976833" cy="244198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>
              <a:defRPr/>
            </a:pPr>
            <a:endParaRPr/>
          </a:p>
        </p:txBody>
      </p:sp>
      <p:sp>
        <p:nvSpPr>
          <p:cNvPr id="1918160741" name="Title 1"/>
          <p:cNvSpPr/>
          <p:nvPr/>
        </p:nvSpPr>
        <p:spPr bwMode="auto">
          <a:xfrm>
            <a:off x="838379" y="578477"/>
            <a:ext cx="10515238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Wait-free traversal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742165" name=""/>
          <p:cNvSpPr txBox="1"/>
          <p:nvPr/>
        </p:nvSpPr>
        <p:spPr bwMode="auto">
          <a:xfrm rot="0" flipH="0" flipV="0">
            <a:off x="907007" y="1995176"/>
            <a:ext cx="10473709" cy="19205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05907" indent="-305907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Our approach is specifically tailored for traversals and uses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 per-thread record entry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. 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  <a:p>
            <a:pPr marL="305907" indent="-305907" algn="l" defTabSz="914400">
              <a:lnSpc>
                <a:spcPct val="100000"/>
              </a:lnSpc>
              <a:buFont typeface="Arial"/>
              <a:buChar char="•"/>
              <a:defRPr/>
            </a:pPr>
            <a:endParaRPr sz="2400" b="0" i="0" u="none" strike="noStrike" cap="none" spc="0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>
            <a:pPr marL="305907" indent="-305907" algn="l" defTabSz="914400">
              <a:lnSpc>
                <a:spcPct val="100000"/>
              </a:lnSpc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Avoids nonstandard instructions (only a regular CAS) and complexity related to dynamically-allocated descriptors (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OPODIS ’12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, 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PPoPP ’14</a:t>
            </a:r>
            <a:r>
              <a:rPr lang="en-US" sz="2400" b="0" i="0" u="none" strike="noStrike" cap="none" spc="0">
                <a:solidFill>
                  <a:schemeClr val="dk1"/>
                </a:solidFill>
                <a:latin typeface="Aptos"/>
                <a:ea typeface="Aptos"/>
                <a:cs typeface="Aptos"/>
              </a:rPr>
              <a:t>).</a:t>
            </a:r>
            <a:endParaRPr sz="2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50842" name=""/>
          <p:cNvSpPr txBox="1"/>
          <p:nvPr/>
        </p:nvSpPr>
        <p:spPr bwMode="auto">
          <a:xfrm rot="0" flipH="0" flipV="0">
            <a:off x="956984" y="4437567"/>
            <a:ext cx="8602507" cy="2652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rial"/>
                <a:cs typeface="Arial"/>
              </a:rPr>
              <a:t>Search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          Request_Help         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Slow_Search</a:t>
            </a: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r>
              <a:rPr sz="2400"/>
              <a:t>Insert / Delete        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Help_Threads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sz="2400"/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            Slow_Search</a:t>
            </a:r>
            <a:endParaRPr sz="2400" b="0" i="0" u="none" strike="noStrike" cap="none" spc="0">
              <a:solidFill>
                <a:srgbClr val="000000"/>
              </a:solidFill>
              <a:latin typeface="Aptos"/>
              <a:ea typeface="Aptos"/>
              <a:cs typeface="Aptos"/>
            </a:endParaRPr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  <a:p>
            <a:pPr algn="l">
              <a:defRPr/>
            </a:pPr>
            <a:endParaRPr sz="2400"/>
          </a:p>
        </p:txBody>
      </p:sp>
      <p:cxnSp>
        <p:nvCxnSpPr>
          <p:cNvPr id="442885554" name=""/>
          <p:cNvCxnSpPr/>
          <p:nvPr/>
        </p:nvCxnSpPr>
        <p:spPr bwMode="auto">
          <a:xfrm flipH="0" flipV="0">
            <a:off x="3014766" y="5763627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1426076" name=""/>
          <p:cNvCxnSpPr/>
          <p:nvPr/>
        </p:nvCxnSpPr>
        <p:spPr bwMode="auto">
          <a:xfrm flipH="0" flipV="0">
            <a:off x="4887591" y="4669425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9132815" name=""/>
          <p:cNvCxnSpPr/>
          <p:nvPr/>
        </p:nvCxnSpPr>
        <p:spPr bwMode="auto">
          <a:xfrm flipH="0" flipV="0">
            <a:off x="5664480" y="5763627"/>
            <a:ext cx="958763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4481458" name=""/>
          <p:cNvSpPr txBox="1"/>
          <p:nvPr/>
        </p:nvSpPr>
        <p:spPr bwMode="auto">
          <a:xfrm rot="0" flipH="0" flipV="0">
            <a:off x="5833635" y="5397508"/>
            <a:ext cx="620454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accent6"/>
                </a:solidFill>
                <a:latin typeface="Aptos"/>
                <a:ea typeface="Aptos"/>
                <a:cs typeface="Aptos"/>
              </a:rPr>
              <a:t>True</a:t>
            </a:r>
            <a:endParaRPr sz="1800">
              <a:solidFill>
                <a:schemeClr val="accent6"/>
              </a:solidFill>
            </a:endParaRPr>
          </a:p>
        </p:txBody>
      </p:sp>
      <p:cxnSp>
        <p:nvCxnSpPr>
          <p:cNvPr id="1693122522" name=""/>
          <p:cNvCxnSpPr/>
          <p:nvPr/>
        </p:nvCxnSpPr>
        <p:spPr bwMode="auto">
          <a:xfrm flipH="0" flipV="0">
            <a:off x="2137464" y="4669425"/>
            <a:ext cx="513846" cy="0"/>
          </a:xfrm>
          <a:prstGeom prst="line">
            <a:avLst/>
          </a:prstGeom>
          <a:ln w="28575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954357" name="TextBox 5"/>
          <p:cNvSpPr/>
          <p:nvPr/>
        </p:nvSpPr>
        <p:spPr bwMode="auto">
          <a:xfrm flipH="0" flipV="0">
            <a:off x="912048" y="2066439"/>
            <a:ext cx="10300347" cy="36611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731672" name="Title 1"/>
          <p:cNvSpPr/>
          <p:nvPr/>
        </p:nvSpPr>
        <p:spPr bwMode="auto">
          <a:xfrm>
            <a:off x="794927" y="497079"/>
            <a:ext cx="10515239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SCOT: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Wait-free traversal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: </a:t>
            </a:r>
            <a:r>
              <a:rPr lang="en-US" sz="4400" b="0" i="0" u="none" strike="noStrike" cap="none" spc="0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Harris’ Linked List</a:t>
            </a:r>
            <a:endParaRPr lang="en-US" sz="4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492578" name=""/>
          <p:cNvSpPr txBox="1"/>
          <p:nvPr/>
        </p:nvSpPr>
        <p:spPr bwMode="auto">
          <a:xfrm rot="0" flipH="0" flipV="0">
            <a:off x="800282" y="1822239"/>
            <a:ext cx="1093031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917696380" name=""/>
          <p:cNvSpPr/>
          <p:nvPr/>
        </p:nvSpPr>
        <p:spPr bwMode="auto">
          <a:xfrm rot="0" flipH="0" flipV="0">
            <a:off x="2179798" y="3004029"/>
            <a:ext cx="2746969" cy="1215690"/>
          </a:xfrm>
          <a:prstGeom prst="rect">
            <a:avLst/>
          </a:prstGeom>
          <a:noFill/>
          <a:ln w="12699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25701431" name=""/>
          <p:cNvCxnSpPr/>
          <p:nvPr/>
        </p:nvCxnSpPr>
        <p:spPr bwMode="auto">
          <a:xfrm flipH="1" flipV="0">
            <a:off x="3740149" y="3004029"/>
            <a:ext cx="0" cy="121569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8801254" name=""/>
          <p:cNvSpPr txBox="1"/>
          <p:nvPr/>
        </p:nvSpPr>
        <p:spPr bwMode="auto">
          <a:xfrm rot="0" flipH="0" flipV="0">
            <a:off x="1996162" y="3199983"/>
            <a:ext cx="183636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073580627" name=""/>
          <p:cNvSpPr txBox="1"/>
          <p:nvPr/>
        </p:nvSpPr>
        <p:spPr bwMode="auto">
          <a:xfrm rot="0" flipH="0" flipV="0">
            <a:off x="2260168" y="2558826"/>
            <a:ext cx="266767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Input request (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</a:t>
            </a:r>
            <a:r>
              <a:rPr lang="en-US" sz="2000" b="0" i="0" u="none" strike="noStrike" cap="none" spc="0" baseline="-25000">
                <a:solidFill>
                  <a:srgbClr val="000000"/>
                </a:solidFill>
                <a:latin typeface="Aptos"/>
                <a:ea typeface="Arial"/>
                <a:cs typeface="Arial"/>
              </a:rPr>
              <a:t>helpee</a:t>
            </a: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)</a:t>
            </a:r>
            <a:endParaRPr sz="2000"/>
          </a:p>
        </p:txBody>
      </p:sp>
      <p:sp>
        <p:nvSpPr>
          <p:cNvPr id="792440449" name=""/>
          <p:cNvSpPr txBox="1"/>
          <p:nvPr/>
        </p:nvSpPr>
        <p:spPr bwMode="auto">
          <a:xfrm rot="0" flipH="0" flipV="0">
            <a:off x="2222371" y="3400628"/>
            <a:ext cx="142546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slow-path cycle #</a:t>
            </a:r>
            <a:endParaRPr sz="1800"/>
          </a:p>
        </p:txBody>
      </p:sp>
      <p:sp>
        <p:nvSpPr>
          <p:cNvPr id="2105224182" name=""/>
          <p:cNvSpPr txBox="1"/>
          <p:nvPr/>
        </p:nvSpPr>
        <p:spPr bwMode="auto">
          <a:xfrm rot="0" flipH="0" flipV="0">
            <a:off x="4192293" y="3527758"/>
            <a:ext cx="319281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1</a:t>
            </a:r>
            <a:endParaRPr/>
          </a:p>
        </p:txBody>
      </p:sp>
      <p:cxnSp>
        <p:nvCxnSpPr>
          <p:cNvPr id="329043069" name=""/>
          <p:cNvCxnSpPr/>
          <p:nvPr/>
        </p:nvCxnSpPr>
        <p:spPr bwMode="auto">
          <a:xfrm flipH="0" flipV="0">
            <a:off x="2179798" y="3365507"/>
            <a:ext cx="2746969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9000647" name=""/>
          <p:cNvSpPr txBox="1"/>
          <p:nvPr/>
        </p:nvSpPr>
        <p:spPr bwMode="auto">
          <a:xfrm rot="0" flipH="0" flipV="0">
            <a:off x="3791241" y="3004029"/>
            <a:ext cx="94571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IsInput</a:t>
            </a:r>
            <a:endParaRPr sz="2000"/>
          </a:p>
        </p:txBody>
      </p:sp>
      <p:sp>
        <p:nvSpPr>
          <p:cNvPr id="1165493712" name=""/>
          <p:cNvSpPr txBox="1"/>
          <p:nvPr/>
        </p:nvSpPr>
        <p:spPr bwMode="auto">
          <a:xfrm rot="0" flipH="0" flipV="0">
            <a:off x="3936036" y="4219719"/>
            <a:ext cx="65612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bit 0</a:t>
            </a:r>
            <a:endParaRPr sz="2000"/>
          </a:p>
        </p:txBody>
      </p:sp>
      <p:sp>
        <p:nvSpPr>
          <p:cNvPr id="2023916570" name=""/>
          <p:cNvSpPr txBox="1"/>
          <p:nvPr/>
        </p:nvSpPr>
        <p:spPr bwMode="auto">
          <a:xfrm rot="0" flipH="0" flipV="0">
            <a:off x="2487315" y="2968907"/>
            <a:ext cx="809042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Value</a:t>
            </a:r>
            <a:endParaRPr sz="2000"/>
          </a:p>
        </p:txBody>
      </p:sp>
      <p:sp>
        <p:nvSpPr>
          <p:cNvPr id="1448159000" name=""/>
          <p:cNvSpPr txBox="1"/>
          <p:nvPr/>
        </p:nvSpPr>
        <p:spPr bwMode="auto">
          <a:xfrm rot="0" flipH="0" flipV="0">
            <a:off x="2331952" y="4219719"/>
            <a:ext cx="1120848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/>
              <a:t>bit 63:1</a:t>
            </a:r>
            <a:endParaRPr sz="2000"/>
          </a:p>
        </p:txBody>
      </p:sp>
      <p:sp>
        <p:nvSpPr>
          <p:cNvPr id="628574370" name=""/>
          <p:cNvSpPr/>
          <p:nvPr/>
        </p:nvSpPr>
        <p:spPr bwMode="auto">
          <a:xfrm rot="0" flipH="0" flipV="0">
            <a:off x="6415911" y="3057820"/>
            <a:ext cx="2746968" cy="1215689"/>
          </a:xfrm>
          <a:prstGeom prst="rect">
            <a:avLst/>
          </a:prstGeom>
          <a:noFill/>
          <a:ln w="12699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60637247" name=""/>
          <p:cNvCxnSpPr/>
          <p:nvPr/>
        </p:nvCxnSpPr>
        <p:spPr bwMode="auto">
          <a:xfrm flipH="1" flipV="0">
            <a:off x="7976264" y="3057820"/>
            <a:ext cx="0" cy="1215689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491907" name=""/>
          <p:cNvSpPr txBox="1"/>
          <p:nvPr/>
        </p:nvSpPr>
        <p:spPr bwMode="auto">
          <a:xfrm rot="0" flipH="0" flipV="0">
            <a:off x="7228479" y="3238585"/>
            <a:ext cx="183636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683349224" name=""/>
          <p:cNvSpPr txBox="1"/>
          <p:nvPr/>
        </p:nvSpPr>
        <p:spPr bwMode="auto">
          <a:xfrm rot="0" flipH="0" flipV="0">
            <a:off x="6458485" y="2582673"/>
            <a:ext cx="290886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Output result (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</a:t>
            </a:r>
            <a:r>
              <a:rPr lang="en-US" sz="2000" b="0" i="0" u="none" strike="noStrike" cap="none" spc="0" baseline="-25000">
                <a:solidFill>
                  <a:srgbClr val="000000"/>
                </a:solidFill>
                <a:latin typeface="Aptos"/>
                <a:ea typeface="Arial"/>
                <a:cs typeface="Arial"/>
              </a:rPr>
              <a:t>helpee</a:t>
            </a:r>
            <a:r>
              <a:rPr sz="20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)</a:t>
            </a:r>
            <a:endParaRPr sz="2000"/>
          </a:p>
        </p:txBody>
      </p:sp>
      <p:sp>
        <p:nvSpPr>
          <p:cNvPr id="1473664092" name=""/>
          <p:cNvSpPr txBox="1"/>
          <p:nvPr/>
        </p:nvSpPr>
        <p:spPr bwMode="auto">
          <a:xfrm rot="0" flipH="0" flipV="0">
            <a:off x="6458485" y="3454420"/>
            <a:ext cx="143194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result</a:t>
            </a:r>
            <a:b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</a:br>
            <a:r>
              <a:rPr lang="en-US" sz="18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True/False</a:t>
            </a:r>
            <a:endParaRPr sz="1800"/>
          </a:p>
        </p:txBody>
      </p:sp>
      <p:sp>
        <p:nvSpPr>
          <p:cNvPr id="1081206265" name=""/>
          <p:cNvSpPr txBox="1"/>
          <p:nvPr/>
        </p:nvSpPr>
        <p:spPr bwMode="auto">
          <a:xfrm rot="0" flipH="0" flipV="0">
            <a:off x="8428407" y="3581550"/>
            <a:ext cx="319281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0</a:t>
            </a:r>
            <a:endParaRPr sz="2000"/>
          </a:p>
        </p:txBody>
      </p:sp>
      <p:cxnSp>
        <p:nvCxnSpPr>
          <p:cNvPr id="591802128" name=""/>
          <p:cNvCxnSpPr/>
          <p:nvPr/>
        </p:nvCxnSpPr>
        <p:spPr bwMode="auto">
          <a:xfrm flipH="0" flipV="0">
            <a:off x="6415911" y="3419298"/>
            <a:ext cx="2746968" cy="0"/>
          </a:xfrm>
          <a:prstGeom prst="line">
            <a:avLst/>
          </a:prstGeom>
          <a:ln w="12699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4692782" name=""/>
          <p:cNvSpPr txBox="1"/>
          <p:nvPr/>
        </p:nvSpPr>
        <p:spPr bwMode="auto">
          <a:xfrm rot="0" flipH="0" flipV="0">
            <a:off x="8027354" y="3057820"/>
            <a:ext cx="94571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IsInput</a:t>
            </a:r>
            <a:endParaRPr sz="2000"/>
          </a:p>
        </p:txBody>
      </p:sp>
      <p:sp>
        <p:nvSpPr>
          <p:cNvPr id="1916615069" name=""/>
          <p:cNvSpPr txBox="1"/>
          <p:nvPr/>
        </p:nvSpPr>
        <p:spPr bwMode="auto">
          <a:xfrm rot="0" flipH="0" flipV="0">
            <a:off x="8172150" y="4273511"/>
            <a:ext cx="656124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/>
              <a:t>bit 0</a:t>
            </a:r>
            <a:endParaRPr sz="2000"/>
          </a:p>
        </p:txBody>
      </p:sp>
      <p:sp>
        <p:nvSpPr>
          <p:cNvPr id="1139242696" name=""/>
          <p:cNvSpPr txBox="1"/>
          <p:nvPr/>
        </p:nvSpPr>
        <p:spPr bwMode="auto">
          <a:xfrm rot="0" flipH="0" flipV="0">
            <a:off x="6723429" y="3022697"/>
            <a:ext cx="809042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Value</a:t>
            </a:r>
            <a:endParaRPr sz="2000"/>
          </a:p>
        </p:txBody>
      </p:sp>
      <p:sp>
        <p:nvSpPr>
          <p:cNvPr id="669000917" name=""/>
          <p:cNvSpPr txBox="1"/>
          <p:nvPr/>
        </p:nvSpPr>
        <p:spPr bwMode="auto">
          <a:xfrm rot="0" flipH="0" flipV="0">
            <a:off x="6568066" y="4273511"/>
            <a:ext cx="112120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000"/>
              <a:t>bit 63:1</a:t>
            </a:r>
            <a:endParaRPr sz="2000"/>
          </a:p>
        </p:txBody>
      </p:sp>
      <p:sp>
        <p:nvSpPr>
          <p:cNvPr id="1549873466" name=""/>
          <p:cNvSpPr txBox="1"/>
          <p:nvPr/>
        </p:nvSpPr>
        <p:spPr bwMode="auto">
          <a:xfrm rot="0" flipH="0" flipV="0">
            <a:off x="3179367" y="5411982"/>
            <a:ext cx="6348307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Aptos"/>
                <a:ea typeface="Aptos"/>
                <a:cs typeface="Aptos"/>
              </a:rPr>
              <a:t>Output is produced by both helpee and helpers</a:t>
            </a:r>
            <a:endParaRPr sz="2400">
              <a:latin typeface="Aptos"/>
              <a:cs typeface="Aptos"/>
            </a:endParaRPr>
          </a:p>
        </p:txBody>
      </p:sp>
      <p:cxnSp>
        <p:nvCxnSpPr>
          <p:cNvPr id="168688977" name=""/>
          <p:cNvCxnSpPr/>
          <p:nvPr/>
        </p:nvCxnSpPr>
        <p:spPr bwMode="auto">
          <a:xfrm flipH="0" flipV="0">
            <a:off x="5007532" y="2779892"/>
            <a:ext cx="1257907" cy="360"/>
          </a:xfrm>
          <a:prstGeom prst="line">
            <a:avLst/>
          </a:prstGeom>
          <a:ln w="57150" cap="flat" cmpd="sng" algn="ctr">
            <a:solidFill>
              <a:schemeClr val="accent1">
                <a:lumMod val="50196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66187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 Setup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290226143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825559"/>
            <a:ext cx="10769399" cy="4967268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AMD EPYC 9754, 128 cores, 256 hardware threads, 384 GiB of RAM</a:t>
            </a: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/>
            </a:pPr>
            <a:endParaRPr lang="en-US" sz="2800" b="0" u="none" strike="noStrike">
              <a:solidFill>
                <a:schemeClr val="dk1"/>
              </a:solidFill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800" b="0" u="none" strike="noStrike">
                <a:solidFill>
                  <a:schemeClr val="dk1"/>
                </a:solidFill>
                <a:latin typeface="Aptos"/>
                <a:ea typeface="Aptos"/>
              </a:rPr>
              <a:t>SMR Schemes</a:t>
            </a:r>
            <a:endParaRPr lang="en-US" sz="2800" b="0" u="none" strike="noStrike">
              <a:solidFill>
                <a:schemeClr val="dk1"/>
              </a:solidFill>
              <a:latin typeface="Aptos"/>
              <a:ea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No-Reclamation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NR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 baseline which leaks memory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Epoch-Based Reclamation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EBR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Hazard Pointers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HP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TPDS ’04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Hazard Eras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HE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SPAA ’17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Interval-Based Reclamation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IBR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PPoPP ’18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Hyaline-1S (</a:t>
            </a:r>
            <a:r>
              <a:rPr lang="en-US" sz="2400" b="1" u="none" strike="noStrike">
                <a:solidFill>
                  <a:schemeClr val="dk1"/>
                </a:solidFill>
                <a:latin typeface="Aptos"/>
                <a:ea typeface="Aptos"/>
              </a:rPr>
              <a:t>HLN</a:t>
            </a:r>
            <a:r>
              <a:rPr lang="en-US" sz="2400" b="0" u="none" strike="noStrike">
                <a:solidFill>
                  <a:schemeClr val="dk1"/>
                </a:solidFill>
                <a:latin typeface="Aptos"/>
                <a:ea typeface="Aptos"/>
              </a:rPr>
              <a:t>): PODC ’19, PLDI ’21</a:t>
            </a:r>
            <a:endParaRPr lang="en-US" sz="2400" b="0" u="none" strike="noStrike">
              <a:solidFill>
                <a:schemeClr val="dk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72526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Harris vs. Harris-Michael list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+mn-lt"/>
                <a:ea typeface="Aptos Display"/>
                <a:cs typeface="Aptos Display"/>
              </a:rPr>
              <a:t> (Throughput)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399565976" name=""/>
          <p:cNvSpPr/>
          <p:nvPr/>
        </p:nvSpPr>
        <p:spPr bwMode="auto">
          <a:xfrm>
            <a:off x="8836200" y="1491480"/>
            <a:ext cx="2873519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6221393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67299" y="2074194"/>
            <a:ext cx="5958161" cy="3064292"/>
          </a:xfrm>
          <a:prstGeom prst="rect">
            <a:avLst/>
          </a:prstGeom>
        </p:spPr>
      </p:pic>
      <p:pic>
        <p:nvPicPr>
          <p:cNvPr id="824097708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260822" y="2130294"/>
            <a:ext cx="5878327" cy="3023233"/>
          </a:xfrm>
          <a:prstGeom prst="rect">
            <a:avLst/>
          </a:prstGeom>
        </p:spPr>
      </p:pic>
      <p:sp>
        <p:nvSpPr>
          <p:cNvPr id="1571014219" name=""/>
          <p:cNvSpPr txBox="1"/>
          <p:nvPr/>
        </p:nvSpPr>
        <p:spPr bwMode="auto">
          <a:xfrm rot="0" flipH="0" flipV="0">
            <a:off x="1880575" y="5370345"/>
            <a:ext cx="2717534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Key Range = 512 </a:t>
            </a:r>
            <a:endParaRPr sz="2400"/>
          </a:p>
        </p:txBody>
      </p:sp>
      <p:sp>
        <p:nvSpPr>
          <p:cNvPr id="361069160" name=""/>
          <p:cNvSpPr txBox="1"/>
          <p:nvPr/>
        </p:nvSpPr>
        <p:spPr bwMode="auto">
          <a:xfrm rot="0" flipH="0" flipV="0">
            <a:off x="7983243" y="5370345"/>
            <a:ext cx="3223245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 Key Range =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58039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The Natarajan-Mittal tree</a:t>
            </a:r>
            <a:r>
              <a:rPr lang="en-US" sz="4400" b="0" u="none" strike="noStrike">
                <a:solidFill>
                  <a:schemeClr val="dk1"/>
                </a:solidFill>
                <a:latin typeface="Aptos"/>
              </a:rPr>
              <a:t> 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(Throughput)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881960071" name=""/>
          <p:cNvSpPr/>
          <p:nvPr/>
        </p:nvSpPr>
        <p:spPr bwMode="auto">
          <a:xfrm>
            <a:off x="8335080" y="1491480"/>
            <a:ext cx="3399120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6606423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0" flipH="0" flipV="0">
            <a:off x="300111" y="2061882"/>
            <a:ext cx="5795888" cy="2911540"/>
          </a:xfrm>
          <a:prstGeom prst="rect">
            <a:avLst/>
          </a:prstGeom>
        </p:spPr>
      </p:pic>
      <p:sp>
        <p:nvSpPr>
          <p:cNvPr id="81679969" name=""/>
          <p:cNvSpPr txBox="1"/>
          <p:nvPr/>
        </p:nvSpPr>
        <p:spPr bwMode="auto">
          <a:xfrm rot="0" flipH="0" flipV="0">
            <a:off x="1686315" y="5330810"/>
            <a:ext cx="3372068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=100,000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sp>
        <p:nvSpPr>
          <p:cNvPr id="493400793" name=""/>
          <p:cNvSpPr txBox="1"/>
          <p:nvPr/>
        </p:nvSpPr>
        <p:spPr bwMode="auto">
          <a:xfrm rot="0" flipH="0" flipV="0">
            <a:off x="7620640" y="5330810"/>
            <a:ext cx="3917250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 50,000,000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1035617847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314097" y="2057751"/>
            <a:ext cx="5787054" cy="2915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0696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Code Availability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2139727156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825559"/>
            <a:ext cx="9512640" cy="194684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ptos"/>
              </a:rPr>
              <a:t>Code is open-source and available: 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GitHub Repository:</a:t>
            </a:r>
            <a:r>
              <a:rPr sz="2000"/>
              <a:t> </a:t>
            </a:r>
            <a:r>
              <a:rPr lang="en-US" sz="2000" b="0" u="sng" strike="noStrike">
                <a:solidFill>
                  <a:schemeClr val="hlink"/>
                </a:solidFill>
                <a:latin typeface="Aptos"/>
                <a:ea typeface="Aptos"/>
                <a:hlinkClick r:id="rId3" tooltip=""/>
              </a:rPr>
              <a:t>https://github.com/rusnikola/scot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Zenodo DOI:</a:t>
            </a:r>
            <a:r>
              <a:rPr sz="2000">
                <a:solidFill>
                  <a:schemeClr val="tx1"/>
                </a:solidFill>
              </a:rPr>
              <a:t> 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  <a:hlinkClick r:id="rId4" tooltip=""/>
              </a:rPr>
              <a:t>https://doi.org/10.5281/zenodo.17707898</a:t>
            </a:r>
            <a:br>
              <a:rPr sz="2000">
                <a:solidFill>
                  <a:schemeClr val="tx1"/>
                </a:solidFill>
              </a:rPr>
            </a:b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 </a:t>
            </a:r>
            <a:endParaRPr sz="2000" b="0" u="none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2036406828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8176089" y="2940216"/>
            <a:ext cx="3447367" cy="3447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48862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39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Code Availability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715153869" name="PlaceHolder 2"/>
          <p:cNvSpPr>
            <a:spLocks noGrp="1"/>
          </p:cNvSpPr>
          <p:nvPr>
            <p:ph/>
          </p:nvPr>
        </p:nvSpPr>
        <p:spPr bwMode="auto">
          <a:xfrm flipH="0" flipV="0">
            <a:off x="838080" y="1825559"/>
            <a:ext cx="9512640" cy="194684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Aptos"/>
                <a:ea typeface="Aptos"/>
              </a:rPr>
              <a:t>Code is open-source and available: 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GitHub Repository:</a:t>
            </a:r>
            <a:r>
              <a:rPr sz="2000"/>
              <a:t> </a:t>
            </a:r>
            <a:r>
              <a:rPr lang="en-US" sz="2000" b="0" u="sng" strike="noStrike">
                <a:solidFill>
                  <a:schemeClr val="hlink"/>
                </a:solidFill>
                <a:latin typeface="Aptos"/>
                <a:ea typeface="Aptos"/>
                <a:hlinkClick r:id="rId3" tooltip=""/>
              </a:rPr>
              <a:t>https://github.com/rusnikola/scot</a:t>
            </a:r>
            <a:br>
              <a:rPr sz="2000"/>
            </a:br>
            <a:br>
              <a:rPr sz="2000"/>
            </a:br>
            <a:r>
              <a:rPr lang="en-US" sz="2000" b="0" i="0" u="none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</a:rPr>
              <a:t>Zenodo DOI:</a:t>
            </a:r>
            <a:r>
              <a:rPr sz="2000">
                <a:solidFill>
                  <a:schemeClr val="tx1"/>
                </a:solidFill>
              </a:rPr>
              <a:t> 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Aptos"/>
                <a:ea typeface="Aptos"/>
                <a:cs typeface="Aptos"/>
                <a:hlinkClick r:id="rId4" tooltip=""/>
              </a:rPr>
              <a:t>https://doi.org/10.5281/zenodo.17707898</a:t>
            </a:r>
            <a:br>
              <a:rPr sz="2000">
                <a:solidFill>
                  <a:schemeClr val="tx1"/>
                </a:solidFill>
              </a:rPr>
            </a:br>
            <a:r>
              <a:rPr lang="en-US" sz="2000" b="0" u="none" strike="noStrike">
                <a:solidFill>
                  <a:schemeClr val="dk1"/>
                </a:solidFill>
                <a:latin typeface="Aptos"/>
              </a:rPr>
              <a:t> </a:t>
            </a:r>
            <a:endParaRPr sz="2000" b="0" u="none" strike="noStrike">
              <a:solidFill>
                <a:schemeClr val="dk1"/>
              </a:solidFill>
              <a:latin typeface="Aptos"/>
            </a:endParaRPr>
          </a:p>
        </p:txBody>
      </p:sp>
      <p:pic>
        <p:nvPicPr>
          <p:cNvPr id="180968043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905952" y="3266072"/>
            <a:ext cx="3447366" cy="3447366"/>
          </a:xfrm>
          <a:prstGeom prst="rect">
            <a:avLst/>
          </a:prstGeom>
        </p:spPr>
      </p:pic>
      <p:graphicFrame>
        <p:nvGraphicFramePr>
          <p:cNvPr id="1968220662" name="Diagram1"/>
          <p:cNvGraphicFramePr>
            <a:graphicFrameLocks xmlns:a="http://schemas.openxmlformats.org/drawingml/2006/main"/>
          </p:cNvGraphicFramePr>
          <p:nvPr/>
        </p:nvGraphicFramePr>
        <p:xfrm rot="0">
          <a:off x="-1158447" y="3728627"/>
          <a:ext cx="8922240" cy="2868840"/>
          <a:chOff x="0" y="0"/>
          <a:chExt cx="8922240" cy="2868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9" r:qs="rId10" r:cs="rId8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359339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838080" y="365040"/>
            <a:ext cx="11301069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Harris vs. Harris-Michael list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 </a:t>
            </a:r>
            <a:b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</a:b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Avg. Number of Not-Yet-Reclaimed Objects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392571177" name=""/>
          <p:cNvSpPr/>
          <p:nvPr/>
        </p:nvSpPr>
        <p:spPr bwMode="auto">
          <a:xfrm>
            <a:off x="8836200" y="1491480"/>
            <a:ext cx="2873519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295313" name=""/>
          <p:cNvSpPr txBox="1"/>
          <p:nvPr/>
        </p:nvSpPr>
        <p:spPr bwMode="auto">
          <a:xfrm rot="0" flipH="0" flipV="0">
            <a:off x="1880575" y="5370345"/>
            <a:ext cx="2717534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Key Range = 512 </a:t>
            </a:r>
            <a:endParaRPr sz="2400"/>
          </a:p>
        </p:txBody>
      </p:sp>
      <p:sp>
        <p:nvSpPr>
          <p:cNvPr id="512493589" name=""/>
          <p:cNvSpPr txBox="1"/>
          <p:nvPr/>
        </p:nvSpPr>
        <p:spPr bwMode="auto">
          <a:xfrm rot="0" flipH="0" flipV="0">
            <a:off x="7826582" y="5370345"/>
            <a:ext cx="3223245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 Key Range =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10,000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757666134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282444" y="2130294"/>
            <a:ext cx="5813554" cy="3072525"/>
          </a:xfrm>
          <a:prstGeom prst="rect">
            <a:avLst/>
          </a:prstGeom>
        </p:spPr>
      </p:pic>
      <p:pic>
        <p:nvPicPr>
          <p:cNvPr id="13487982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248289" y="2112536"/>
            <a:ext cx="5834062" cy="3074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285242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838080" y="365040"/>
            <a:ext cx="11062544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The Natarajan-Mittal tree</a:t>
            </a:r>
            <a:r>
              <a:rPr lang="en-US" sz="4400" b="0" u="none" strike="noStrike">
                <a:solidFill>
                  <a:schemeClr val="dk1"/>
                </a:solidFill>
                <a:latin typeface="Aptos"/>
              </a:rPr>
              <a:t> </a:t>
            </a:r>
            <a:b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</a:b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Avg. Number of Not-Yet-Reclaimed Objects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1000559744" name=""/>
          <p:cNvSpPr/>
          <p:nvPr/>
        </p:nvSpPr>
        <p:spPr bwMode="auto">
          <a:xfrm>
            <a:off x="8335080" y="1491480"/>
            <a:ext cx="3399120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299838" name=""/>
          <p:cNvSpPr txBox="1"/>
          <p:nvPr/>
        </p:nvSpPr>
        <p:spPr bwMode="auto">
          <a:xfrm rot="0" flipH="0" flipV="0">
            <a:off x="1893108" y="5559591"/>
            <a:ext cx="2802541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(a)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 128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sp>
        <p:nvSpPr>
          <p:cNvPr id="1584909061" name=""/>
          <p:cNvSpPr txBox="1"/>
          <p:nvPr/>
        </p:nvSpPr>
        <p:spPr bwMode="auto">
          <a:xfrm rot="0" flipH="0" flipV="0">
            <a:off x="7620641" y="5559591"/>
            <a:ext cx="3437973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(b)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Key Range = 100,000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1025433648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332763" y="2154019"/>
            <a:ext cx="5821529" cy="3084084"/>
          </a:xfrm>
          <a:prstGeom prst="rect">
            <a:avLst/>
          </a:prstGeom>
        </p:spPr>
      </p:pic>
      <p:pic>
        <p:nvPicPr>
          <p:cNvPr id="1974020696" name="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 flipH="0" flipV="0">
            <a:off x="6369352" y="2324851"/>
            <a:ext cx="5845404" cy="30893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54461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838080" y="365040"/>
            <a:ext cx="11075077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en-US" sz="4400" b="0" u="none" strike="noStrike">
                <a:solidFill>
                  <a:schemeClr val="dk1"/>
                </a:solidFill>
                <a:latin typeface="Aptos Display"/>
                <a:ea typeface="Aptos Display"/>
              </a:rPr>
              <a:t>Evaluation: The  Natarajan-Mittal tree</a:t>
            </a:r>
            <a:r>
              <a:rPr lang="en-US" sz="4400" b="0" u="none" strike="noStrike">
                <a:solidFill>
                  <a:schemeClr val="dk1"/>
                </a:solidFill>
                <a:latin typeface="Aptos"/>
              </a:rPr>
              <a:t> </a:t>
            </a:r>
            <a:b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</a:b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(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Avg. Number of Not-Yet-Reclaimed Objects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Aptos"/>
                <a:ea typeface="Aptos Display"/>
                <a:cs typeface="Aptos Display"/>
              </a:rPr>
              <a:t>)</a:t>
            </a:r>
            <a:endParaRPr lang="en-US" sz="4400" b="0" u="none" strike="noStrike">
              <a:solidFill>
                <a:schemeClr val="dk1"/>
              </a:solidFill>
              <a:latin typeface="Aptos"/>
            </a:endParaRPr>
          </a:p>
        </p:txBody>
      </p:sp>
      <p:sp>
        <p:nvSpPr>
          <p:cNvPr id="9651257" name=""/>
          <p:cNvSpPr/>
          <p:nvPr/>
        </p:nvSpPr>
        <p:spPr bwMode="auto">
          <a:xfrm>
            <a:off x="8335080" y="1491480"/>
            <a:ext cx="3399120" cy="48803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058842" name=""/>
          <p:cNvSpPr txBox="1"/>
          <p:nvPr/>
        </p:nvSpPr>
        <p:spPr bwMode="auto">
          <a:xfrm rot="0" flipH="0" flipV="0">
            <a:off x="1893108" y="5330811"/>
            <a:ext cx="280290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 sz="2400"/>
          </a:p>
        </p:txBody>
      </p:sp>
      <p:sp>
        <p:nvSpPr>
          <p:cNvPr id="1493052115" name=""/>
          <p:cNvSpPr txBox="1"/>
          <p:nvPr/>
        </p:nvSpPr>
        <p:spPr bwMode="auto">
          <a:xfrm rot="0" flipH="0" flipV="0">
            <a:off x="3720967" y="6045186"/>
            <a:ext cx="4749460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(c)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Key Range = 50,000,000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ptos"/>
                <a:ea typeface="Aptos"/>
                <a:cs typeface="Aptos"/>
              </a:rPr>
              <a:t> </a:t>
            </a:r>
            <a:endParaRPr sz="2400"/>
          </a:p>
        </p:txBody>
      </p:sp>
      <p:pic>
        <p:nvPicPr>
          <p:cNvPr id="1764732395" name="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flipH="0" flipV="0">
            <a:off x="1682915" y="1940271"/>
            <a:ext cx="7404072" cy="3848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41</Slides>
  <Notes>41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24</cp:revision>
  <dcterms:created xsi:type="dcterms:W3CDTF">2025-05-29T15:53:53Z</dcterms:created>
  <dcterms:modified xsi:type="dcterms:W3CDTF">2026-02-01T21:04:54Z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32</vt:i4>
  </property>
  <property fmtid="{D5CDD505-2E9C-101B-9397-08002B2CF9AE}" pid="4" name="PresentationFormat">
    <vt:lpwstr>On-screen Show (4:3)</vt:lpwstr>
  </property>
  <property fmtid="{D5CDD505-2E9C-101B-9397-08002B2CF9AE}" pid="5" name="Slides">
    <vt:i4>32</vt:i4>
  </property>
</Properties>
</file>