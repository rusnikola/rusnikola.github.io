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1.xml" ContentType="application/vnd.openxmlformats-officedocument.presentationml.slideLayout+xml"/>
  <Override PartName="/ppt/diagrams/quickStyle1.xml" ContentType="application/vnd.openxmlformats-officedocument.drawingml.diagramQuickStyl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diagrams/data1.xml" ContentType="application/vnd.openxmlformats-officedocument.drawingml.diagramData+xml"/>
  <Override PartName="/ppt/notesSlides/notesSlide40.xml" ContentType="application/vnd.openxmlformats-officedocument.presentationml.notesSlide+xml"/>
  <Override PartName="/ppt/diagrams/drawing1.xml" ContentType="application/vnd.openxmlformats-officedocument.drawingml.diagramDrawing+xml"/>
  <Override PartName="/ppt/slides/slide32.xml" ContentType="application/vnd.openxmlformats-officedocument.presentationml.slide+xml"/>
  <Override PartName="/ppt/diagrams/layout1.xml" ContentType="application/vnd.openxmlformats-officedocument.drawingml.diagramLayout+xml"/>
  <Override PartName="/ppt/notesSlides/notesSlide26.xml" ContentType="application/vnd.openxmlformats-officedocument.presentationml.notes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ustom.xml" ContentType="application/vnd.openxmlformats-officedocument.custom-properties+xml"/>
  <Override PartName="/ppt/notesSlides/notesSlide22.xml" ContentType="application/vnd.openxmlformats-officedocument.presentationml.notes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diagrams/colors1.xml" ContentType="application/vnd.openxmlformats-officedocument.drawingml.diagramColors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4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115116320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 /><Relationship Id="rId46" Type="http://schemas.openxmlformats.org/officeDocument/2006/relationships/tableStyles" Target="tableStyles.xml" /><Relationship Id="rId47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/Relationships>
</file>

<file path=ppt/diagrams/_rels/drawing1.xml.rels><?xml version="1.0" encoding="UTF-8" standalone="yes"?>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bg1"/>
    </dgm:fillClrLst>
    <dgm:linClrLst hueDir="cw" meth="repeat">
      <a:schemeClr val="lt1">
        <a:alpha val="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1">
        <a:tint val="50000"/>
      </a:schemeClr>
      <a:schemeClr val="accent2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1">
        <a:tint val="50000"/>
      </a:schemeClr>
      <a:schemeClr val="accent2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cycle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cycle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cycle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3">
        <a:tint val="9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4">
        <a:tint val="7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5">
        <a:tint val="5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repeat">
      <a:schemeClr val="lt1">
        <a:alpha val="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dkBgShp">
    <dgm:fillClrLst hueDir="cw" meth="repeat">
      <a:schemeClr val="accent2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accent2">
        <a:alpha val="0"/>
      </a:schemeClr>
    </dgm:fillClrLst>
    <dgm:linClrLst hueDir="cw" meth="repeat">
      <a:schemeClr val="accent2">
        <a:alpha val="0"/>
      </a:schemeClr>
    </dgm:linClrLst>
    <dgm:effectClrLst hueDir="cw" meth="span"/>
    <dgm:txLinClrLst hueDir="cw" meth="span"/>
    <dgm:txFillClrLst hueDir="cw" meth="repeat">
      <a:schemeClr val="accent2"/>
      <a:schemeClr val="accent3"/>
      <a:schemeClr val="accent4"/>
      <a:schemeClr val="accent5"/>
      <a:schemeClr val="accent6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3BCEAEB-17C8-40C0-938D-A23991BBE45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EBD9625F-5264-483A-A314-DC54699AED80}" type="node">
      <dgm:prSet/>
      <dgm:spPr bwMode="auto"/>
      <dgm:t>
        <a:bodyPr vert="horz" anchor="t"/>
        <a:lstStyle/>
        <a:p>
          <a:pPr marL="0" indent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en-US"/>
            <a:t>Thank You!</a:t>
          </a:r>
          <a:endParaRPr/>
        </a:p>
      </dgm:t>
    </dgm:pt>
    <dgm:pt modelId="{1D738220-65ED-4448-82EC-3AD64629C7EB}" type="parTrans" cxnId="{D0EDDB22-8433-4394-A825-363D574F38B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0C86F2E-DB15-4424-A7F5-869ACB1B2615}" type="sibTrans" cxnId="{D0EDDB22-8433-4394-A825-363D574F38B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77625F6-D15C-4304-B323-C81716D083F5}" type="node">
      <dgm:prSet/>
      <dgm:spPr bwMode="auto"/>
      <dgm:t>
        <a:bodyPr vert="horz" anchor="t"/>
        <a:lstStyle/>
        <a:p>
          <a:pPr marL="0" indent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en-US"/>
            <a:t>Questions?</a:t>
          </a:r>
          <a:endParaRPr/>
        </a:p>
      </dgm:t>
    </dgm:pt>
    <dgm:pt modelId="{E26607BA-E591-487B-9CBC-2691F2CCD2D3}" type="parTrans" cxnId="{FCCBBB86-63F7-4483-8285-A51DF0C0BE8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BE4701C-AD7B-42BB-BA08-F4A8565C5B4D}" type="sibTrans" cxnId="{FCCBBB86-63F7-4483-8285-A51DF0C0BE8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E7D6B7F-1268-40E2-82BF-BA82CF15F172}" type="pres">
      <dgm:prSet presAssocID="{93BCEAEB-17C8-40C0-938D-A23991BBE45C}" presName="root" presStyleCnt="0">
        <dgm:presLayoutVars>
          <dgm:dir val="norm"/>
          <dgm:resizeHandles val="exact"/>
        </dgm:presLayoutVars>
      </dgm:prSet>
      <dgm:spPr bwMode="auto"/>
    </dgm:pt>
    <dgm:pt modelId="{27490C54-FD3D-4594-A9D2-11B375C849BD}" type="pres">
      <dgm:prSet presAssocID="{EBD9625F-5264-483A-A314-DC54699AED80}" presName="compNode" presStyleCnt="0"/>
      <dgm:spPr bwMode="auto"/>
    </dgm:pt>
    <dgm:pt modelId="{02AEA1C4-7EB4-4EF3-8F1F-A744BB143D36}" type="pres">
      <dgm:prSet presAssocID="{EBD9625F-5264-483A-A314-DC54699AED80}" presName="iconBgRect" presStyleLbl="bgShp" presStyleIdx="0" presStyleCnt="2"/>
      <dgm:spPr bwMode="auto">
        <a:solidFill>
          <a:schemeClr val="accent2">
            <a:lumMod val="40000"/>
            <a:lumOff val="60000"/>
          </a:schemeClr>
        </a:solidFill>
      </dgm:spPr>
    </dgm:pt>
    <dgm:pt modelId="{9CD84287-164A-4FD0-A7C8-903FCF0942C1}" type="pres">
      <dgm:prSet presAssocID="{EBD9625F-5264-483A-A314-DC54699AED80}" presName="iconRect" presStyleLbl="node1" presStyleIdx="0" presStyleCnt="2"/>
      <dgm:spPr bwMode="auto">
        <a:blipFill rotWithShape="1">
          <a:blip r:embed="rId1"/>
          <a:stretch/>
        </a:blipFill>
        <a:ln w="19050" cap="flat" cmpd="sng" algn="ctr">
          <a:noFill/>
          <a:prstDash val="solid"/>
          <a:miter lim="800000"/>
        </a:ln>
        <a:effectLst/>
      </dgm:spPr>
    </dgm:pt>
    <dgm:pt modelId="{F0B2E262-E1E0-48AF-B22A-3CAC82DA9FCF}" type="pres">
      <dgm:prSet presAssocID="{EBD9625F-5264-483A-A314-DC54699AED80}" presName="spaceRect" presStyleCnt="0"/>
      <dgm:spPr bwMode="auto"/>
    </dgm:pt>
    <dgm:pt modelId="{AFC032F2-6602-4F1E-9CB1-309B6906AE43}" type="pres">
      <dgm:prSet presAssocID="{EBD9625F-5264-483A-A314-DC54699AED80}" presName="textRect" presStyleLbl="revTx" presStyleIdx="0" presStyleCnt="2">
        <dgm:presLayoutVars>
          <dgm:chMax val="1"/>
          <dgm:chPref val="1"/>
        </dgm:presLayoutVars>
      </dgm:prSet>
      <dgm:spPr bwMode="auto"/>
    </dgm:pt>
    <dgm:pt modelId="{7945D099-6937-4E68-A01A-3D8C1FF819F2}" type="pres">
      <dgm:prSet presAssocID="{30C86F2E-DB15-4424-A7F5-869ACB1B2615}" presName="sibTrans" presStyleCnt="0"/>
      <dgm:spPr bwMode="auto"/>
    </dgm:pt>
    <dgm:pt modelId="{2C47D29D-F022-453C-BD53-7D4F1A5EAC74}" type="pres">
      <dgm:prSet presAssocID="{877625F6-D15C-4304-B323-C81716D083F5}" presName="compNode" presStyleCnt="0"/>
      <dgm:spPr bwMode="auto"/>
    </dgm:pt>
    <dgm:pt modelId="{FA5782E3-FAD1-4CDD-85F7-E0A855FC6E19}" type="pres">
      <dgm:prSet presAssocID="{877625F6-D15C-4304-B323-C81716D083F5}" presName="iconBgRect" presStyleLbl="bgShp" presStyleIdx="1" presStyleCnt="2"/>
      <dgm:spPr bwMode="auto">
        <a:solidFill>
          <a:schemeClr val="accent1">
            <a:lumMod val="40000"/>
            <a:lumOff val="60000"/>
          </a:schemeClr>
        </a:solidFill>
      </dgm:spPr>
    </dgm:pt>
    <dgm:pt modelId="{1DEACDB4-5AAB-4336-8A3D-82E358E4B420}" type="pres">
      <dgm:prSet presAssocID="{877625F6-D15C-4304-B323-C81716D083F5}" presName="iconRect" presStyleLbl="node1" presStyleIdx="1" presStyleCnt="2"/>
      <dgm:spPr bwMode="auto">
        <a:blipFill rotWithShape="1">
          <a:blip r:embed="rId2"/>
          <a:stretch/>
        </a:blipFill>
        <a:ln>
          <a:noFill/>
        </a:ln>
      </dgm:spPr>
    </dgm:pt>
    <dgm:pt modelId="{3DD370C4-4E46-4D7F-882C-F33DDA2ACD42}" type="pres">
      <dgm:prSet presAssocID="{877625F6-D15C-4304-B323-C81716D083F5}" presName="spaceRect" presStyleCnt="0"/>
      <dgm:spPr bwMode="auto"/>
    </dgm:pt>
    <dgm:pt modelId="{D144BA79-E794-47A8-A6F2-C6F059308834}" type="pres">
      <dgm:prSet presAssocID="{877625F6-D15C-4304-B323-C81716D083F5}" presName="textRect" presStyleLbl="revTx" presStyleIdx="1" presStyleCnt="2">
        <dgm:presLayoutVars>
          <dgm:chMax val="1"/>
          <dgm:chPref val="1"/>
        </dgm:presLayoutVars>
      </dgm:prSet>
      <dgm:spPr bwMode="auto"/>
    </dgm:pt>
  </dgm:ptLst>
  <dgm:cxnLst>
    <dgm:cxn modelId="{D0EDDB22-8433-4394-A825-363D574F38BD}" type="parOf" srcId="{93BCEAEB-17C8-40C0-938D-A23991BBE45C}" destId="{EBD9625F-5264-483A-A314-DC54699AED80}" srcOrd="0" destOrd="0" parTransId="{1D738220-65ED-4448-82EC-3AD64629C7EB}" sibTransId="{30C86F2E-DB15-4424-A7F5-869ACB1B2615}"/>
    <dgm:cxn modelId="{39228181-D734-4AEB-AC55-D3D6C493F790}" type="presOf" srcId="{EBD9625F-5264-483A-A314-DC54699AED80}" destId="{AFC032F2-6602-4F1E-9CB1-309B6906AE43}" srcOrd="0" destOrd="0" presId="urn:microsoft.com/office/officeart/2018/5/layout/IconCircleLabelList"/>
    <dgm:cxn modelId="{FCCBBB86-63F7-4483-8285-A51DF0C0BE80}" type="parOf" srcId="{93BCEAEB-17C8-40C0-938D-A23991BBE45C}" destId="{877625F6-D15C-4304-B323-C81716D083F5}" srcOrd="1" destOrd="0" parTransId="{E26607BA-E591-487B-9CBC-2691F2CCD2D3}" sibTransId="{4BE4701C-AD7B-42BB-BA08-F4A8565C5B4D}"/>
    <dgm:cxn modelId="{7D9CBDB9-5CA5-4310-B307-DC0B9D295376}" type="presOf" srcId="{877625F6-D15C-4304-B323-C81716D083F5}" destId="{D144BA79-E794-47A8-A6F2-C6F059308834}" srcOrd="0" destOrd="0" presId="urn:microsoft.com/office/officeart/2018/5/layout/IconCircleLabelList"/>
    <dgm:cxn modelId="{C82586D6-9CFF-4024-9944-C25DFC92B0A0}" type="presOf" srcId="{93BCEAEB-17C8-40C0-938D-A23991BBE45C}" destId="{6E7D6B7F-1268-40E2-82BF-BA82CF15F172}" srcOrd="0" destOrd="0" presId="urn:microsoft.com/office/officeart/2018/5/layout/IconCircleLabelList"/>
    <dgm:cxn modelId="{ED450CF6-EF13-4680-822D-631E4F523714}" type="presParOf" srcId="{6E7D6B7F-1268-40E2-82BF-BA82CF15F172}" destId="{27490C54-FD3D-4594-A9D2-11B375C849BD}" srcOrd="0" destOrd="0" presId="urn:microsoft.com/office/officeart/2018/5/layout/IconCircleLabelList"/>
    <dgm:cxn modelId="{BE7FCC9A-58BC-49F7-A121-AC04EBE08666}" type="presParOf" srcId="{27490C54-FD3D-4594-A9D2-11B375C849BD}" destId="{02AEA1C4-7EB4-4EF3-8F1F-A744BB143D36}" srcOrd="0" destOrd="0" presId="urn:microsoft.com/office/officeart/2018/5/layout/IconCircleLabelList"/>
    <dgm:cxn modelId="{8B952BC4-BC38-4204-8B2A-434B7DD97099}" type="presParOf" srcId="{27490C54-FD3D-4594-A9D2-11B375C849BD}" destId="{9CD84287-164A-4FD0-A7C8-903FCF0942C1}" srcOrd="1" destOrd="0" presId="urn:microsoft.com/office/officeart/2018/5/layout/IconCircleLabelList"/>
    <dgm:cxn modelId="{7277D0D1-196E-4A14-8D10-7FE5FD75C90C}" type="presParOf" srcId="{27490C54-FD3D-4594-A9D2-11B375C849BD}" destId="{F0B2E262-E1E0-48AF-B22A-3CAC82DA9FCF}" srcOrd="2" destOrd="0" presId="urn:microsoft.com/office/officeart/2018/5/layout/IconCircleLabelList"/>
    <dgm:cxn modelId="{57F04FB5-10D9-426F-B0B8-7175A2962C4D}" type="presParOf" srcId="{27490C54-FD3D-4594-A9D2-11B375C849BD}" destId="{AFC032F2-6602-4F1E-9CB1-309B6906AE43}" srcOrd="3" destOrd="0" presId="urn:microsoft.com/office/officeart/2018/5/layout/IconCircleLabelList"/>
    <dgm:cxn modelId="{A5BD66A2-E7FF-4DD0-A037-A0E53E0EFC26}" type="presParOf" srcId="{6E7D6B7F-1268-40E2-82BF-BA82CF15F172}" destId="{7945D099-6937-4E68-A01A-3D8C1FF819F2}" srcOrd="1" destOrd="0" presId="urn:microsoft.com/office/officeart/2018/5/layout/IconCircleLabelList"/>
    <dgm:cxn modelId="{F55A8540-F6C4-4766-A755-E20E25093424}" type="presParOf" srcId="{6E7D6B7F-1268-40E2-82BF-BA82CF15F172}" destId="{2C47D29D-F022-453C-BD53-7D4F1A5EAC74}" srcOrd="2" destOrd="0" presId="urn:microsoft.com/office/officeart/2018/5/layout/IconCircleLabelList"/>
    <dgm:cxn modelId="{9A243E6C-8F29-4EE4-94AC-2A96CA1E35D2}" type="presParOf" srcId="{2C47D29D-F022-453C-BD53-7D4F1A5EAC74}" destId="{FA5782E3-FAD1-4CDD-85F7-E0A855FC6E19}" srcOrd="0" destOrd="0" presId="urn:microsoft.com/office/officeart/2018/5/layout/IconCircleLabelList"/>
    <dgm:cxn modelId="{CC3169A6-F1DE-4D00-BC5E-38F68B037360}" type="presParOf" srcId="{2C47D29D-F022-453C-BD53-7D4F1A5EAC74}" destId="{1DEACDB4-5AAB-4336-8A3D-82E358E4B420}" srcOrd="1" destOrd="0" presId="urn:microsoft.com/office/officeart/2018/5/layout/IconCircleLabelList"/>
    <dgm:cxn modelId="{9763F37F-A555-4BF2-9051-CE29A5081323}" type="presParOf" srcId="{2C47D29D-F022-453C-BD53-7D4F1A5EAC74}" destId="{3DD370C4-4E46-4D7F-882C-F33DDA2ACD42}" srcOrd="2" destOrd="0" presId="urn:microsoft.com/office/officeart/2018/5/layout/IconCircleLabelList"/>
    <dgm:cxn modelId="{A2C30BE3-EF25-40EA-94EE-1B0CA4F42540}" type="presParOf" srcId="{2C47D29D-F022-453C-BD53-7D4F1A5EAC74}" destId="{D144BA79-E794-47A8-A6F2-C6F05930883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304050383" name=""/>
      <dsp:cNvGrpSpPr/>
    </dsp:nvGrpSpPr>
    <dsp:grpSpPr bwMode="auto">
      <a:xfrm rot="0">
        <a:off x="0" y="0"/>
        <a:ext cx="8922240" cy="2868840"/>
        <a:chOff x="0" y="0"/>
        <a:chExt cx="8922240" cy="2868840"/>
      </a:xfrm>
    </dsp:grpSpPr>
    <dsp:sp modelId="{02AEA1C4-7EB4-4EF3-8F1F-A744BB143D36}">
      <dsp:nvSpPr>
        <dsp:cNvPr id="61268282" name=""/>
        <dsp:cNvSpPr/>
      </dsp:nvSpPr>
      <dsp:spPr bwMode="auto">
        <a:xfrm>
          <a:off x="2101734" y="17163"/>
          <a:ext cx="1612685" cy="1612685"/>
        </a:xfrm>
        <a:prstGeom prst="ellipse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CD84287-164A-4FD0-A7C8-903FCF0942C1}">
      <dsp:nvSpPr>
        <dsp:cNvPr id="1597987003" name=""/>
        <dsp:cNvSpPr/>
      </dsp:nvSpPr>
      <dsp:spPr bwMode="auto">
        <a:xfrm>
          <a:off x="2445421" y="360851"/>
          <a:ext cx="925309" cy="925309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FC032F2-6602-4F1E-9CB1-309B6906AE43}">
      <dsp:nvSpPr>
        <dsp:cNvPr id="98331989" name=""/>
        <dsp:cNvSpPr/>
      </dsp:nvSpPr>
      <dsp:spPr bwMode="auto">
        <a:xfrm>
          <a:off x="1586202" y="2132164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67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cap="all"/>
          </a:pPr>
          <a:r>
            <a:rPr lang="en-US" sz="3600"/>
            <a:t>Thank You!</a:t>
          </a:r>
          <a:endParaRPr/>
        </a:p>
      </dsp:txBody>
      <dsp:txXfrm>
        <a:off x="1586202" y="2132164"/>
        <a:ext cx="2643750" cy="720000"/>
      </dsp:txXfrm>
    </dsp:sp>
    <dsp:sp modelId="{FA5782E3-FAD1-4CDD-85F7-E0A855FC6E19}">
      <dsp:nvSpPr>
        <dsp:cNvPr id="427485407" name=""/>
        <dsp:cNvSpPr/>
      </dsp:nvSpPr>
      <dsp:spPr bwMode="auto">
        <a:xfrm>
          <a:off x="5208140" y="17163"/>
          <a:ext cx="1612685" cy="1612685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1DEACDB4-5AAB-4336-8A3D-82E358E4B420}">
      <dsp:nvSpPr>
        <dsp:cNvPr id="444977227" name=""/>
        <dsp:cNvSpPr/>
      </dsp:nvSpPr>
      <dsp:spPr bwMode="auto">
        <a:xfrm>
          <a:off x="5551827" y="360851"/>
          <a:ext cx="925309" cy="925309"/>
        </a:xfrm>
        <a:prstGeom prst="rect">
          <a:avLst/>
        </a:prstGeom>
        <a:blipFill rotWithShape="1">
          <a:blip r:embed="rId2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D144BA79-E794-47A8-A6F2-C6F059308834}">
      <dsp:nvSpPr>
        <dsp:cNvPr id="879370138" name=""/>
        <dsp:cNvSpPr/>
      </dsp:nvSpPr>
      <dsp:spPr bwMode="auto">
        <a:xfrm>
          <a:off x="4692609" y="2132164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67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cap="all"/>
          </a:pPr>
          <a:r>
            <a:rPr lang="en-US" sz="3600"/>
            <a:t>Questions?</a:t>
          </a:r>
          <a:endParaRPr/>
        </a:p>
      </dsp:txBody>
      <dsp:txXfrm>
        <a:off x="4692609" y="2132164"/>
        <a:ext cx="264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w" for="ch" forName="compNode" ptType="all" val="5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choose name="Name3">
      <dgm:if name="Name4" axis="ch" ptType="node" func="cnt" arg="none" op="lte" val="2">
        <dgm:constrLst>
          <dgm:constr type="h" for="ch" forName="compNode" ptType="all" refPtType="all" refType="h" refFor="self" op="none" fact="0.400000" val="0"/>
          <dgm:constr type="w" for="ch" forName="compNode" ptType="all" refPtType="all" refType="none" refFor="self" op="none" fact="1.000000" val="100"/>
          <dgm:constr type="w" for="ch" forName="sibTrans" ptType="all" refPtType="all" refType="w" refFor="ch" refForName="compNode" op="none" fact="0.175000" val="0"/>
          <dgm:constr type="sp" for="self" ptType="all" refPtType="all" refType="w" refFor="ch" refForName="compNode" op="equ" fact="0.250000" val="0"/>
          <dgm:constr type="primFontSz" for="des" ptType="node" refPtType="all" refType="none" refFor="self" op="equ" fact="1.000000" val="44"/>
          <dgm:constr type="h" for="des" forName="compNode" ptType="all" refPtType="all" refType="none" refFor="self" op="equ" fact="1.000000" val="0"/>
          <dgm:constr type="h" for="des" forName="textRect" ptType="all" refPtType="all" refType="none" refFor="self" op="equ" fact="1.000000" val="0"/>
        </dgm:constrLst>
      </dgm:if>
      <dgm:if name="Name5" axis="ch" ptType="node" func="cnt" arg="none" op="lte" val="3">
        <dgm:constrLst>
          <dgm:constr type="h" for="ch" forName="compNode" ptType="all" refPtType="all" refType="h" refFor="self" op="none" fact="0.400000" val="0"/>
          <dgm:constr type="w" for="ch" forName="compNode" ptType="all" refPtType="all" refType="none" refFor="self" op="none" fact="1.000000" val="100"/>
          <dgm:constr type="w" for="ch" forName="sibTrans" ptType="all" refPtType="all" refType="w" refFor="ch" refForName="compNode" op="none" fact="0.175000" val="0"/>
          <dgm:constr type="sp" for="self" ptType="all" refPtType="all" refType="w" refFor="ch" refForName="compNode" op="equ" fact="0.250000" val="0"/>
          <dgm:constr type="primFontSz" for="des" ptType="node" refPtType="all" refType="none" refFor="self" op="equ" fact="1.000000" val="40"/>
          <dgm:constr type="h" for="des" forName="compNode" ptType="all" refPtType="all" refType="none" refFor="self" op="equ" fact="1.000000" val="0"/>
          <dgm:constr type="h" for="des" forName="textRect" ptType="all" refPtType="all" refType="none" refFor="self" op="equ" fact="1.000000" val="0"/>
        </dgm:constrLst>
      </dgm:if>
      <dgm:if name="Name6" axis="ch" ptType="node" func="cnt" arg="none" op="lte" val="4">
        <dgm:constrLst>
          <dgm:constr type="h" for="ch" forName="compNode" ptType="all" refPtType="all" refType="h" refFor="self" op="none" fact="0.400000" val="0"/>
          <dgm:constr type="w" for="ch" forName="compNode" ptType="all" refPtType="all" refType="w" refFor="self" op="none" fact="1.000000" val="0"/>
          <dgm:constr type="w" for="ch" forName="sibTrans" ptType="all" refPtType="all" refType="w" refFor="ch" refForName="compNode" op="none" fact="0.175000" val="0"/>
          <dgm:constr type="sp" for="self" ptType="all" refPtType="all" refType="w" refFor="ch" refForName="compNode" op="equ" fact="0.250000" val="0"/>
          <dgm:constr type="primFontSz" for="des" ptType="node" refPtType="all" refType="none" refFor="self" op="equ" fact="1.000000" val="32"/>
          <dgm:constr type="h" for="des" forName="compNode" ptType="all" refPtType="all" refType="none" refFor="self" op="equ" fact="1.000000" val="0"/>
          <dgm:constr type="h" for="des" forName="textRect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400000" val="0"/>
          <dgm:constr type="w" for="ch" forName="compNode" ptType="all" refPtType="all" refType="w" refFor="self" op="none" fact="1.000000" val="0"/>
          <dgm:constr type="w" for="ch" forName="sibTrans" ptType="all" refPtType="all" refType="w" refFor="ch" refForName="compNode" op="none" fact="0.175000" val="0"/>
          <dgm:constr type="sp" for="self" ptType="all" refPtType="all" refType="w" refFor="ch" refForName="compNode" op="equ" fact="0.250000" val="0"/>
          <dgm:constr type="primFontSz" for="des" ptType="node" refPtType="all" refType="none" refFor="self" op="equ" fact="1.000000" val="24"/>
          <dgm:constr type="h" for="des" forName="compNode" ptType="all" refPtType="all" refType="none" refFor="self" op="equ" fact="1.000000" val="0"/>
          <dgm:constr type="h" for="des" forName="textRect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constrLst>
          <dgm:constr type="w" for="ch" forName="iconBgRect" ptType="all" refPtType="all" refType="w" refFor="self" op="none" fact="0.610000" val="0"/>
          <dgm:constr type="h" for="ch" forName="iconBgRect" ptType="all" refPtType="all" refType="w" refFor="ch" refForName="iconBgRect" op="none" fact="1.000000" val="0"/>
          <dgm:constr type="t" for="ch" forName="iconBgRect" ptType="all" refPtType="all" refType="none" refFor="self" op="none" fact="1.000000" val="0"/>
          <dgm:constr type="ctrX" for="ch" forName="iconBgRect" ptType="all" refPtType="all" refType="w" refFor="self" op="none" fact="0.500000" val="0"/>
          <dgm:constr type="w" for="ch" forName="iconRect" ptType="all" refPtType="all" refType="w" refFor="self" op="none" fact="0.350000" val="0"/>
          <dgm:constr type="h" for="ch" forName="iconRect" ptType="all" refPtType="all" refType="w" refFor="ch" refForName="iconRect" op="none" fact="1.000000" val="0"/>
          <dgm:constr type="ctrX" for="ch" forName="iconRect" ptType="all" refPtType="all" refType="ctrX" refFor="ch" refForName="iconBgRect" op="none" fact="1.000000" val="0"/>
          <dgm:constr type="ctrY" for="ch" forName="iconRect" ptType="all" refPtType="all" refType="ctrY" refFor="ch" refForName="iconBgRect" op="none" fact="1.000000" val="0"/>
          <dgm:constr type="h" for="ch" forName="spaceRect" ptType="all" refPtType="all" refType="w" refFor="self" op="none" fact="0.190000" val="0"/>
          <dgm:constr type="w" for="ch" forName="spaceRect" ptType="all" refPtType="all" refType="w" refFor="self" op="none" fact="1.000000" val="0"/>
          <dgm:constr type="l" for="ch" forName="spaceRect" ptType="all" refPtType="all" refType="none" refFor="self" op="none" fact="1.000000" val="0"/>
          <dgm:constr type="t" for="ch" forName="spaceRect" ptType="all" refPtType="all" refType="b" refFor="ch" refForName="iconBgRect" op="none" fact="1.000000" val="0"/>
          <dgm:constr type="h" for="ch" forName="textRect" ptType="all" refPtType="all" refType="none" refFor="self" op="none" fact="1.000000" val="20"/>
          <dgm:constr type="w" for="ch" forName="textRect" ptType="all" refPtType="all" refType="w" refFor="self" op="none" fact="1.000000" val="0"/>
          <dgm:constr type="l" for="ch" forName="textRect" ptType="all" refPtType="all" refType="none" refFor="self" op="none" fact="1.000000" val="0"/>
          <dgm:constr type="t" for="ch" forName="textRect" ptType="all" refPtType="all" refType="b" refFor="ch" refForName="spaceRect" op="none" fact="1.000000" val="0"/>
        </dgm:constrLst>
        <dgm:ruleLst>
          <dgm:rule type="h" for="self" ptType="all" val="INF" fact="NaN" max="NaN"/>
        </dgm:ruleLst>
        <dgm:layoutNode name="iconBgRect" styleLbl="bgShp">
          <dgm:alg type="sp"/>
          <dgm:shape rot="0.000000" type="ellipse" r:blip="" blipPhldr="0" lkTxEntry="0" zOrderOff="0" hideGeom="0">
            <dgm:adjLst/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textRect" styleLbl="revTx">
          <dgm:alg type="tx">
            <dgm:param type="txAnchorVert" val="t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none" refFor="self" op="none" fact="1.000000" val="0"/>
            <dgm:constr type="rMarg" for="self" ptType="all" refPtType="all" refType="none" refFor="self" op="none" fact="1.000000" val="0"/>
            <dgm:constr type="tMarg" for="self" ptType="all" refPtType="all" refType="none" refFor="self" op="none" fact="1.000000" val="0"/>
            <dgm:constr type="bMarg" for="self" ptType="all" refPtType="all" refType="none" refFor="self" op="none" fact="1.000000" val="0"/>
          </dgm:constrLst>
          <dgm:ruleLst>
            <dgm:rule type="primFontSz" for="self" ptType="all" val="11" fact="NaN" max="NaN"/>
            <dgm:rule type="h" for="self" ptType="all" val="INF" fact="NaN" max="NaN"/>
          </dgm:ruleLst>
          <dgm:varLst>
            <dgm:chMax val="1"/>
            <dgm:chPref val="1"/>
          </dgm:varLst>
        </dgm:layoutNode>
      </dgm:layoutNode>
      <dgm:forEach name="Name9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669473" name="PlaceHolder 1"/>
          <p:cNvSpPr>
            <a:spLocks noGrp="1"/>
          </p:cNvSpPr>
          <p:nvPr>
            <p:ph type="sldImg"/>
          </p:nvPr>
        </p:nvSpPr>
        <p:spPr bwMode="auto"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6788830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72667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954938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0311840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153462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23DE52D5-E27B-4C1F-8690-C60C6EFE03B3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85243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945551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870212" name="PlaceHolder 3"/>
          <p:cNvSpPr>
            <a:spLocks noGrp="1"/>
          </p:cNvSpPr>
          <p:nvPr>
            <p:ph type="sldNum" idx="3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559763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5752119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87943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456026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979088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67957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757820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245058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847838" name="PlaceHolder 3"/>
          <p:cNvSpPr>
            <a:spLocks noGrp="1"/>
          </p:cNvSpPr>
          <p:nvPr>
            <p:ph type="sldNum" idx="4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53389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4805232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3634648" name="PlaceHolder 3"/>
          <p:cNvSpPr>
            <a:spLocks noGrp="1"/>
          </p:cNvSpPr>
          <p:nvPr>
            <p:ph type="sldNum" idx="4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23495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808225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156013" name="PlaceHolder 3"/>
          <p:cNvSpPr>
            <a:spLocks noGrp="1"/>
          </p:cNvSpPr>
          <p:nvPr>
            <p:ph type="sldNum" idx="4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954310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30769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100309" name="PlaceHolder 3"/>
          <p:cNvSpPr>
            <a:spLocks noGrp="1"/>
          </p:cNvSpPr>
          <p:nvPr>
            <p:ph type="sldNum" idx="4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534587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085403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738848" name="PlaceHolder 3"/>
          <p:cNvSpPr>
            <a:spLocks noGrp="1"/>
          </p:cNvSpPr>
          <p:nvPr>
            <p:ph type="sldNum" idx="4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02121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528168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562241" name="PlaceHolder 3"/>
          <p:cNvSpPr>
            <a:spLocks noGrp="1"/>
          </p:cNvSpPr>
          <p:nvPr>
            <p:ph type="sldNum" idx="4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2435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3988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696401" name="PlaceHolder 3"/>
          <p:cNvSpPr>
            <a:spLocks noGrp="1"/>
          </p:cNvSpPr>
          <p:nvPr>
            <p:ph type="sldNum" idx="4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63231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2650864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9174607" name="PlaceHolder 3"/>
          <p:cNvSpPr>
            <a:spLocks noGrp="1"/>
          </p:cNvSpPr>
          <p:nvPr>
            <p:ph type="sldNum" idx="4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560866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8558416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8328815" name="PlaceHolder 3"/>
          <p:cNvSpPr>
            <a:spLocks noGrp="1"/>
          </p:cNvSpPr>
          <p:nvPr>
            <p:ph type="sldNum" idx="4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07197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720053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676531" name="PlaceHolder 3"/>
          <p:cNvSpPr>
            <a:spLocks noGrp="1"/>
          </p:cNvSpPr>
          <p:nvPr>
            <p:ph type="sldNum" idx="4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582347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924407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471422" name="PlaceHolder 3"/>
          <p:cNvSpPr>
            <a:spLocks noGrp="1"/>
          </p:cNvSpPr>
          <p:nvPr>
            <p:ph type="sldNum" idx="5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41426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478944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982459" name="PlaceHolder 3"/>
          <p:cNvSpPr>
            <a:spLocks noGrp="1"/>
          </p:cNvSpPr>
          <p:nvPr>
            <p:ph type="sldNum" idx="5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83791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826087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722182" name="PlaceHolder 3"/>
          <p:cNvSpPr>
            <a:spLocks noGrp="1"/>
          </p:cNvSpPr>
          <p:nvPr>
            <p:ph type="sldNum" idx="5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828093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184932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070916" name="PlaceHolder 3"/>
          <p:cNvSpPr>
            <a:spLocks noGrp="1"/>
          </p:cNvSpPr>
          <p:nvPr>
            <p:ph type="sldNum" idx="5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00311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840199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4885783" name="PlaceHolder 3"/>
          <p:cNvSpPr>
            <a:spLocks noGrp="1"/>
          </p:cNvSpPr>
          <p:nvPr>
            <p:ph type="sldNum" idx="5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901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148502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640638" name="PlaceHolder 3"/>
          <p:cNvSpPr>
            <a:spLocks noGrp="1"/>
          </p:cNvSpPr>
          <p:nvPr>
            <p:ph type="sldNum" idx="5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42094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25581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242495" name="PlaceHolder 3"/>
          <p:cNvSpPr>
            <a:spLocks noGrp="1"/>
          </p:cNvSpPr>
          <p:nvPr>
            <p:ph type="sldNum" idx="5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35462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2946135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550583" name="PlaceHolder 3"/>
          <p:cNvSpPr>
            <a:spLocks noGrp="1"/>
          </p:cNvSpPr>
          <p:nvPr>
            <p:ph type="sldNum" idx="5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085817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1073904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863895" name="PlaceHolder 3"/>
          <p:cNvSpPr>
            <a:spLocks noGrp="1"/>
          </p:cNvSpPr>
          <p:nvPr>
            <p:ph type="sldNum" idx="5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130653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5517139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495252" name="PlaceHolder 3"/>
          <p:cNvSpPr>
            <a:spLocks noGrp="1"/>
          </p:cNvSpPr>
          <p:nvPr>
            <p:ph type="sldNum" idx="5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6213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8225116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781726" name="PlaceHolder 3"/>
          <p:cNvSpPr>
            <a:spLocks noGrp="1"/>
          </p:cNvSpPr>
          <p:nvPr>
            <p:ph type="sldNum" idx="6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11668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780335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3979431" name="PlaceHolder 3"/>
          <p:cNvSpPr>
            <a:spLocks noGrp="1"/>
          </p:cNvSpPr>
          <p:nvPr>
            <p:ph type="sldNum" idx="6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42813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441314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411049" name="PlaceHolder 3"/>
          <p:cNvSpPr>
            <a:spLocks noGrp="1"/>
          </p:cNvSpPr>
          <p:nvPr>
            <p:ph type="sldNum" idx="6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47103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13381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033253" name="PlaceHolder 3"/>
          <p:cNvSpPr>
            <a:spLocks noGrp="1"/>
          </p:cNvSpPr>
          <p:nvPr>
            <p:ph type="sldNum" idx="6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87580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216031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483403" name="PlaceHolder 3"/>
          <p:cNvSpPr>
            <a:spLocks noGrp="1"/>
          </p:cNvSpPr>
          <p:nvPr>
            <p:ph type="sldNum" idx="5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39971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679329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156354" name="PlaceHolder 3"/>
          <p:cNvSpPr>
            <a:spLocks noGrp="1"/>
          </p:cNvSpPr>
          <p:nvPr>
            <p:ph type="sldNum" idx="5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97307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128944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569532" name="PlaceHolder 3"/>
          <p:cNvSpPr>
            <a:spLocks noGrp="1"/>
          </p:cNvSpPr>
          <p:nvPr>
            <p:ph type="sldNum" idx="4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95258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382441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340493" name="PlaceHolder 3"/>
          <p:cNvSpPr>
            <a:spLocks noGrp="1"/>
          </p:cNvSpPr>
          <p:nvPr>
            <p:ph type="sldNum" idx="4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853206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825301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4126602" name="PlaceHolder 3"/>
          <p:cNvSpPr>
            <a:spLocks noGrp="1"/>
          </p:cNvSpPr>
          <p:nvPr>
            <p:ph type="sldNum" idx="4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417506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636123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299313" name="PlaceHolder 3"/>
          <p:cNvSpPr>
            <a:spLocks noGrp="1"/>
          </p:cNvSpPr>
          <p:nvPr>
            <p:ph type="sldNum" idx="6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89800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662375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335098" name="PlaceHolder 3"/>
          <p:cNvSpPr>
            <a:spLocks noGrp="1"/>
          </p:cNvSpPr>
          <p:nvPr>
            <p:ph type="sldNum" idx="6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614116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700353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976502" name="PlaceHolder 3"/>
          <p:cNvSpPr>
            <a:spLocks noGrp="1"/>
          </p:cNvSpPr>
          <p:nvPr>
            <p:ph type="sldNum" idx="6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89331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815519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27455" name="PlaceHolder 3"/>
          <p:cNvSpPr>
            <a:spLocks noGrp="1"/>
          </p:cNvSpPr>
          <p:nvPr>
            <p:ph type="sldNum" idx="6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664215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11103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808935" name="PlaceHolder 3"/>
          <p:cNvSpPr>
            <a:spLocks noGrp="1"/>
          </p:cNvSpPr>
          <p:nvPr>
            <p:ph type="sldNum" idx="6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68382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2736106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980638" name="PlaceHolder 3"/>
          <p:cNvSpPr>
            <a:spLocks noGrp="1"/>
          </p:cNvSpPr>
          <p:nvPr>
            <p:ph type="sldNum" idx="6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224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864810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7714341" name="PlaceHolder 3"/>
          <p:cNvSpPr>
            <a:spLocks noGrp="1"/>
          </p:cNvSpPr>
          <p:nvPr>
            <p:ph type="sldNum" idx="6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226023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3944165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4318" name="PlaceHolder 3"/>
          <p:cNvSpPr>
            <a:spLocks noGrp="1"/>
          </p:cNvSpPr>
          <p:nvPr>
            <p:ph type="sldNum" idx="6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6063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li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k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o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d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it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M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a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r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ti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tl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e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y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endParaRPr lang="en-US" sz="60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5640925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138727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2346451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90FC0C2-7FA8-446E-BBE4-9891E2099CC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504675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15254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2948276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73498206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022777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833788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6C86A3E-D8AE-44B7-9CBD-87FAE636BC8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219218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66616480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1874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565522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265601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F2D1DE7-BC96-4CBB-9E4D-DBDAF5FBF63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23819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8495202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6328802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2623541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5664985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F8E1A8C-3D3F-441E-9F8B-0D597B0AEBC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2545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3744557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25267499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8051112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4968185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423ABA4-5F1B-4819-B987-DD09147D7BA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98501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07166225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191336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8390089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3079692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053176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FE965A5-70C0-4BE1-B83E-5E30C6D0708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086395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28741559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574448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81391477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58362155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56169718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8860244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751825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138B298-ACBC-45EF-8CCC-5F459300FB8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14694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6958449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452311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952036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3347780-1708-437E-B466-AAEEC15A2C8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257955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348328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8518827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83898D1-1D5C-435F-8A9A-AF278D12A96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576160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3535082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82452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48468073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20282647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705371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364479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151429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01A1467-5CDD-41A3-9092-FEACA31381A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700667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7600251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Aptos"/>
                <a:ea typeface="Arial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5458895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6887631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6301713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095669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10D57FF-1B09-46B4-8924-FE1B38AC54E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rovi@psu.edu" TargetMode="External"/><Relationship Id="rId4" Type="http://schemas.openxmlformats.org/officeDocument/2006/relationships/hyperlink" Target="mailto:rnikola@psu.edu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media1.sv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media2.sv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media3.sv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media4.svg"/><Relationship Id="rId5" Type="http://schemas.openxmlformats.org/officeDocument/2006/relationships/image" Target="../media/image7.png"/><Relationship Id="rId6" Type="http://schemas.openxmlformats.org/officeDocument/2006/relationships/image" Target="../media/media5.sv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media6.svg"/><Relationship Id="rId5" Type="http://schemas.openxmlformats.org/officeDocument/2006/relationships/image" Target="../media/image9.png"/><Relationship Id="rId6" Type="http://schemas.openxmlformats.org/officeDocument/2006/relationships/image" Target="../media/media7.sv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rusnikola/scot" TargetMode="External"/><Relationship Id="rId4" Type="http://schemas.openxmlformats.org/officeDocument/2006/relationships/hyperlink" Target="https://doi.org/10.5281/zenodo.17707898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media8.sv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ithub.com/rusnikola/scot" TargetMode="External"/><Relationship Id="rId4" Type="http://schemas.openxmlformats.org/officeDocument/2006/relationships/hyperlink" Target="https://doi.org/10.5281/zenodo.17707898" TargetMode="External"/><Relationship Id="rId5" Type="http://schemas.openxmlformats.org/officeDocument/2006/relationships/image" Target="../media/image11.png"/><Relationship Id="rId6" Type="http://schemas.microsoft.com/office/2007/relationships/diagramDrawing" Target="../diagrams/drawing1.xml" /><Relationship Id="rId7" Type="http://schemas.openxmlformats.org/officeDocument/2006/relationships/diagramData" Target="../diagrams/data1.xml" /><Relationship Id="rId8" Type="http://schemas.openxmlformats.org/officeDocument/2006/relationships/diagramColors" Target="../diagrams/colors1.xml" /><Relationship Id="rId9" Type="http://schemas.openxmlformats.org/officeDocument/2006/relationships/diagramLayout" Target="../diagrams/layout1.xml" /><Relationship Id="rId10" Type="http://schemas.openxmlformats.org/officeDocument/2006/relationships/diagramQuickStyle" Target="../diagrams/quickStyle1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media9.svg"/><Relationship Id="rId5" Type="http://schemas.openxmlformats.org/officeDocument/2006/relationships/image" Target="../media/image17.png"/><Relationship Id="rId6" Type="http://schemas.openxmlformats.org/officeDocument/2006/relationships/image" Target="../media/media10.sv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Relationship Id="rId4" Type="http://schemas.openxmlformats.org/officeDocument/2006/relationships/image" Target="../media/media11.svg"/><Relationship Id="rId5" Type="http://schemas.openxmlformats.org/officeDocument/2006/relationships/image" Target="../media/image19.png"/><Relationship Id="rId6" Type="http://schemas.openxmlformats.org/officeDocument/2006/relationships/image" Target="../media/media12.sv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Relationship Id="rId4" Type="http://schemas.openxmlformats.org/officeDocument/2006/relationships/image" Target="../media/media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36019" name="PlaceHolder 1"/>
          <p:cNvSpPr>
            <a:spLocks noGrp="1"/>
          </p:cNvSpPr>
          <p:nvPr>
            <p:ph type="title"/>
          </p:nvPr>
        </p:nvSpPr>
        <p:spPr bwMode="auto">
          <a:xfrm>
            <a:off x="1066619" y="1993496"/>
            <a:ext cx="1005876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Fixing Non-blocking Data Structures </a:t>
            </a:r>
            <a:b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</a:br>
            <a: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 for Better Compatibility with </a:t>
            </a:r>
            <a:b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</a:br>
            <a: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Memory Reclamation Schemes</a:t>
            </a:r>
            <a:endParaRPr sz="4800" b="0" u="none" strike="noStrike">
              <a:solidFill>
                <a:schemeClr val="dk1"/>
              </a:solidFill>
              <a:latin typeface="Aptos Display"/>
              <a:cs typeface="Aptos Display"/>
            </a:endParaRPr>
          </a:p>
        </p:txBody>
      </p:sp>
      <p:sp>
        <p:nvSpPr>
          <p:cNvPr id="831856929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471030" y="4589640"/>
            <a:ext cx="9977437" cy="170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Aptos"/>
                <a:ea typeface="Aptos"/>
              </a:rPr>
              <a:t>Md Amit Hasan Arovi, </a:t>
            </a:r>
            <a:r>
              <a:rPr lang="en-US" sz="2200" b="0" u="sng" strike="noStrike">
                <a:solidFill>
                  <a:schemeClr val="accent6"/>
                </a:solidFill>
                <a:latin typeface="Aptos"/>
                <a:ea typeface="Aptos"/>
                <a:hlinkClick r:id="rId3" tooltip=""/>
              </a:rPr>
              <a:t>arovi@psu.edu</a:t>
            </a:r>
            <a:r>
              <a:rPr lang="en-US" sz="2200" b="0" u="none" strike="noStrike">
                <a:solidFill>
                  <a:schemeClr val="dk1"/>
                </a:solidFill>
                <a:latin typeface="Aptos"/>
                <a:ea typeface="Aptos"/>
              </a:rPr>
              <a:t>, The Pennsylvania State University, USA</a:t>
            </a:r>
            <a:endParaRPr sz="2200" b="0" u="none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Aptos"/>
                <a:ea typeface="Aptos"/>
              </a:rPr>
              <a:t>Ruslan Nikolaev, </a:t>
            </a:r>
            <a:r>
              <a:rPr lang="en-US" sz="2200" b="0" u="sng" strike="noStrike">
                <a:solidFill>
                  <a:schemeClr val="dk1"/>
                </a:solidFill>
                <a:latin typeface="Aptos"/>
                <a:ea typeface="Aptos"/>
                <a:hlinkClick r:id="rId4" tooltip=""/>
              </a:rPr>
              <a:t>rnikola@psu.edu</a:t>
            </a:r>
            <a:r>
              <a:rPr lang="en-US" sz="2200" b="0" u="none" strike="noStrike">
                <a:solidFill>
                  <a:schemeClr val="dk1"/>
                </a:solidFill>
                <a:latin typeface="Aptos"/>
                <a:ea typeface="Aptos"/>
              </a:rPr>
              <a:t>, The Pennsylvania State University, USA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4341325" name="" descr=""/>
          <p:cNvPicPr/>
          <p:nvPr/>
        </p:nvPicPr>
        <p:blipFill rotWithShape="1">
          <a:blip r:embed="rId5"/>
          <a:stretch/>
        </p:blipFill>
        <p:spPr bwMode="auto">
          <a:xfrm>
            <a:off x="1047240" y="385560"/>
            <a:ext cx="3243600" cy="1824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50899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Non-blocking Data Structures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78200123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690200"/>
            <a:ext cx="10761755" cy="497980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Allow multiple threads to operate without mutual exclusion</a:t>
            </a: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i="1" u="none" strike="noStrike">
                <a:solidFill>
                  <a:schemeClr val="dk1"/>
                </a:solidFill>
                <a:latin typeface="Aptos"/>
                <a:ea typeface="Aptos"/>
              </a:rPr>
              <a:t> Lock-free</a:t>
            </a: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 data structures: at least one thread always makes progress</a:t>
            </a: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i="1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Wait-free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 data structures: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all threads always make progress in a finite number of steps</a:t>
            </a:r>
            <a:endParaRPr lang="en-US"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Require safe memory reclamation (SMR) techniques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Epoch-Based Reclamation (EBR) is easy-to-use but has unbounded memory usage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Hazard Pointers (HP) is more difficult to use but is </a:t>
            </a: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ptos"/>
              </a:rPr>
              <a:t>robust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270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Problems with Non-blocking Data Structures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06894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917532"/>
            <a:ext cx="10515239" cy="4686666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Many robust memory reclamation schemes (e.g., HP) fail to support </a:t>
            </a:r>
            <a:r>
              <a:rPr lang="en-US" sz="2800" b="1" u="none" strike="noStrike">
                <a:solidFill>
                  <a:schemeClr val="dk1"/>
                </a:solidFill>
                <a:latin typeface="Aptos"/>
                <a:ea typeface="Aptos"/>
              </a:rPr>
              <a:t>optimistic traversals</a:t>
            </a: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 used in many lock-free algorithms:</a:t>
            </a: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Harris’ linked list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The Natarajan-Mittal tree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Many others (skip lists, hash tables, etc)</a:t>
            </a:r>
            <a:endParaRPr lang="en-US" sz="24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8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Workarounds are sometimes available with performance costs 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Harris-Michael linked list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No such modification for the Natarajan-Mittal tree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</a:rPr>
              <a:t> 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89354" name="Rectangle 6"/>
          <p:cNvSpPr/>
          <p:nvPr/>
        </p:nvSpPr>
        <p:spPr bwMode="auto">
          <a:xfrm>
            <a:off x="3855240" y="2121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31212620" name="Straight Arrow Connector 7"/>
          <p:cNvCxnSpPr/>
          <p:nvPr/>
        </p:nvCxnSpPr>
        <p:spPr bwMode="auto">
          <a:xfrm>
            <a:off x="4477320" y="21207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58954459" name="TextBox 9"/>
          <p:cNvSpPr/>
          <p:nvPr/>
        </p:nvSpPr>
        <p:spPr bwMode="auto">
          <a:xfrm>
            <a:off x="3991320" y="22010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8242532" name="Arrow: Right 10"/>
          <p:cNvSpPr/>
          <p:nvPr/>
        </p:nvSpPr>
        <p:spPr bwMode="auto">
          <a:xfrm>
            <a:off x="5094360" y="2315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86776488" name="Rectangle 15"/>
          <p:cNvSpPr/>
          <p:nvPr/>
        </p:nvSpPr>
        <p:spPr bwMode="auto">
          <a:xfrm>
            <a:off x="5727600" y="21574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6713345" name="Straight Arrow Connector 16"/>
          <p:cNvCxnSpPr/>
          <p:nvPr/>
        </p:nvCxnSpPr>
        <p:spPr bwMode="auto">
          <a:xfrm>
            <a:off x="6386039" y="215712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55487671" name="TextBox 17"/>
          <p:cNvSpPr/>
          <p:nvPr/>
        </p:nvSpPr>
        <p:spPr bwMode="auto">
          <a:xfrm>
            <a:off x="5900039" y="22298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372724" name="Arrow: Right 1"/>
          <p:cNvSpPr/>
          <p:nvPr/>
        </p:nvSpPr>
        <p:spPr bwMode="auto">
          <a:xfrm>
            <a:off x="3216240" y="22885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70950041" name="Rectangle 2"/>
          <p:cNvSpPr/>
          <p:nvPr/>
        </p:nvSpPr>
        <p:spPr bwMode="auto">
          <a:xfrm>
            <a:off x="1964520" y="21304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93675576" name="Straight Arrow Connector 3"/>
          <p:cNvCxnSpPr/>
          <p:nvPr/>
        </p:nvCxnSpPr>
        <p:spPr bwMode="auto">
          <a:xfrm>
            <a:off x="2622960" y="21304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976407894" name="TextBox 4"/>
          <p:cNvSpPr/>
          <p:nvPr/>
        </p:nvSpPr>
        <p:spPr bwMode="auto">
          <a:xfrm>
            <a:off x="2143440" y="22032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154128" name="Arrow: Right 12"/>
          <p:cNvSpPr/>
          <p:nvPr/>
        </p:nvSpPr>
        <p:spPr bwMode="auto">
          <a:xfrm>
            <a:off x="6974280" y="2315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565069835" name="Rectangle 13"/>
          <p:cNvSpPr/>
          <p:nvPr/>
        </p:nvSpPr>
        <p:spPr bwMode="auto">
          <a:xfrm>
            <a:off x="9418680" y="21243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24147638" name="Straight Arrow Connector 18"/>
          <p:cNvCxnSpPr/>
          <p:nvPr/>
        </p:nvCxnSpPr>
        <p:spPr bwMode="auto">
          <a:xfrm>
            <a:off x="10077120" y="21243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04456923" name="TextBox 20"/>
          <p:cNvSpPr/>
          <p:nvPr/>
        </p:nvSpPr>
        <p:spPr bwMode="auto">
          <a:xfrm>
            <a:off x="9591120" y="21970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630359" name="TextBox 5"/>
          <p:cNvSpPr/>
          <p:nvPr/>
        </p:nvSpPr>
        <p:spPr bwMode="auto">
          <a:xfrm>
            <a:off x="2143440" y="4299840"/>
            <a:ext cx="8858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Thread 0: Delete(B) =&gt; Node B is marked for logical deletion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rgbClr val="FF0000"/>
                </a:solidFill>
                <a:latin typeface="Aptos"/>
                <a:ea typeface="Arial"/>
              </a:rPr>
              <a:t>... Thread 0 is stalled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1860212" name="Straight Arrow Connector 8"/>
          <p:cNvCxnSpPr/>
          <p:nvPr/>
        </p:nvCxnSpPr>
        <p:spPr bwMode="auto">
          <a:xfrm rot="21419981" flipH="0" flipV="0">
            <a:off x="7678567" y="2403027"/>
            <a:ext cx="1008898" cy="4572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942144944" name="Arrow: Right 14"/>
          <p:cNvSpPr/>
          <p:nvPr/>
        </p:nvSpPr>
        <p:spPr bwMode="auto">
          <a:xfrm>
            <a:off x="8758800" y="23086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17506593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 with HP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075522" name="Rectangle 6"/>
          <p:cNvSpPr/>
          <p:nvPr/>
        </p:nvSpPr>
        <p:spPr bwMode="auto">
          <a:xfrm>
            <a:off x="5067360" y="27889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96307010" name="Straight Arrow Connector 7"/>
          <p:cNvCxnSpPr/>
          <p:nvPr/>
        </p:nvCxnSpPr>
        <p:spPr bwMode="auto">
          <a:xfrm>
            <a:off x="5689440" y="27885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801795009" name="TextBox 9"/>
          <p:cNvSpPr/>
          <p:nvPr/>
        </p:nvSpPr>
        <p:spPr bwMode="auto">
          <a:xfrm>
            <a:off x="5203440" y="28684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3307143" name="Arrow: Right 10"/>
          <p:cNvSpPr/>
          <p:nvPr/>
        </p:nvSpPr>
        <p:spPr bwMode="auto">
          <a:xfrm>
            <a:off x="6306480" y="29829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30750065" name="Rectangle 15"/>
          <p:cNvSpPr/>
          <p:nvPr/>
        </p:nvSpPr>
        <p:spPr bwMode="auto">
          <a:xfrm>
            <a:off x="6939720" y="28249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05230128" name="Straight Arrow Connector 16"/>
          <p:cNvCxnSpPr/>
          <p:nvPr/>
        </p:nvCxnSpPr>
        <p:spPr bwMode="auto">
          <a:xfrm>
            <a:off x="7598160" y="282492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9773447" name="TextBox 17"/>
          <p:cNvSpPr/>
          <p:nvPr/>
        </p:nvSpPr>
        <p:spPr bwMode="auto">
          <a:xfrm>
            <a:off x="7112160" y="28976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419006" name="Arrow: Right 1"/>
          <p:cNvSpPr/>
          <p:nvPr/>
        </p:nvSpPr>
        <p:spPr bwMode="auto">
          <a:xfrm>
            <a:off x="4428360" y="29559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02828235" name="Rectangle 2"/>
          <p:cNvSpPr/>
          <p:nvPr/>
        </p:nvSpPr>
        <p:spPr bwMode="auto">
          <a:xfrm>
            <a:off x="3176280" y="27982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4449953" name="Straight Arrow Connector 3"/>
          <p:cNvCxnSpPr/>
          <p:nvPr/>
        </p:nvCxnSpPr>
        <p:spPr bwMode="auto">
          <a:xfrm>
            <a:off x="3834720" y="27982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92876638" name="TextBox 4"/>
          <p:cNvSpPr/>
          <p:nvPr/>
        </p:nvSpPr>
        <p:spPr bwMode="auto">
          <a:xfrm>
            <a:off x="3355560" y="28710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09946" name="Arrow: Right 12"/>
          <p:cNvSpPr/>
          <p:nvPr/>
        </p:nvSpPr>
        <p:spPr bwMode="auto">
          <a:xfrm>
            <a:off x="8186039" y="29829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93521452" name="Rectangle 13"/>
          <p:cNvSpPr/>
          <p:nvPr/>
        </p:nvSpPr>
        <p:spPr bwMode="auto">
          <a:xfrm>
            <a:off x="10630800" y="2792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88596110" name="Straight Arrow Connector 18"/>
          <p:cNvCxnSpPr/>
          <p:nvPr/>
        </p:nvCxnSpPr>
        <p:spPr bwMode="auto">
          <a:xfrm>
            <a:off x="11289240" y="27921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23601597" name="TextBox 20"/>
          <p:cNvSpPr/>
          <p:nvPr/>
        </p:nvSpPr>
        <p:spPr bwMode="auto">
          <a:xfrm>
            <a:off x="10802880" y="28648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3499558" name="TextBox 5"/>
          <p:cNvSpPr/>
          <p:nvPr/>
        </p:nvSpPr>
        <p:spPr bwMode="auto">
          <a:xfrm>
            <a:off x="2462760" y="4299840"/>
            <a:ext cx="8065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1: Locate node 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61517327" name="Straight Arrow Connector 8"/>
          <p:cNvCxnSpPr/>
          <p:nvPr/>
        </p:nvCxnSpPr>
        <p:spPr bwMode="auto">
          <a:xfrm>
            <a:off x="8896680" y="3096720"/>
            <a:ext cx="107532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011879806" name="Arrow: Right 14"/>
          <p:cNvSpPr/>
          <p:nvPr/>
        </p:nvSpPr>
        <p:spPr bwMode="auto">
          <a:xfrm>
            <a:off x="9970560" y="29761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87921229" name="TextBox 19"/>
          <p:cNvSpPr/>
          <p:nvPr/>
        </p:nvSpPr>
        <p:spPr bwMode="auto">
          <a:xfrm>
            <a:off x="178200" y="2189880"/>
            <a:ext cx="266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77198022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1333157205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1548473409" name=""/>
          <p:cNvSpPr/>
          <p:nvPr/>
        </p:nvSpPr>
        <p:spPr bwMode="auto">
          <a:xfrm>
            <a:off x="5517000" y="3484080"/>
            <a:ext cx="475920" cy="50112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91004884" name=""/>
          <p:cNvSpPr/>
          <p:nvPr/>
        </p:nvSpPr>
        <p:spPr bwMode="auto">
          <a:xfrm>
            <a:off x="5975640" y="3785040"/>
            <a:ext cx="27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92D050"/>
                </a:solidFill>
                <a:latin typeface="Aptos"/>
                <a:ea typeface="Arial"/>
              </a:rPr>
              <a:t>traversing the list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311475" name="Rectangle 6"/>
          <p:cNvSpPr/>
          <p:nvPr/>
        </p:nvSpPr>
        <p:spPr bwMode="auto">
          <a:xfrm>
            <a:off x="4922280" y="3246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1271970" name="Straight Arrow Connector 7"/>
          <p:cNvCxnSpPr/>
          <p:nvPr/>
        </p:nvCxnSpPr>
        <p:spPr bwMode="auto">
          <a:xfrm>
            <a:off x="5544360" y="32457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814314081" name="TextBox 9"/>
          <p:cNvSpPr/>
          <p:nvPr/>
        </p:nvSpPr>
        <p:spPr bwMode="auto">
          <a:xfrm>
            <a:off x="5058360" y="33256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33931" name="Arrow: Right 10"/>
          <p:cNvSpPr/>
          <p:nvPr/>
        </p:nvSpPr>
        <p:spPr bwMode="auto">
          <a:xfrm>
            <a:off x="6161400" y="3440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101419520" name="Rectangle 15"/>
          <p:cNvSpPr/>
          <p:nvPr/>
        </p:nvSpPr>
        <p:spPr bwMode="auto">
          <a:xfrm>
            <a:off x="6794640" y="3282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96566001" name="Straight Arrow Connector 16"/>
          <p:cNvCxnSpPr/>
          <p:nvPr/>
        </p:nvCxnSpPr>
        <p:spPr bwMode="auto">
          <a:xfrm>
            <a:off x="7453080" y="328212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12199888" name="TextBox 17"/>
          <p:cNvSpPr/>
          <p:nvPr/>
        </p:nvSpPr>
        <p:spPr bwMode="auto">
          <a:xfrm>
            <a:off x="6966720" y="33548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862998" name="Arrow: Right 1"/>
          <p:cNvSpPr/>
          <p:nvPr/>
        </p:nvSpPr>
        <p:spPr bwMode="auto">
          <a:xfrm>
            <a:off x="4282920" y="3413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18515676" name="Rectangle 2"/>
          <p:cNvSpPr/>
          <p:nvPr/>
        </p:nvSpPr>
        <p:spPr bwMode="auto">
          <a:xfrm>
            <a:off x="3031200" y="32554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12037621" name="Straight Arrow Connector 3"/>
          <p:cNvCxnSpPr/>
          <p:nvPr/>
        </p:nvCxnSpPr>
        <p:spPr bwMode="auto">
          <a:xfrm>
            <a:off x="3689640" y="32554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579308123" name="TextBox 4"/>
          <p:cNvSpPr/>
          <p:nvPr/>
        </p:nvSpPr>
        <p:spPr bwMode="auto">
          <a:xfrm>
            <a:off x="3210480" y="33282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47806" name="Arrow: Right 12"/>
          <p:cNvSpPr/>
          <p:nvPr/>
        </p:nvSpPr>
        <p:spPr bwMode="auto">
          <a:xfrm>
            <a:off x="8040960" y="3440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2193868" name="Rectangle 13"/>
          <p:cNvSpPr/>
          <p:nvPr/>
        </p:nvSpPr>
        <p:spPr bwMode="auto">
          <a:xfrm>
            <a:off x="10485360" y="32493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5750127" name="Straight Arrow Connector 18"/>
          <p:cNvCxnSpPr/>
          <p:nvPr/>
        </p:nvCxnSpPr>
        <p:spPr bwMode="auto">
          <a:xfrm>
            <a:off x="11143800" y="32493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244701153" name="TextBox 20"/>
          <p:cNvSpPr/>
          <p:nvPr/>
        </p:nvSpPr>
        <p:spPr bwMode="auto">
          <a:xfrm>
            <a:off x="10657800" y="33220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6055845" name="TextBox 5"/>
          <p:cNvSpPr/>
          <p:nvPr/>
        </p:nvSpPr>
        <p:spPr bwMode="auto">
          <a:xfrm>
            <a:off x="2782080" y="5388120"/>
            <a:ext cx="804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2: Delete(C)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3275394" name="Straight Arrow Connector 8"/>
          <p:cNvCxnSpPr/>
          <p:nvPr/>
        </p:nvCxnSpPr>
        <p:spPr bwMode="auto">
          <a:xfrm>
            <a:off x="8751600" y="3553920"/>
            <a:ext cx="107496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504252124" name="Arrow: Right 14"/>
          <p:cNvSpPr/>
          <p:nvPr/>
        </p:nvSpPr>
        <p:spPr bwMode="auto">
          <a:xfrm>
            <a:off x="9825480" y="3433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28558662" name="TextBox 19"/>
          <p:cNvSpPr/>
          <p:nvPr/>
        </p:nvSpPr>
        <p:spPr bwMode="auto">
          <a:xfrm>
            <a:off x="203040" y="2189880"/>
            <a:ext cx="276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20267602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1122940058" name="TextBox 22"/>
          <p:cNvSpPr/>
          <p:nvPr/>
        </p:nvSpPr>
        <p:spPr bwMode="auto">
          <a:xfrm>
            <a:off x="203040" y="4214520"/>
            <a:ext cx="276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49886073" name="Straight Arrow Connector 23"/>
          <p:cNvCxnSpPr/>
          <p:nvPr/>
        </p:nvCxnSpPr>
        <p:spPr bwMode="auto">
          <a:xfrm flipV="1">
            <a:off x="2785320" y="433404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sp>
        <p:nvSpPr>
          <p:cNvPr id="1981705675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256638" name="Rectangle 6"/>
          <p:cNvSpPr/>
          <p:nvPr/>
        </p:nvSpPr>
        <p:spPr bwMode="auto">
          <a:xfrm>
            <a:off x="4922280" y="3246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50301087" name="Straight Arrow Connector 7"/>
          <p:cNvCxnSpPr/>
          <p:nvPr/>
        </p:nvCxnSpPr>
        <p:spPr bwMode="auto">
          <a:xfrm>
            <a:off x="5544360" y="32457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529093110" name="TextBox 9"/>
          <p:cNvSpPr/>
          <p:nvPr/>
        </p:nvSpPr>
        <p:spPr bwMode="auto">
          <a:xfrm>
            <a:off x="5058360" y="33256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364894" name="Arrow: Right 10"/>
          <p:cNvSpPr/>
          <p:nvPr/>
        </p:nvSpPr>
        <p:spPr bwMode="auto">
          <a:xfrm>
            <a:off x="6161400" y="3440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44562935" name="Rectangle 15"/>
          <p:cNvSpPr/>
          <p:nvPr/>
        </p:nvSpPr>
        <p:spPr bwMode="auto">
          <a:xfrm>
            <a:off x="6794640" y="3282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47481254" name="Straight Arrow Connector 16"/>
          <p:cNvCxnSpPr/>
          <p:nvPr/>
        </p:nvCxnSpPr>
        <p:spPr bwMode="auto">
          <a:xfrm>
            <a:off x="7453080" y="328212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99374977" name="TextBox 17"/>
          <p:cNvSpPr/>
          <p:nvPr/>
        </p:nvSpPr>
        <p:spPr bwMode="auto">
          <a:xfrm>
            <a:off x="6966720" y="33548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268147" name="Arrow: Right 1"/>
          <p:cNvSpPr/>
          <p:nvPr/>
        </p:nvSpPr>
        <p:spPr bwMode="auto">
          <a:xfrm>
            <a:off x="4282920" y="3413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78101906" name="Rectangle 2"/>
          <p:cNvSpPr/>
          <p:nvPr/>
        </p:nvSpPr>
        <p:spPr bwMode="auto">
          <a:xfrm>
            <a:off x="3031200" y="32554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77510728" name="Straight Arrow Connector 3"/>
          <p:cNvCxnSpPr/>
          <p:nvPr/>
        </p:nvCxnSpPr>
        <p:spPr bwMode="auto">
          <a:xfrm>
            <a:off x="3689640" y="32554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95119445" name="TextBox 4"/>
          <p:cNvSpPr/>
          <p:nvPr/>
        </p:nvSpPr>
        <p:spPr bwMode="auto">
          <a:xfrm>
            <a:off x="3210480" y="33282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2208240" name="Arrow: Right 12"/>
          <p:cNvSpPr/>
          <p:nvPr/>
        </p:nvSpPr>
        <p:spPr bwMode="auto">
          <a:xfrm>
            <a:off x="8040960" y="3440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90022353" name="Rectangle 13"/>
          <p:cNvSpPr/>
          <p:nvPr/>
        </p:nvSpPr>
        <p:spPr bwMode="auto">
          <a:xfrm>
            <a:off x="10485360" y="32493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98828490" name="Straight Arrow Connector 18"/>
          <p:cNvCxnSpPr/>
          <p:nvPr/>
        </p:nvCxnSpPr>
        <p:spPr bwMode="auto">
          <a:xfrm>
            <a:off x="11143800" y="32493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785115974" name="TextBox 20"/>
          <p:cNvSpPr/>
          <p:nvPr/>
        </p:nvSpPr>
        <p:spPr bwMode="auto">
          <a:xfrm>
            <a:off x="10657800" y="33220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002611" name="TextBox 5"/>
          <p:cNvSpPr/>
          <p:nvPr/>
        </p:nvSpPr>
        <p:spPr bwMode="auto">
          <a:xfrm>
            <a:off x="2782080" y="5388120"/>
            <a:ext cx="802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2: Node C is marked  for logical deletion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8033977" name="Straight Arrow Connector 8"/>
          <p:cNvCxnSpPr/>
          <p:nvPr/>
        </p:nvCxnSpPr>
        <p:spPr bwMode="auto">
          <a:xfrm>
            <a:off x="8751600" y="3553920"/>
            <a:ext cx="107496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2145515904" name="Arrow: Right 14"/>
          <p:cNvSpPr/>
          <p:nvPr/>
        </p:nvSpPr>
        <p:spPr bwMode="auto">
          <a:xfrm>
            <a:off x="9825480" y="3433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61183075" name="TextBox 19"/>
          <p:cNvSpPr/>
          <p:nvPr/>
        </p:nvSpPr>
        <p:spPr bwMode="auto">
          <a:xfrm>
            <a:off x="153000" y="2189880"/>
            <a:ext cx="269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60731730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17119178" name="TextBox 22"/>
          <p:cNvSpPr/>
          <p:nvPr/>
        </p:nvSpPr>
        <p:spPr bwMode="auto">
          <a:xfrm>
            <a:off x="178200" y="4214520"/>
            <a:ext cx="279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2688940" name="Straight Arrow Connector 23"/>
          <p:cNvCxnSpPr/>
          <p:nvPr/>
        </p:nvCxnSpPr>
        <p:spPr bwMode="auto">
          <a:xfrm flipV="1">
            <a:off x="2785320" y="433404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sp>
        <p:nvSpPr>
          <p:cNvPr id="2075331863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660249" name="Rectangle 6"/>
          <p:cNvSpPr/>
          <p:nvPr/>
        </p:nvSpPr>
        <p:spPr bwMode="auto">
          <a:xfrm>
            <a:off x="4885920" y="3100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20010957" name="Straight Arrow Connector 7"/>
          <p:cNvCxnSpPr/>
          <p:nvPr/>
        </p:nvCxnSpPr>
        <p:spPr bwMode="auto">
          <a:xfrm>
            <a:off x="5508000" y="310068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663292210" name="TextBox 9"/>
          <p:cNvSpPr/>
          <p:nvPr/>
        </p:nvSpPr>
        <p:spPr bwMode="auto">
          <a:xfrm>
            <a:off x="5022000" y="31806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463401" name="Arrow: Right 10"/>
          <p:cNvSpPr/>
          <p:nvPr/>
        </p:nvSpPr>
        <p:spPr bwMode="auto">
          <a:xfrm>
            <a:off x="6125039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541361267" name="Rectangle 15"/>
          <p:cNvSpPr/>
          <p:nvPr/>
        </p:nvSpPr>
        <p:spPr bwMode="auto">
          <a:xfrm>
            <a:off x="6758280" y="31370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52408180" name="Straight Arrow Connector 16"/>
          <p:cNvCxnSpPr/>
          <p:nvPr/>
        </p:nvCxnSpPr>
        <p:spPr bwMode="auto">
          <a:xfrm>
            <a:off x="7416720" y="313704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384072980" name="TextBox 17"/>
          <p:cNvSpPr/>
          <p:nvPr/>
        </p:nvSpPr>
        <p:spPr bwMode="auto">
          <a:xfrm>
            <a:off x="6930720" y="3209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2501108" name="Arrow: Right 1"/>
          <p:cNvSpPr/>
          <p:nvPr/>
        </p:nvSpPr>
        <p:spPr bwMode="auto">
          <a:xfrm>
            <a:off x="4246920" y="3268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39233827" name="Rectangle 2"/>
          <p:cNvSpPr/>
          <p:nvPr/>
        </p:nvSpPr>
        <p:spPr bwMode="auto">
          <a:xfrm>
            <a:off x="2994840" y="3110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64359708" name="Straight Arrow Connector 3"/>
          <p:cNvCxnSpPr/>
          <p:nvPr/>
        </p:nvCxnSpPr>
        <p:spPr bwMode="auto">
          <a:xfrm>
            <a:off x="3653280" y="311004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28216389" name="TextBox 4"/>
          <p:cNvSpPr/>
          <p:nvPr/>
        </p:nvSpPr>
        <p:spPr bwMode="auto">
          <a:xfrm>
            <a:off x="3174120" y="3182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933727" name="Arrow: Right 12"/>
          <p:cNvSpPr/>
          <p:nvPr/>
        </p:nvSpPr>
        <p:spPr bwMode="auto">
          <a:xfrm>
            <a:off x="8004600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56543878" name="Rectangle 13"/>
          <p:cNvSpPr/>
          <p:nvPr/>
        </p:nvSpPr>
        <p:spPr bwMode="auto">
          <a:xfrm>
            <a:off x="10449360" y="31042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699808696" name="Straight Arrow Connector 18"/>
          <p:cNvCxnSpPr/>
          <p:nvPr/>
        </p:nvCxnSpPr>
        <p:spPr bwMode="auto">
          <a:xfrm>
            <a:off x="11107800" y="310392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72515416" name="TextBox 20"/>
          <p:cNvSpPr/>
          <p:nvPr/>
        </p:nvSpPr>
        <p:spPr bwMode="auto">
          <a:xfrm>
            <a:off x="10621440" y="31766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97882" name="TextBox 5"/>
          <p:cNvSpPr/>
          <p:nvPr/>
        </p:nvSpPr>
        <p:spPr bwMode="auto">
          <a:xfrm>
            <a:off x="1581840" y="5533560"/>
            <a:ext cx="995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</a:t>
            </a: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ptos"/>
              </a:rPr>
              <a:t>unlinks the entire chain of nodes between Node A and Node 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ptos"/>
              </a:rPr>
              <a:t>(assuming </a:t>
            </a:r>
            <a:r>
              <a:rPr lang="en-US" sz="2400" b="1" i="1" u="none" strike="noStrike">
                <a:solidFill>
                  <a:schemeClr val="accent1"/>
                </a:solidFill>
                <a:latin typeface="Aptos"/>
                <a:ea typeface="Aptos"/>
              </a:rPr>
              <a:t>all </a:t>
            </a: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ptos"/>
              </a:rPr>
              <a:t>consecutive nodes in the chain are logically deleted)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22646265" name="Straight Arrow Connector 8"/>
          <p:cNvCxnSpPr/>
          <p:nvPr/>
        </p:nvCxnSpPr>
        <p:spPr bwMode="auto">
          <a:xfrm>
            <a:off x="8715240" y="3408840"/>
            <a:ext cx="107532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989211018" name="Arrow: Right 14"/>
          <p:cNvSpPr/>
          <p:nvPr/>
        </p:nvSpPr>
        <p:spPr bwMode="auto">
          <a:xfrm>
            <a:off x="9789480" y="32882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64310287" name="TextBox 19"/>
          <p:cNvSpPr/>
          <p:nvPr/>
        </p:nvSpPr>
        <p:spPr bwMode="auto">
          <a:xfrm>
            <a:off x="228240" y="2189880"/>
            <a:ext cx="261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25006828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2101001905" name="TextBox 22"/>
          <p:cNvSpPr/>
          <p:nvPr/>
        </p:nvSpPr>
        <p:spPr bwMode="auto">
          <a:xfrm>
            <a:off x="278280" y="4452120"/>
            <a:ext cx="260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71789397" name="Straight Arrow Connector 23"/>
          <p:cNvCxnSpPr/>
          <p:nvPr/>
        </p:nvCxnSpPr>
        <p:spPr bwMode="auto">
          <a:xfrm flipV="1">
            <a:off x="2821680" y="469692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1887499343" name="Straight Arrow Connector 26"/>
          <p:cNvCxnSpPr/>
          <p:nvPr/>
        </p:nvCxnSpPr>
        <p:spPr bwMode="auto">
          <a:xfrm>
            <a:off x="3652560" y="3633120"/>
            <a:ext cx="14760" cy="66096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212687761" name="Straight Arrow Connector 28"/>
          <p:cNvCxnSpPr/>
          <p:nvPr/>
        </p:nvCxnSpPr>
        <p:spPr bwMode="auto">
          <a:xfrm flipV="1">
            <a:off x="3659760" y="4264560"/>
            <a:ext cx="7409880" cy="5832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484688071" name="Straight Arrow Connector 30"/>
          <p:cNvCxnSpPr/>
          <p:nvPr/>
        </p:nvCxnSpPr>
        <p:spPr bwMode="auto">
          <a:xfrm flipV="1">
            <a:off x="11086560" y="3653280"/>
            <a:ext cx="15120" cy="591120"/>
          </a:xfrm>
          <a:prstGeom prst="straightConnector1">
            <a:avLst/>
          </a:prstGeom>
          <a:ln>
            <a:solidFill>
              <a:srgbClr val="156082"/>
            </a:solidFill>
            <a:prstDash val="dash"/>
            <a:tailEnd type="triangle" w="med" len="med"/>
          </a:ln>
        </p:spPr>
      </p:cxnSp>
      <p:sp>
        <p:nvSpPr>
          <p:cNvPr id="274166444" name="TextBox 32"/>
          <p:cNvSpPr/>
          <p:nvPr/>
        </p:nvSpPr>
        <p:spPr bwMode="auto">
          <a:xfrm>
            <a:off x="6714720" y="3769920"/>
            <a:ext cx="166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/>
                </a:solidFill>
                <a:latin typeface="Aptos"/>
                <a:ea typeface="Arial"/>
              </a:rPr>
              <a:t>Unlinking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817242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450118" name="Rectangle 6"/>
          <p:cNvSpPr/>
          <p:nvPr/>
        </p:nvSpPr>
        <p:spPr bwMode="auto">
          <a:xfrm>
            <a:off x="4885920" y="3100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26465991" name="Straight Arrow Connector 7"/>
          <p:cNvCxnSpPr/>
          <p:nvPr/>
        </p:nvCxnSpPr>
        <p:spPr bwMode="auto">
          <a:xfrm>
            <a:off x="5508000" y="310068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222907340" name="TextBox 9"/>
          <p:cNvSpPr/>
          <p:nvPr/>
        </p:nvSpPr>
        <p:spPr bwMode="auto">
          <a:xfrm>
            <a:off x="5022000" y="31806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118333" name="Arrow: Right 10"/>
          <p:cNvSpPr/>
          <p:nvPr/>
        </p:nvSpPr>
        <p:spPr bwMode="auto">
          <a:xfrm>
            <a:off x="6125039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97001221" name="Rectangle 15"/>
          <p:cNvSpPr/>
          <p:nvPr/>
        </p:nvSpPr>
        <p:spPr bwMode="auto">
          <a:xfrm>
            <a:off x="6758280" y="3137040"/>
            <a:ext cx="1242360" cy="52596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46911347" name="Straight Arrow Connector 16"/>
          <p:cNvCxnSpPr/>
          <p:nvPr/>
        </p:nvCxnSpPr>
        <p:spPr bwMode="auto">
          <a:xfrm>
            <a:off x="7416720" y="313704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95507746" name="TextBox 17"/>
          <p:cNvSpPr/>
          <p:nvPr/>
        </p:nvSpPr>
        <p:spPr bwMode="auto">
          <a:xfrm>
            <a:off x="6930720" y="3209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6525178" name="Arrow: Right 1"/>
          <p:cNvSpPr/>
          <p:nvPr/>
        </p:nvSpPr>
        <p:spPr bwMode="auto">
          <a:xfrm>
            <a:off x="4246920" y="3268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44367752" name="Rectangle 2"/>
          <p:cNvSpPr/>
          <p:nvPr/>
        </p:nvSpPr>
        <p:spPr bwMode="auto">
          <a:xfrm>
            <a:off x="2994840" y="3110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31410718" name="Straight Arrow Connector 3"/>
          <p:cNvCxnSpPr/>
          <p:nvPr/>
        </p:nvCxnSpPr>
        <p:spPr bwMode="auto">
          <a:xfrm>
            <a:off x="3653280" y="311004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469129649" name="TextBox 4"/>
          <p:cNvSpPr/>
          <p:nvPr/>
        </p:nvSpPr>
        <p:spPr bwMode="auto">
          <a:xfrm>
            <a:off x="3174120" y="3182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790911" name="Arrow: Right 12"/>
          <p:cNvSpPr/>
          <p:nvPr/>
        </p:nvSpPr>
        <p:spPr bwMode="auto">
          <a:xfrm>
            <a:off x="8004600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667455030" name="Rectangle 13"/>
          <p:cNvSpPr/>
          <p:nvPr/>
        </p:nvSpPr>
        <p:spPr bwMode="auto">
          <a:xfrm>
            <a:off x="10449360" y="31042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86805393" name="Straight Arrow Connector 18"/>
          <p:cNvCxnSpPr/>
          <p:nvPr/>
        </p:nvCxnSpPr>
        <p:spPr bwMode="auto">
          <a:xfrm>
            <a:off x="11107800" y="310392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76458364" name="TextBox 20"/>
          <p:cNvSpPr/>
          <p:nvPr/>
        </p:nvSpPr>
        <p:spPr bwMode="auto">
          <a:xfrm>
            <a:off x="10621440" y="31766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712226" name="TextBox 5"/>
          <p:cNvSpPr/>
          <p:nvPr/>
        </p:nvSpPr>
        <p:spPr bwMode="auto">
          <a:xfrm>
            <a:off x="2782080" y="5533560"/>
            <a:ext cx="876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Node C is Reclaimed by Thread 2 and returned to the OS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22660373" name="Straight Arrow Connector 8"/>
          <p:cNvCxnSpPr/>
          <p:nvPr/>
        </p:nvCxnSpPr>
        <p:spPr bwMode="auto">
          <a:xfrm>
            <a:off x="8715240" y="3408840"/>
            <a:ext cx="107532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98221579" name="Arrow: Right 14"/>
          <p:cNvSpPr/>
          <p:nvPr/>
        </p:nvSpPr>
        <p:spPr bwMode="auto">
          <a:xfrm>
            <a:off x="9789480" y="32882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63509617" name="TextBox 19"/>
          <p:cNvSpPr/>
          <p:nvPr/>
        </p:nvSpPr>
        <p:spPr bwMode="auto">
          <a:xfrm>
            <a:off x="178200" y="2189880"/>
            <a:ext cx="266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56589049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256753098" name="TextBox 22"/>
          <p:cNvSpPr/>
          <p:nvPr/>
        </p:nvSpPr>
        <p:spPr bwMode="auto">
          <a:xfrm>
            <a:off x="303480" y="4452120"/>
            <a:ext cx="270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8645409" name="Straight Arrow Connector 23"/>
          <p:cNvCxnSpPr/>
          <p:nvPr/>
        </p:nvCxnSpPr>
        <p:spPr bwMode="auto">
          <a:xfrm flipV="1">
            <a:off x="2821680" y="469692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1152473640" name="Straight Arrow Connector 26"/>
          <p:cNvCxnSpPr/>
          <p:nvPr/>
        </p:nvCxnSpPr>
        <p:spPr bwMode="auto">
          <a:xfrm>
            <a:off x="3652560" y="3633120"/>
            <a:ext cx="14760" cy="66096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259377075" name="Straight Arrow Connector 28"/>
          <p:cNvCxnSpPr/>
          <p:nvPr/>
        </p:nvCxnSpPr>
        <p:spPr bwMode="auto">
          <a:xfrm flipV="1">
            <a:off x="3659760" y="4264560"/>
            <a:ext cx="7409880" cy="5832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1171838285" name="Straight Arrow Connector 30"/>
          <p:cNvCxnSpPr/>
          <p:nvPr/>
        </p:nvCxnSpPr>
        <p:spPr bwMode="auto">
          <a:xfrm flipV="1">
            <a:off x="11086560" y="3653280"/>
            <a:ext cx="15120" cy="591120"/>
          </a:xfrm>
          <a:prstGeom prst="straightConnector1">
            <a:avLst/>
          </a:prstGeom>
          <a:ln>
            <a:solidFill>
              <a:srgbClr val="156082"/>
            </a:solidFill>
            <a:prstDash val="dash"/>
            <a:tailEnd type="triangle" w="med" len="med"/>
          </a:ln>
        </p:spPr>
      </p:cxnSp>
      <p:sp>
        <p:nvSpPr>
          <p:cNvPr id="783447069" name="TextBox 32"/>
          <p:cNvSpPr/>
          <p:nvPr/>
        </p:nvSpPr>
        <p:spPr bwMode="auto">
          <a:xfrm>
            <a:off x="6714720" y="3769920"/>
            <a:ext cx="161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/>
                </a:solidFill>
                <a:latin typeface="Aptos"/>
                <a:ea typeface="Arial"/>
              </a:rPr>
              <a:t>Unlinking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59831626" name="Straight Arrow Connector 24"/>
          <p:cNvCxnSpPr/>
          <p:nvPr/>
        </p:nvCxnSpPr>
        <p:spPr bwMode="auto">
          <a:xfrm>
            <a:off x="7398360" y="4468320"/>
            <a:ext cx="15120" cy="508320"/>
          </a:xfrm>
          <a:prstGeom prst="straightConnector1">
            <a:avLst/>
          </a:prstGeom>
          <a:ln w="57150">
            <a:solidFill>
              <a:srgbClr val="156082"/>
            </a:solidFill>
          </a:ln>
        </p:spPr>
      </p:cxnSp>
      <p:sp>
        <p:nvSpPr>
          <p:cNvPr id="613327005" name="TextBox 25"/>
          <p:cNvSpPr/>
          <p:nvPr/>
        </p:nvSpPr>
        <p:spPr bwMode="auto">
          <a:xfrm>
            <a:off x="7400520" y="4788000"/>
            <a:ext cx="271151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Reclaim Node 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038015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557410" name="Rectangle 6"/>
          <p:cNvSpPr/>
          <p:nvPr/>
        </p:nvSpPr>
        <p:spPr bwMode="auto">
          <a:xfrm>
            <a:off x="4885920" y="3100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56308138" name="Straight Arrow Connector 7"/>
          <p:cNvCxnSpPr/>
          <p:nvPr/>
        </p:nvCxnSpPr>
        <p:spPr bwMode="auto">
          <a:xfrm>
            <a:off x="5508000" y="310068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9103834" name="TextBox 9"/>
          <p:cNvSpPr/>
          <p:nvPr/>
        </p:nvSpPr>
        <p:spPr bwMode="auto">
          <a:xfrm>
            <a:off x="5022000" y="31806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558654" name="Arrow: Right 10"/>
          <p:cNvSpPr/>
          <p:nvPr/>
        </p:nvSpPr>
        <p:spPr bwMode="auto">
          <a:xfrm>
            <a:off x="6125039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974649722" name="Rectangle 15"/>
          <p:cNvSpPr/>
          <p:nvPr/>
        </p:nvSpPr>
        <p:spPr bwMode="auto">
          <a:xfrm>
            <a:off x="6758280" y="3137040"/>
            <a:ext cx="1242360" cy="52596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3519198" name="Straight Arrow Connector 16"/>
          <p:cNvCxnSpPr/>
          <p:nvPr/>
        </p:nvCxnSpPr>
        <p:spPr bwMode="auto">
          <a:xfrm>
            <a:off x="7416720" y="313704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30305646" name="TextBox 17"/>
          <p:cNvSpPr/>
          <p:nvPr/>
        </p:nvSpPr>
        <p:spPr bwMode="auto">
          <a:xfrm>
            <a:off x="6930720" y="3209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053412" name="Arrow: Right 1"/>
          <p:cNvSpPr/>
          <p:nvPr/>
        </p:nvSpPr>
        <p:spPr bwMode="auto">
          <a:xfrm>
            <a:off x="4246920" y="3268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51269439" name="Rectangle 2"/>
          <p:cNvSpPr/>
          <p:nvPr/>
        </p:nvSpPr>
        <p:spPr bwMode="auto">
          <a:xfrm>
            <a:off x="2994840" y="3110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63790772" name="Straight Arrow Connector 3"/>
          <p:cNvCxnSpPr/>
          <p:nvPr/>
        </p:nvCxnSpPr>
        <p:spPr bwMode="auto">
          <a:xfrm>
            <a:off x="3653280" y="311004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07773740" name="TextBox 4"/>
          <p:cNvSpPr/>
          <p:nvPr/>
        </p:nvSpPr>
        <p:spPr bwMode="auto">
          <a:xfrm>
            <a:off x="3174120" y="3182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683929" name="Arrow: Right 12"/>
          <p:cNvSpPr/>
          <p:nvPr/>
        </p:nvSpPr>
        <p:spPr bwMode="auto">
          <a:xfrm>
            <a:off x="8004600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32372963" name="Rectangle 13"/>
          <p:cNvSpPr/>
          <p:nvPr/>
        </p:nvSpPr>
        <p:spPr bwMode="auto">
          <a:xfrm>
            <a:off x="10449360" y="31042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30256536" name="Straight Arrow Connector 18"/>
          <p:cNvCxnSpPr/>
          <p:nvPr/>
        </p:nvCxnSpPr>
        <p:spPr bwMode="auto">
          <a:xfrm>
            <a:off x="11107800" y="310392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70672985" name="TextBox 20"/>
          <p:cNvSpPr/>
          <p:nvPr/>
        </p:nvSpPr>
        <p:spPr bwMode="auto">
          <a:xfrm>
            <a:off x="10621440" y="31766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4874273" name="TextBox 5"/>
          <p:cNvSpPr/>
          <p:nvPr/>
        </p:nvSpPr>
        <p:spPr bwMode="auto">
          <a:xfrm>
            <a:off x="2782080" y="5533560"/>
            <a:ext cx="876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ptos"/>
              </a:rPr>
              <a:t>Thread 1 </a:t>
            </a: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fails</a:t>
            </a: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ptos"/>
              </a:rPr>
              <a:t> when accessing </a:t>
            </a: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Node 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1237816" name="Straight Arrow Connector 8"/>
          <p:cNvCxnSpPr/>
          <p:nvPr/>
        </p:nvCxnSpPr>
        <p:spPr bwMode="auto">
          <a:xfrm>
            <a:off x="8715240" y="3408840"/>
            <a:ext cx="107532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370531753" name="Arrow: Right 14"/>
          <p:cNvSpPr/>
          <p:nvPr/>
        </p:nvSpPr>
        <p:spPr bwMode="auto">
          <a:xfrm>
            <a:off x="9789480" y="32882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615354329" name="TextBox 19"/>
          <p:cNvSpPr/>
          <p:nvPr/>
        </p:nvSpPr>
        <p:spPr bwMode="auto">
          <a:xfrm>
            <a:off x="228240" y="2189880"/>
            <a:ext cx="261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7191520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432128316" name="TextBox 22"/>
          <p:cNvSpPr/>
          <p:nvPr/>
        </p:nvSpPr>
        <p:spPr bwMode="auto">
          <a:xfrm>
            <a:off x="253080" y="4452120"/>
            <a:ext cx="263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46999703" name="Straight Arrow Connector 23"/>
          <p:cNvCxnSpPr/>
          <p:nvPr/>
        </p:nvCxnSpPr>
        <p:spPr bwMode="auto">
          <a:xfrm flipV="1">
            <a:off x="2821680" y="469692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1668405026" name="Straight Arrow Connector 26"/>
          <p:cNvCxnSpPr/>
          <p:nvPr/>
        </p:nvCxnSpPr>
        <p:spPr bwMode="auto">
          <a:xfrm>
            <a:off x="3652560" y="3633120"/>
            <a:ext cx="14760" cy="66096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2062770709" name="Straight Arrow Connector 28"/>
          <p:cNvCxnSpPr/>
          <p:nvPr/>
        </p:nvCxnSpPr>
        <p:spPr bwMode="auto">
          <a:xfrm flipV="1">
            <a:off x="3659760" y="4264560"/>
            <a:ext cx="7409880" cy="5832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1312500318" name="Straight Arrow Connector 30"/>
          <p:cNvCxnSpPr/>
          <p:nvPr/>
        </p:nvCxnSpPr>
        <p:spPr bwMode="auto">
          <a:xfrm flipV="1">
            <a:off x="11086560" y="3653280"/>
            <a:ext cx="15120" cy="591120"/>
          </a:xfrm>
          <a:prstGeom prst="straightConnector1">
            <a:avLst/>
          </a:prstGeom>
          <a:ln>
            <a:solidFill>
              <a:srgbClr val="156082"/>
            </a:solidFill>
            <a:prstDash val="dash"/>
            <a:tailEnd type="triangle" w="med" len="med"/>
          </a:ln>
        </p:spPr>
      </p:cxnSp>
      <p:sp>
        <p:nvSpPr>
          <p:cNvPr id="702828869" name="TextBox 32"/>
          <p:cNvSpPr/>
          <p:nvPr/>
        </p:nvSpPr>
        <p:spPr bwMode="auto">
          <a:xfrm>
            <a:off x="6714720" y="3769920"/>
            <a:ext cx="173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/>
                </a:solidFill>
                <a:latin typeface="Aptos"/>
                <a:ea typeface="Arial"/>
              </a:rPr>
              <a:t>Unlinking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8455817" name="Straight Arrow Connector 24"/>
          <p:cNvCxnSpPr/>
          <p:nvPr/>
        </p:nvCxnSpPr>
        <p:spPr bwMode="auto">
          <a:xfrm>
            <a:off x="7398360" y="4468320"/>
            <a:ext cx="15120" cy="508320"/>
          </a:xfrm>
          <a:prstGeom prst="straightConnector1">
            <a:avLst/>
          </a:prstGeom>
          <a:ln w="57150">
            <a:solidFill>
              <a:srgbClr val="156082"/>
            </a:solidFill>
          </a:ln>
        </p:spPr>
      </p:cxnSp>
      <p:sp>
        <p:nvSpPr>
          <p:cNvPr id="435776453" name="TextBox 25"/>
          <p:cNvSpPr/>
          <p:nvPr/>
        </p:nvSpPr>
        <p:spPr bwMode="auto">
          <a:xfrm>
            <a:off x="7525800" y="4788000"/>
            <a:ext cx="262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Reclaim Node 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126676" name="Multiplication Sign 27"/>
          <p:cNvSpPr/>
          <p:nvPr/>
        </p:nvSpPr>
        <p:spPr bwMode="auto">
          <a:xfrm>
            <a:off x="7618320" y="2184480"/>
            <a:ext cx="376920" cy="41328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81774925" name="TextBox 29"/>
          <p:cNvSpPr/>
          <p:nvPr/>
        </p:nvSpPr>
        <p:spPr bwMode="auto">
          <a:xfrm>
            <a:off x="8307720" y="18180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dk1"/>
              </a:solidFill>
              <a:latin typeface="Aptos"/>
              <a:ea typeface="Arial"/>
            </a:endParaRPr>
          </a:p>
        </p:txBody>
      </p:sp>
      <p:sp>
        <p:nvSpPr>
          <p:cNvPr id="1566969876" name="TextBox 31"/>
          <p:cNvSpPr/>
          <p:nvPr/>
        </p:nvSpPr>
        <p:spPr bwMode="auto">
          <a:xfrm>
            <a:off x="8006760" y="2453040"/>
            <a:ext cx="316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SEGFAULT: Node 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224956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256493243" name=""/>
          <p:cNvSpPr/>
          <p:nvPr/>
        </p:nvSpPr>
        <p:spPr bwMode="auto">
          <a:xfrm>
            <a:off x="5223960" y="2531519"/>
            <a:ext cx="2772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92D050"/>
                </a:solidFill>
                <a:latin typeface="Aptos"/>
                <a:ea typeface="Arial"/>
              </a:rPr>
              <a:t>traversing the list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9959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9951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Safe Concurrent Optimistic Traversals (SCOT)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31375335" name="PlaceHolder 2"/>
          <p:cNvSpPr>
            <a:spLocks noGrp="1"/>
          </p:cNvSpPr>
          <p:nvPr>
            <p:ph/>
          </p:nvPr>
        </p:nvSpPr>
        <p:spPr bwMode="auto">
          <a:xfrm>
            <a:off x="838080" y="2213280"/>
            <a:ext cx="10515240" cy="439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Instead of fixing the SMR → fix the </a:t>
            </a:r>
            <a:r>
              <a:rPr lang="en-US" sz="2800" b="1" u="none" strike="noStrike">
                <a:solidFill>
                  <a:schemeClr val="dk1"/>
                </a:solidFill>
                <a:latin typeface="Aptos"/>
                <a:ea typeface="Aptos"/>
              </a:rPr>
              <a:t>data structure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Resolves the robustness vs. applicability dilemma, ERA Theorem [PODC ’23]</a:t>
            </a:r>
            <a:endParaRPr lang="en-US" sz="24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8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Redesign traversals to add </a:t>
            </a:r>
            <a:r>
              <a:rPr lang="en-US" sz="2800" b="1" u="none" strike="noStrike">
                <a:solidFill>
                  <a:schemeClr val="dk1"/>
                </a:solidFill>
                <a:latin typeface="Aptos"/>
                <a:ea typeface="Aptos"/>
              </a:rPr>
              <a:t>local validation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873122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11138029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72053545" name="TextBox 9"/>
          <p:cNvSpPr/>
          <p:nvPr/>
        </p:nvSpPr>
        <p:spPr bwMode="auto">
          <a:xfrm>
            <a:off x="2741400" y="2439720"/>
            <a:ext cx="67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319265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37184028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34849790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23210133" name="TextBox 17"/>
          <p:cNvSpPr/>
          <p:nvPr/>
        </p:nvSpPr>
        <p:spPr bwMode="auto">
          <a:xfrm>
            <a:off x="4723560" y="2442240"/>
            <a:ext cx="71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0868761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0916457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95721674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33130690" name="TextBox 4"/>
          <p:cNvSpPr/>
          <p:nvPr/>
        </p:nvSpPr>
        <p:spPr bwMode="auto">
          <a:xfrm>
            <a:off x="920160" y="2442240"/>
            <a:ext cx="711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892556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66626070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99279710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04342512" name="TextBox 20"/>
          <p:cNvSpPr/>
          <p:nvPr/>
        </p:nvSpPr>
        <p:spPr bwMode="auto">
          <a:xfrm>
            <a:off x="8394480" y="2436120"/>
            <a:ext cx="5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752819" name="TextBox 5"/>
          <p:cNvSpPr/>
          <p:nvPr/>
        </p:nvSpPr>
        <p:spPr bwMode="auto">
          <a:xfrm>
            <a:off x="3278160" y="4165920"/>
            <a:ext cx="660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Initial State: List Contains Nodes N1-N6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889807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973964204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50858374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0838657" name="TextBox 22"/>
          <p:cNvSpPr/>
          <p:nvPr/>
        </p:nvSpPr>
        <p:spPr bwMode="auto">
          <a:xfrm>
            <a:off x="6536520" y="2442600"/>
            <a:ext cx="83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022893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42762741" name="TextBox 28"/>
          <p:cNvSpPr/>
          <p:nvPr/>
        </p:nvSpPr>
        <p:spPr bwMode="auto">
          <a:xfrm>
            <a:off x="10187640" y="2422800"/>
            <a:ext cx="5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918884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57181995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071326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643462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13906844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145863161" name="TextBox 9"/>
          <p:cNvSpPr/>
          <p:nvPr/>
        </p:nvSpPr>
        <p:spPr bwMode="auto">
          <a:xfrm>
            <a:off x="2741400" y="2439720"/>
            <a:ext cx="87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319698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05509464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18157161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067901782" name="TextBox 17"/>
          <p:cNvSpPr/>
          <p:nvPr/>
        </p:nvSpPr>
        <p:spPr bwMode="auto">
          <a:xfrm>
            <a:off x="4723560" y="2442240"/>
            <a:ext cx="61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336239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75609767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96452622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74711953" name="TextBox 4"/>
          <p:cNvSpPr/>
          <p:nvPr/>
        </p:nvSpPr>
        <p:spPr bwMode="auto">
          <a:xfrm>
            <a:off x="920160" y="2442240"/>
            <a:ext cx="686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657409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93414946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63350992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84736875" name="TextBox 20"/>
          <p:cNvSpPr/>
          <p:nvPr/>
        </p:nvSpPr>
        <p:spPr bwMode="auto">
          <a:xfrm>
            <a:off x="8394480" y="2436120"/>
            <a:ext cx="5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311026" name="TextBox 5"/>
          <p:cNvSpPr/>
          <p:nvPr/>
        </p:nvSpPr>
        <p:spPr bwMode="auto">
          <a:xfrm>
            <a:off x="3292560" y="4542120"/>
            <a:ext cx="7365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Hp0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: protects next</a:t>
            </a:r>
            <a:br>
              <a:rPr sz="2400"/>
            </a:b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Hp1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: protects curr</a:t>
            </a:r>
            <a:br>
              <a:rPr sz="2400"/>
            </a:b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Hp2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: protects prev (not available at the very beginning)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8410026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973632400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14142276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49920280" name="TextBox 22"/>
          <p:cNvSpPr/>
          <p:nvPr/>
        </p:nvSpPr>
        <p:spPr bwMode="auto">
          <a:xfrm>
            <a:off x="6536520" y="2442600"/>
            <a:ext cx="86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203584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09854519" name="Straight Arrow Connector 8"/>
          <p:cNvCxnSpPr/>
          <p:nvPr/>
        </p:nvCxnSpPr>
        <p:spPr bwMode="auto">
          <a:xfrm flipV="1">
            <a:off x="1429920" y="2892960"/>
            <a:ext cx="9000" cy="4374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980105318" name="TextBox 23"/>
          <p:cNvSpPr/>
          <p:nvPr/>
        </p:nvSpPr>
        <p:spPr bwMode="auto">
          <a:xfrm>
            <a:off x="912960" y="3229200"/>
            <a:ext cx="1823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39016073" name="Straight Arrow Connector 24"/>
          <p:cNvCxnSpPr/>
          <p:nvPr/>
        </p:nvCxnSpPr>
        <p:spPr bwMode="auto">
          <a:xfrm flipV="1">
            <a:off x="3227040" y="2907360"/>
            <a:ext cx="9000" cy="4374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288105671" name="TextBox 30"/>
          <p:cNvSpPr/>
          <p:nvPr/>
        </p:nvSpPr>
        <p:spPr bwMode="auto">
          <a:xfrm>
            <a:off x="2738519" y="3224160"/>
            <a:ext cx="2743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 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387638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56255208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073642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55013798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389145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69468788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7324201" name="TextBox 9"/>
          <p:cNvSpPr/>
          <p:nvPr/>
        </p:nvSpPr>
        <p:spPr bwMode="auto">
          <a:xfrm>
            <a:off x="2741400" y="2439720"/>
            <a:ext cx="770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 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039217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32886078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10311018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18356225" name="TextBox 17"/>
          <p:cNvSpPr/>
          <p:nvPr/>
        </p:nvSpPr>
        <p:spPr bwMode="auto">
          <a:xfrm>
            <a:off x="4723560" y="2442240"/>
            <a:ext cx="643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021974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29746012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46013556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61899470" name="TextBox 4"/>
          <p:cNvSpPr/>
          <p:nvPr/>
        </p:nvSpPr>
        <p:spPr bwMode="auto">
          <a:xfrm>
            <a:off x="920160" y="2442240"/>
            <a:ext cx="686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2244163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99903396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38855571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07729348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262185" name="TextBox 5"/>
          <p:cNvSpPr/>
          <p:nvPr/>
        </p:nvSpPr>
        <p:spPr bwMode="auto">
          <a:xfrm>
            <a:off x="1262520" y="4398120"/>
            <a:ext cx="105177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Moving hazard pointers when moving to the next iteration: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curr (N1) [Hp1] -&gt; prev [Hp2]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next (N2) [Hp0] -&gt; curr [Hp1]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(new) next (N3) [Hp0]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679096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60142579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18100182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792059" name="TextBox 22"/>
          <p:cNvSpPr/>
          <p:nvPr/>
        </p:nvSpPr>
        <p:spPr bwMode="auto">
          <a:xfrm>
            <a:off x="6536520" y="2442600"/>
            <a:ext cx="76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35087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82614259" name="Straight Arrow Connector 8"/>
          <p:cNvCxnSpPr/>
          <p:nvPr/>
        </p:nvCxnSpPr>
        <p:spPr bwMode="auto">
          <a:xfrm flipV="1">
            <a:off x="1429920" y="2892960"/>
            <a:ext cx="9000" cy="4374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939405303" name="TextBox 23"/>
          <p:cNvSpPr/>
          <p:nvPr/>
        </p:nvSpPr>
        <p:spPr bwMode="auto">
          <a:xfrm>
            <a:off x="912960" y="3229200"/>
            <a:ext cx="1823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31023320" name="Straight Arrow Connector 24"/>
          <p:cNvCxnSpPr/>
          <p:nvPr/>
        </p:nvCxnSpPr>
        <p:spPr bwMode="auto">
          <a:xfrm flipV="1">
            <a:off x="3227040" y="2907360"/>
            <a:ext cx="9000" cy="4374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94840906" name="TextBox 30"/>
          <p:cNvSpPr/>
          <p:nvPr/>
        </p:nvSpPr>
        <p:spPr bwMode="auto">
          <a:xfrm>
            <a:off x="2738519" y="3224160"/>
            <a:ext cx="2743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 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15792040" name="Straight Arrow Connector 25"/>
          <p:cNvCxnSpPr/>
          <p:nvPr/>
        </p:nvCxnSpPr>
        <p:spPr bwMode="auto">
          <a:xfrm flipH="1" flipV="1">
            <a:off x="5191200" y="2950200"/>
            <a:ext cx="6120" cy="3657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829527100" name="TextBox 32"/>
          <p:cNvSpPr/>
          <p:nvPr/>
        </p:nvSpPr>
        <p:spPr bwMode="auto">
          <a:xfrm>
            <a:off x="4727160" y="3258011"/>
            <a:ext cx="2743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 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938940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46675228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605504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125211741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311520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82316066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584865828" name="TextBox 9"/>
          <p:cNvSpPr/>
          <p:nvPr/>
        </p:nvSpPr>
        <p:spPr bwMode="auto">
          <a:xfrm>
            <a:off x="2741400" y="2439720"/>
            <a:ext cx="87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38403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89103436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47451185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904368969" name="TextBox 17"/>
          <p:cNvSpPr/>
          <p:nvPr/>
        </p:nvSpPr>
        <p:spPr bwMode="auto">
          <a:xfrm>
            <a:off x="4723560" y="2442240"/>
            <a:ext cx="6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244264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526036230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07348668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67272441" name="TextBox 4"/>
          <p:cNvSpPr/>
          <p:nvPr/>
        </p:nvSpPr>
        <p:spPr bwMode="auto">
          <a:xfrm>
            <a:off x="920160" y="2442240"/>
            <a:ext cx="711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181443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131281262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45354564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716270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236299" name="TextBox 5"/>
          <p:cNvSpPr/>
          <p:nvPr/>
        </p:nvSpPr>
        <p:spPr bwMode="auto">
          <a:xfrm>
            <a:off x="3753000" y="4366440"/>
            <a:ext cx="5049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ptos"/>
              </a:rPr>
              <a:t>Node N2-N4 are logically deleted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148399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10504937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24723674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702552894" name="TextBox 22"/>
          <p:cNvSpPr/>
          <p:nvPr/>
        </p:nvSpPr>
        <p:spPr bwMode="auto">
          <a:xfrm>
            <a:off x="6536520" y="2442600"/>
            <a:ext cx="73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515999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977019840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995880713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646157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99815054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367903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99392382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070749377" name="TextBox 9"/>
          <p:cNvSpPr/>
          <p:nvPr/>
        </p:nvSpPr>
        <p:spPr bwMode="auto">
          <a:xfrm>
            <a:off x="2741400" y="2439720"/>
            <a:ext cx="79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28778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48228823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1380498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352408374" name="TextBox 17"/>
          <p:cNvSpPr/>
          <p:nvPr/>
        </p:nvSpPr>
        <p:spPr bwMode="auto">
          <a:xfrm>
            <a:off x="4723560" y="2442240"/>
            <a:ext cx="743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924144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502966838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9941506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87322100" name="TextBox 4"/>
          <p:cNvSpPr/>
          <p:nvPr/>
        </p:nvSpPr>
        <p:spPr bwMode="auto">
          <a:xfrm>
            <a:off x="920160" y="2442240"/>
            <a:ext cx="76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309531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90948511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37922137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30275520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8103027" name="TextBox 5"/>
          <p:cNvSpPr/>
          <p:nvPr/>
        </p:nvSpPr>
        <p:spPr bwMode="auto">
          <a:xfrm>
            <a:off x="1907640" y="4413240"/>
            <a:ext cx="75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Need to be careful while traversing the 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808838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75590373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90611831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51734522" name="TextBox 22"/>
          <p:cNvSpPr/>
          <p:nvPr/>
        </p:nvSpPr>
        <p:spPr bwMode="auto">
          <a:xfrm>
            <a:off x="6536520" y="2442600"/>
            <a:ext cx="785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262930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67805763" name="Straight Arrow Connector 8"/>
          <p:cNvCxnSpPr/>
          <p:nvPr/>
        </p:nvCxnSpPr>
        <p:spPr bwMode="auto">
          <a:xfrm flipH="1">
            <a:off x="246348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2108981432" name="Straight Arrow Connector 23"/>
          <p:cNvCxnSpPr/>
          <p:nvPr/>
        </p:nvCxnSpPr>
        <p:spPr bwMode="auto">
          <a:xfrm flipH="1">
            <a:off x="793116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053050386" name="Straight Arrow Connector 24"/>
          <p:cNvCxnSpPr/>
          <p:nvPr/>
        </p:nvCxnSpPr>
        <p:spPr bwMode="auto">
          <a:xfrm flipV="1">
            <a:off x="2464920" y="3183840"/>
            <a:ext cx="5493240" cy="144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912974801" name="Straight Arrow Connector 25"/>
          <p:cNvCxnSpPr/>
          <p:nvPr/>
        </p:nvCxnSpPr>
        <p:spPr bwMode="auto">
          <a:xfrm flipV="1">
            <a:off x="2464920" y="217440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209832318" name="TextBox 30"/>
          <p:cNvSpPr/>
          <p:nvPr/>
        </p:nvSpPr>
        <p:spPr bwMode="auto">
          <a:xfrm>
            <a:off x="3760560" y="162172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2625656" name="Graphic 32" descr="Danger with solid fill"/>
          <p:cNvPicPr/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199560" y="13143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8033553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51394465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441493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65951954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507322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2226195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642876947" name="TextBox 9"/>
          <p:cNvSpPr/>
          <p:nvPr/>
        </p:nvSpPr>
        <p:spPr bwMode="auto">
          <a:xfrm>
            <a:off x="2741400" y="2439720"/>
            <a:ext cx="72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514659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93573683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6809007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083949470" name="TextBox 17"/>
          <p:cNvSpPr/>
          <p:nvPr/>
        </p:nvSpPr>
        <p:spPr bwMode="auto">
          <a:xfrm>
            <a:off x="4723560" y="2442240"/>
            <a:ext cx="69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2337777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18284191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67781198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77349140" name="TextBox 4"/>
          <p:cNvSpPr/>
          <p:nvPr/>
        </p:nvSpPr>
        <p:spPr bwMode="auto">
          <a:xfrm>
            <a:off x="920160" y="2442240"/>
            <a:ext cx="66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355061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92217545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13764885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132262561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5659719" name="TextBox 5"/>
          <p:cNvSpPr/>
          <p:nvPr/>
        </p:nvSpPr>
        <p:spPr bwMode="auto">
          <a:xfrm>
            <a:off x="2422440" y="4789440"/>
            <a:ext cx="84096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600" b="0" u="none" strike="noStrike">
                <a:solidFill>
                  <a:schemeClr val="accent6"/>
                </a:solidFill>
                <a:latin typeface="Aptos"/>
                <a:ea typeface="Arial"/>
              </a:rPr>
              <a:t>N1 and N2 protected by hazard pointers’ reservations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24001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40599077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17334399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71349391" name="TextBox 22"/>
          <p:cNvSpPr/>
          <p:nvPr/>
        </p:nvSpPr>
        <p:spPr bwMode="auto">
          <a:xfrm>
            <a:off x="6536520" y="2442600"/>
            <a:ext cx="69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864158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643946421" name="Straight Arrow Connector 8"/>
          <p:cNvCxnSpPr/>
          <p:nvPr/>
        </p:nvCxnSpPr>
        <p:spPr bwMode="auto">
          <a:xfrm flipH="1">
            <a:off x="246348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773122054" name="Straight Arrow Connector 23"/>
          <p:cNvCxnSpPr/>
          <p:nvPr/>
        </p:nvCxnSpPr>
        <p:spPr bwMode="auto">
          <a:xfrm flipH="1">
            <a:off x="793116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153093949" name="Straight Arrow Connector 24"/>
          <p:cNvCxnSpPr/>
          <p:nvPr/>
        </p:nvCxnSpPr>
        <p:spPr bwMode="auto">
          <a:xfrm flipV="1">
            <a:off x="2464920" y="3183840"/>
            <a:ext cx="5493240" cy="144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314365302" name="Straight Arrow Connector 25"/>
          <p:cNvCxnSpPr/>
          <p:nvPr/>
        </p:nvCxnSpPr>
        <p:spPr bwMode="auto">
          <a:xfrm flipV="1">
            <a:off x="2464920" y="217440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598921910" name="TextBox 30"/>
          <p:cNvSpPr/>
          <p:nvPr/>
        </p:nvSpPr>
        <p:spPr bwMode="auto">
          <a:xfrm>
            <a:off x="3792599" y="169020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01870099" name="Straight Arrow Connector 32"/>
          <p:cNvCxnSpPr/>
          <p:nvPr/>
        </p:nvCxnSpPr>
        <p:spPr bwMode="auto">
          <a:xfrm flipV="1">
            <a:off x="1390680" y="292392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036495365" name="Straight Arrow Connector 33"/>
          <p:cNvCxnSpPr/>
          <p:nvPr/>
        </p:nvCxnSpPr>
        <p:spPr bwMode="auto">
          <a:xfrm flipV="1">
            <a:off x="3288960" y="287064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108569344" name="TextBox 34"/>
          <p:cNvSpPr/>
          <p:nvPr/>
        </p:nvSpPr>
        <p:spPr bwMode="auto">
          <a:xfrm>
            <a:off x="844920" y="3415320"/>
            <a:ext cx="1488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585932" name="TextBox 36"/>
          <p:cNvSpPr/>
          <p:nvPr/>
        </p:nvSpPr>
        <p:spPr bwMode="auto">
          <a:xfrm>
            <a:off x="2742480" y="3415320"/>
            <a:ext cx="155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6760011" name="Graphic 37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77600" y="13143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1510032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76948284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752077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56078324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60619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32058187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54703042" name="TextBox 9"/>
          <p:cNvSpPr/>
          <p:nvPr/>
        </p:nvSpPr>
        <p:spPr bwMode="auto">
          <a:xfrm>
            <a:off x="2741400" y="2439720"/>
            <a:ext cx="67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4934051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16789646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05279809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571126660" name="TextBox 17"/>
          <p:cNvSpPr/>
          <p:nvPr/>
        </p:nvSpPr>
        <p:spPr bwMode="auto">
          <a:xfrm>
            <a:off x="4723560" y="2442240"/>
            <a:ext cx="71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380479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34908090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63873264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144627951" name="TextBox 4"/>
          <p:cNvSpPr/>
          <p:nvPr/>
        </p:nvSpPr>
        <p:spPr bwMode="auto">
          <a:xfrm>
            <a:off x="920160" y="2442240"/>
            <a:ext cx="7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492881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29895083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93796443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88602806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864969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49509846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81691094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89660121" name="TextBox 22"/>
          <p:cNvSpPr/>
          <p:nvPr/>
        </p:nvSpPr>
        <p:spPr bwMode="auto">
          <a:xfrm>
            <a:off x="6536520" y="2442600"/>
            <a:ext cx="710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355520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44290283" name="Straight Arrow Connector 8"/>
          <p:cNvCxnSpPr/>
          <p:nvPr/>
        </p:nvCxnSpPr>
        <p:spPr bwMode="auto">
          <a:xfrm flipH="1">
            <a:off x="246348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782104305" name="Straight Arrow Connector 23"/>
          <p:cNvCxnSpPr/>
          <p:nvPr/>
        </p:nvCxnSpPr>
        <p:spPr bwMode="auto">
          <a:xfrm flipH="1">
            <a:off x="793116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86671735" name="Straight Arrow Connector 24"/>
          <p:cNvCxnSpPr/>
          <p:nvPr/>
        </p:nvCxnSpPr>
        <p:spPr bwMode="auto">
          <a:xfrm flipV="1">
            <a:off x="2464920" y="3183840"/>
            <a:ext cx="5493240" cy="144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84075496" name="Straight Arrow Connector 25"/>
          <p:cNvCxnSpPr/>
          <p:nvPr/>
        </p:nvCxnSpPr>
        <p:spPr bwMode="auto">
          <a:xfrm flipV="1">
            <a:off x="2464920" y="217440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124565593" name="TextBox 30"/>
          <p:cNvSpPr/>
          <p:nvPr/>
        </p:nvSpPr>
        <p:spPr bwMode="auto">
          <a:xfrm>
            <a:off x="3802319" y="1727639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44529166" name="Straight Arrow Connector 32"/>
          <p:cNvCxnSpPr/>
          <p:nvPr/>
        </p:nvCxnSpPr>
        <p:spPr bwMode="auto">
          <a:xfrm flipV="1">
            <a:off x="1390680" y="292392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582927413" name="Straight Arrow Connector 33"/>
          <p:cNvCxnSpPr/>
          <p:nvPr/>
        </p:nvCxnSpPr>
        <p:spPr bwMode="auto">
          <a:xfrm flipV="1">
            <a:off x="3288960" y="287064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968074243" name="TextBox 34"/>
          <p:cNvSpPr/>
          <p:nvPr/>
        </p:nvSpPr>
        <p:spPr bwMode="auto">
          <a:xfrm>
            <a:off x="844920" y="3415320"/>
            <a:ext cx="1577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0775308" name="TextBox 36"/>
          <p:cNvSpPr/>
          <p:nvPr/>
        </p:nvSpPr>
        <p:spPr bwMode="auto">
          <a:xfrm>
            <a:off x="2742480" y="3415320"/>
            <a:ext cx="16725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 </a:t>
            </a: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1965949" name="Straight Arrow Connector 35"/>
          <p:cNvCxnSpPr/>
          <p:nvPr/>
        </p:nvCxnSpPr>
        <p:spPr bwMode="auto">
          <a:xfrm flipV="1">
            <a:off x="5168520" y="293580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18653242" name="TextBox 37"/>
          <p:cNvSpPr/>
          <p:nvPr/>
        </p:nvSpPr>
        <p:spPr bwMode="auto">
          <a:xfrm>
            <a:off x="4626360" y="3418200"/>
            <a:ext cx="1624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 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885725" name="TextBox 38"/>
          <p:cNvSpPr/>
          <p:nvPr/>
        </p:nvSpPr>
        <p:spPr bwMode="auto">
          <a:xfrm>
            <a:off x="721440" y="4795200"/>
            <a:ext cx="6736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Next destination N3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 is the last safe node and protected by Hp2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N2 is the first unsafe node protected by </a:t>
            </a: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Hp3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8362894" name="Graphic 39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250320" y="13071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8113001" name="TextBox 40"/>
          <p:cNvSpPr/>
          <p:nvPr/>
        </p:nvSpPr>
        <p:spPr bwMode="auto">
          <a:xfrm>
            <a:off x="2158200" y="5970960"/>
            <a:ext cx="9500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Hp3 is an extra hazard pointer which protects the 1st unsafe node</a:t>
            </a:r>
            <a:br>
              <a:rPr sz="2400"/>
            </a:b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Hp2 protects the last safe node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921424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0728152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667324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6902539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680887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86704690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916814892" name="TextBox 9"/>
          <p:cNvSpPr/>
          <p:nvPr/>
        </p:nvSpPr>
        <p:spPr bwMode="auto">
          <a:xfrm>
            <a:off x="2741400" y="2565360"/>
            <a:ext cx="770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321507" name="Arrow: Right 10"/>
          <p:cNvSpPr/>
          <p:nvPr/>
        </p:nvSpPr>
        <p:spPr bwMode="auto">
          <a:xfrm>
            <a:off x="397836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46902509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13827107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324583441" name="TextBox 17"/>
          <p:cNvSpPr/>
          <p:nvPr/>
        </p:nvSpPr>
        <p:spPr bwMode="auto">
          <a:xfrm>
            <a:off x="4723560" y="2567519"/>
            <a:ext cx="637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065302" name="Arrow: Right 1"/>
          <p:cNvSpPr/>
          <p:nvPr/>
        </p:nvSpPr>
        <p:spPr bwMode="auto">
          <a:xfrm>
            <a:off x="2099880" y="26528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930610248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8794411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46238571" name="TextBox 4"/>
          <p:cNvSpPr/>
          <p:nvPr/>
        </p:nvSpPr>
        <p:spPr bwMode="auto">
          <a:xfrm>
            <a:off x="920160" y="2567519"/>
            <a:ext cx="82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287026" name="Arrow: Right 12"/>
          <p:cNvSpPr/>
          <p:nvPr/>
        </p:nvSpPr>
        <p:spPr bwMode="auto">
          <a:xfrm>
            <a:off x="585792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40206573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99474441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26952166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266618" name="Arrow: Right 14"/>
          <p:cNvSpPr/>
          <p:nvPr/>
        </p:nvSpPr>
        <p:spPr bwMode="auto">
          <a:xfrm>
            <a:off x="7642440" y="26730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31559669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97545371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094881058" name="TextBox 22"/>
          <p:cNvSpPr/>
          <p:nvPr/>
        </p:nvSpPr>
        <p:spPr bwMode="auto">
          <a:xfrm>
            <a:off x="6536520" y="2568240"/>
            <a:ext cx="62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236256" name="Arrow: Right 29"/>
          <p:cNvSpPr/>
          <p:nvPr/>
        </p:nvSpPr>
        <p:spPr bwMode="auto">
          <a:xfrm>
            <a:off x="9560880" y="2659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91255303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712605821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2119567851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841736035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883053757" name="TextBox 30"/>
          <p:cNvSpPr/>
          <p:nvPr/>
        </p:nvSpPr>
        <p:spPr bwMode="auto">
          <a:xfrm>
            <a:off x="3988440" y="139608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18865941" name="Straight Arrow Connector 32"/>
          <p:cNvCxnSpPr/>
          <p:nvPr/>
        </p:nvCxnSpPr>
        <p:spPr bwMode="auto">
          <a:xfrm flipV="1">
            <a:off x="1390680" y="304920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2058818113" name="Straight Arrow Connector 33"/>
          <p:cNvCxnSpPr/>
          <p:nvPr/>
        </p:nvCxnSpPr>
        <p:spPr bwMode="auto">
          <a:xfrm flipV="1">
            <a:off x="3288960" y="29959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891955156" name="TextBox 34"/>
          <p:cNvSpPr/>
          <p:nvPr/>
        </p:nvSpPr>
        <p:spPr bwMode="auto">
          <a:xfrm>
            <a:off x="844920" y="3540600"/>
            <a:ext cx="1488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2114058" name="TextBox 36"/>
          <p:cNvSpPr/>
          <p:nvPr/>
        </p:nvSpPr>
        <p:spPr bwMode="auto">
          <a:xfrm>
            <a:off x="2742480" y="3540600"/>
            <a:ext cx="1421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8031295" name="Straight Arrow Connector 35"/>
          <p:cNvCxnSpPr/>
          <p:nvPr/>
        </p:nvCxnSpPr>
        <p:spPr bwMode="auto">
          <a:xfrm flipV="1">
            <a:off x="5168520" y="306108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065423859" name="TextBox 37"/>
          <p:cNvSpPr/>
          <p:nvPr/>
        </p:nvSpPr>
        <p:spPr bwMode="auto">
          <a:xfrm>
            <a:off x="4626360" y="3543480"/>
            <a:ext cx="1667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 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717887" name="TextBox 38"/>
          <p:cNvSpPr/>
          <p:nvPr/>
        </p:nvSpPr>
        <p:spPr bwMode="auto">
          <a:xfrm>
            <a:off x="1469520" y="5027400"/>
            <a:ext cx="8068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600" b="0" u="none" strike="noStrike">
                <a:solidFill>
                  <a:schemeClr val="accent6"/>
                </a:solidFill>
                <a:latin typeface="Aptos"/>
                <a:ea typeface="Aptos"/>
              </a:rPr>
              <a:t>Validate (*prev = prev_next) after reserving N3 (Hp0)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243391" name="TextBox 39"/>
          <p:cNvSpPr/>
          <p:nvPr/>
        </p:nvSpPr>
        <p:spPr bwMode="auto">
          <a:xfrm>
            <a:off x="1469520" y="2576519"/>
            <a:ext cx="866879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000" b="1" u="none" strike="noStrike">
                <a:solidFill>
                  <a:schemeClr val="accent6"/>
                </a:solidFill>
                <a:latin typeface="Aptos"/>
                <a:ea typeface="Arial"/>
              </a:rPr>
              <a:t>prev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50883162" name="Straight Arrow Connector 40"/>
          <p:cNvCxnSpPr/>
          <p:nvPr/>
        </p:nvCxnSpPr>
        <p:spPr bwMode="auto">
          <a:xfrm flipV="1">
            <a:off x="1738080" y="1934280"/>
            <a:ext cx="7560" cy="580680"/>
          </a:xfrm>
          <a:prstGeom prst="straightConnector1">
            <a:avLst/>
          </a:prstGeom>
          <a:ln>
            <a:solidFill>
              <a:srgbClr val="4EA72E"/>
            </a:solidFill>
            <a:prstDash val="dash"/>
          </a:ln>
        </p:spPr>
      </p:cxnSp>
      <p:cxnSp>
        <p:nvCxnSpPr>
          <p:cNvPr id="1509866276" name="Straight Arrow Connector 41"/>
          <p:cNvCxnSpPr/>
          <p:nvPr/>
        </p:nvCxnSpPr>
        <p:spPr bwMode="auto">
          <a:xfrm>
            <a:off x="1745280" y="1924920"/>
            <a:ext cx="1422720" cy="7920"/>
          </a:xfrm>
          <a:prstGeom prst="straightConnector1">
            <a:avLst/>
          </a:prstGeom>
          <a:ln>
            <a:solidFill>
              <a:srgbClr val="4EA72E"/>
            </a:solidFill>
            <a:prstDash val="dash"/>
          </a:ln>
        </p:spPr>
      </p:cxnSp>
      <p:cxnSp>
        <p:nvCxnSpPr>
          <p:cNvPr id="159201402" name="Straight Arrow Connector 42"/>
          <p:cNvCxnSpPr/>
          <p:nvPr/>
        </p:nvCxnSpPr>
        <p:spPr bwMode="auto">
          <a:xfrm>
            <a:off x="3167640" y="1930680"/>
            <a:ext cx="360" cy="529920"/>
          </a:xfrm>
          <a:prstGeom prst="straightConnector1">
            <a:avLst/>
          </a:prstGeom>
          <a:ln>
            <a:solidFill>
              <a:srgbClr val="4EA72E"/>
            </a:solidFill>
            <a:prstDash val="dash"/>
            <a:tailEnd type="triangle" w="med" len="med"/>
          </a:ln>
        </p:spPr>
      </p:cxnSp>
      <p:sp>
        <p:nvSpPr>
          <p:cNvPr id="948303257" name="TextBox 43"/>
          <p:cNvSpPr/>
          <p:nvPr/>
        </p:nvSpPr>
        <p:spPr bwMode="auto">
          <a:xfrm>
            <a:off x="1657080" y="1548000"/>
            <a:ext cx="1510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9496553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56000" y="14324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337706" name="TextBox 45"/>
          <p:cNvSpPr/>
          <p:nvPr/>
        </p:nvSpPr>
        <p:spPr bwMode="auto">
          <a:xfrm>
            <a:off x="3164040" y="185256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703976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14440475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536252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96160273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08351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59237762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657979159" name="TextBox 9"/>
          <p:cNvSpPr/>
          <p:nvPr/>
        </p:nvSpPr>
        <p:spPr bwMode="auto">
          <a:xfrm>
            <a:off x="2741400" y="2565360"/>
            <a:ext cx="749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458028" name="Arrow: Right 10"/>
          <p:cNvSpPr/>
          <p:nvPr/>
        </p:nvSpPr>
        <p:spPr bwMode="auto">
          <a:xfrm>
            <a:off x="397836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7835859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98300604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628592148" name="TextBox 17"/>
          <p:cNvSpPr/>
          <p:nvPr/>
        </p:nvSpPr>
        <p:spPr bwMode="auto">
          <a:xfrm>
            <a:off x="4723560" y="2567519"/>
            <a:ext cx="637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4047642" name="Arrow: Right 1"/>
          <p:cNvSpPr/>
          <p:nvPr/>
        </p:nvSpPr>
        <p:spPr bwMode="auto">
          <a:xfrm>
            <a:off x="2099880" y="26528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31303788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46754858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984083610" name="TextBox 4"/>
          <p:cNvSpPr/>
          <p:nvPr/>
        </p:nvSpPr>
        <p:spPr bwMode="auto">
          <a:xfrm>
            <a:off x="920160" y="2567519"/>
            <a:ext cx="64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987634" name="Arrow: Right 12"/>
          <p:cNvSpPr/>
          <p:nvPr/>
        </p:nvSpPr>
        <p:spPr bwMode="auto">
          <a:xfrm>
            <a:off x="585792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74408950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139618704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8458139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627212" name="Arrow: Right 14"/>
          <p:cNvSpPr/>
          <p:nvPr/>
        </p:nvSpPr>
        <p:spPr bwMode="auto">
          <a:xfrm>
            <a:off x="7642440" y="26730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51880234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77329696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644988596" name="TextBox 22"/>
          <p:cNvSpPr/>
          <p:nvPr/>
        </p:nvSpPr>
        <p:spPr bwMode="auto">
          <a:xfrm>
            <a:off x="6536520" y="2568240"/>
            <a:ext cx="76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023043" name="Arrow: Right 29"/>
          <p:cNvSpPr/>
          <p:nvPr/>
        </p:nvSpPr>
        <p:spPr bwMode="auto">
          <a:xfrm>
            <a:off x="9560880" y="2659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83815352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681916884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075656120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240975591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737969516" name="TextBox 30"/>
          <p:cNvSpPr/>
          <p:nvPr/>
        </p:nvSpPr>
        <p:spPr bwMode="auto">
          <a:xfrm>
            <a:off x="3988440" y="139608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83572733" name="Straight Arrow Connector 32"/>
          <p:cNvCxnSpPr/>
          <p:nvPr/>
        </p:nvCxnSpPr>
        <p:spPr bwMode="auto">
          <a:xfrm flipV="1">
            <a:off x="1390680" y="304920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217159681" name="Straight Arrow Connector 33"/>
          <p:cNvCxnSpPr/>
          <p:nvPr/>
        </p:nvCxnSpPr>
        <p:spPr bwMode="auto">
          <a:xfrm flipV="1">
            <a:off x="3288960" y="29959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376656616" name="TextBox 34"/>
          <p:cNvSpPr/>
          <p:nvPr/>
        </p:nvSpPr>
        <p:spPr bwMode="auto">
          <a:xfrm>
            <a:off x="844920" y="3540600"/>
            <a:ext cx="1438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711141" name="TextBox 36"/>
          <p:cNvSpPr/>
          <p:nvPr/>
        </p:nvSpPr>
        <p:spPr bwMode="auto">
          <a:xfrm>
            <a:off x="2742480" y="3540600"/>
            <a:ext cx="1496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65706474" name="Straight Arrow Connector 35"/>
          <p:cNvCxnSpPr/>
          <p:nvPr/>
        </p:nvCxnSpPr>
        <p:spPr bwMode="auto">
          <a:xfrm flipV="1">
            <a:off x="5168520" y="306108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894282280" name="TextBox 37"/>
          <p:cNvSpPr/>
          <p:nvPr/>
        </p:nvSpPr>
        <p:spPr bwMode="auto">
          <a:xfrm>
            <a:off x="4626360" y="3543480"/>
            <a:ext cx="1617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5959554" name="TextBox 38"/>
          <p:cNvSpPr/>
          <p:nvPr/>
        </p:nvSpPr>
        <p:spPr bwMode="auto">
          <a:xfrm>
            <a:off x="1396080" y="5027400"/>
            <a:ext cx="8141039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600" b="0" u="none" strike="noStrike">
                <a:solidFill>
                  <a:schemeClr val="accent6"/>
                </a:solidFill>
                <a:latin typeface="Aptos"/>
                <a:ea typeface="Aptos"/>
              </a:rPr>
              <a:t>Validate (*prev = prev_next) after reserving N4 (Hp0)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498090" name="TextBox 39"/>
          <p:cNvSpPr/>
          <p:nvPr/>
        </p:nvSpPr>
        <p:spPr bwMode="auto">
          <a:xfrm>
            <a:off x="1453320" y="2576519"/>
            <a:ext cx="75564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000" b="1" u="none" strike="noStrike">
                <a:solidFill>
                  <a:schemeClr val="accent6"/>
                </a:solidFill>
                <a:latin typeface="Aptos"/>
                <a:ea typeface="Arial"/>
              </a:rPr>
              <a:t>prev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21675768" name="Straight Arrow Connector 40"/>
          <p:cNvCxnSpPr/>
          <p:nvPr/>
        </p:nvCxnSpPr>
        <p:spPr bwMode="auto">
          <a:xfrm flipV="1">
            <a:off x="1738080" y="1934280"/>
            <a:ext cx="7560" cy="580680"/>
          </a:xfrm>
          <a:prstGeom prst="straightConnector1">
            <a:avLst/>
          </a:prstGeom>
          <a:ln>
            <a:solidFill>
              <a:srgbClr val="4EA72E"/>
            </a:solidFill>
            <a:prstDash val="dash"/>
          </a:ln>
        </p:spPr>
      </p:cxnSp>
      <p:cxnSp>
        <p:nvCxnSpPr>
          <p:cNvPr id="1120789435" name="Straight Arrow Connector 41"/>
          <p:cNvCxnSpPr/>
          <p:nvPr/>
        </p:nvCxnSpPr>
        <p:spPr bwMode="auto">
          <a:xfrm>
            <a:off x="1745280" y="1924920"/>
            <a:ext cx="1422720" cy="7920"/>
          </a:xfrm>
          <a:prstGeom prst="straightConnector1">
            <a:avLst/>
          </a:prstGeom>
          <a:ln>
            <a:solidFill>
              <a:srgbClr val="4EA72E"/>
            </a:solidFill>
            <a:prstDash val="dash"/>
          </a:ln>
        </p:spPr>
      </p:cxnSp>
      <p:cxnSp>
        <p:nvCxnSpPr>
          <p:cNvPr id="1885894654" name="Straight Arrow Connector 42"/>
          <p:cNvCxnSpPr/>
          <p:nvPr/>
        </p:nvCxnSpPr>
        <p:spPr bwMode="auto">
          <a:xfrm>
            <a:off x="3167640" y="1930680"/>
            <a:ext cx="360" cy="529920"/>
          </a:xfrm>
          <a:prstGeom prst="straightConnector1">
            <a:avLst/>
          </a:prstGeom>
          <a:ln>
            <a:solidFill>
              <a:srgbClr val="4EA72E"/>
            </a:solidFill>
            <a:prstDash val="dash"/>
            <a:tailEnd type="triangle" w="med" len="med"/>
          </a:ln>
        </p:spPr>
      </p:cxnSp>
      <p:sp>
        <p:nvSpPr>
          <p:cNvPr id="1314548796" name="TextBox 43"/>
          <p:cNvSpPr/>
          <p:nvPr/>
        </p:nvSpPr>
        <p:spPr bwMode="auto">
          <a:xfrm>
            <a:off x="1612800" y="1548000"/>
            <a:ext cx="1429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7451708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56000" y="14396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86012313" name="Straight Arrow Connector 5"/>
          <p:cNvCxnSpPr/>
          <p:nvPr/>
        </p:nvCxnSpPr>
        <p:spPr bwMode="auto">
          <a:xfrm flipV="1">
            <a:off x="6997320" y="30247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324358939" name="TextBox 46"/>
          <p:cNvSpPr/>
          <p:nvPr/>
        </p:nvSpPr>
        <p:spPr bwMode="auto">
          <a:xfrm>
            <a:off x="6505920" y="3541680"/>
            <a:ext cx="2743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41590" name="TextBox 47"/>
          <p:cNvSpPr/>
          <p:nvPr/>
        </p:nvSpPr>
        <p:spPr bwMode="auto">
          <a:xfrm>
            <a:off x="3165840" y="186516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331053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617469756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386344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16986661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31869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84513916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84795320" name="TextBox 9"/>
          <p:cNvSpPr/>
          <p:nvPr/>
        </p:nvSpPr>
        <p:spPr bwMode="auto">
          <a:xfrm>
            <a:off x="2741400" y="2565360"/>
            <a:ext cx="749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402933" name="Arrow: Right 10"/>
          <p:cNvSpPr/>
          <p:nvPr/>
        </p:nvSpPr>
        <p:spPr bwMode="auto">
          <a:xfrm>
            <a:off x="397836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19148640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61140314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92014028" name="TextBox 17"/>
          <p:cNvSpPr/>
          <p:nvPr/>
        </p:nvSpPr>
        <p:spPr bwMode="auto">
          <a:xfrm>
            <a:off x="4723560" y="2567519"/>
            <a:ext cx="68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949475" name="Arrow: Right 1"/>
          <p:cNvSpPr/>
          <p:nvPr/>
        </p:nvSpPr>
        <p:spPr bwMode="auto">
          <a:xfrm>
            <a:off x="2099880" y="26528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86901621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0338455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718588197" name="TextBox 4"/>
          <p:cNvSpPr/>
          <p:nvPr/>
        </p:nvSpPr>
        <p:spPr bwMode="auto">
          <a:xfrm>
            <a:off x="920160" y="2567519"/>
            <a:ext cx="73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204946" name="Arrow: Right 12"/>
          <p:cNvSpPr/>
          <p:nvPr/>
        </p:nvSpPr>
        <p:spPr bwMode="auto">
          <a:xfrm>
            <a:off x="585792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57998783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64835782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63754949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506211" name="Arrow: Right 14"/>
          <p:cNvSpPr/>
          <p:nvPr/>
        </p:nvSpPr>
        <p:spPr bwMode="auto">
          <a:xfrm>
            <a:off x="7642440" y="26730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39831093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14667024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103285173" name="TextBox 22"/>
          <p:cNvSpPr/>
          <p:nvPr/>
        </p:nvSpPr>
        <p:spPr bwMode="auto">
          <a:xfrm>
            <a:off x="6536520" y="2568240"/>
            <a:ext cx="62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42360" name="Arrow: Right 29"/>
          <p:cNvSpPr/>
          <p:nvPr/>
        </p:nvSpPr>
        <p:spPr bwMode="auto">
          <a:xfrm>
            <a:off x="9560880" y="2659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79249855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225728141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122153168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113315842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779012978" name="TextBox 30"/>
          <p:cNvSpPr/>
          <p:nvPr/>
        </p:nvSpPr>
        <p:spPr bwMode="auto">
          <a:xfrm>
            <a:off x="4113720" y="139608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99992340" name="Straight Arrow Connector 32"/>
          <p:cNvCxnSpPr/>
          <p:nvPr/>
        </p:nvCxnSpPr>
        <p:spPr bwMode="auto">
          <a:xfrm flipV="1">
            <a:off x="1390680" y="304920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854108346" name="Straight Arrow Connector 33"/>
          <p:cNvCxnSpPr/>
          <p:nvPr/>
        </p:nvCxnSpPr>
        <p:spPr bwMode="auto">
          <a:xfrm flipV="1">
            <a:off x="3288960" y="29959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797484275" name="TextBox 34"/>
          <p:cNvSpPr/>
          <p:nvPr/>
        </p:nvSpPr>
        <p:spPr bwMode="auto">
          <a:xfrm>
            <a:off x="844920" y="3540600"/>
            <a:ext cx="151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888818" name="TextBox 36"/>
          <p:cNvSpPr/>
          <p:nvPr/>
        </p:nvSpPr>
        <p:spPr bwMode="auto">
          <a:xfrm>
            <a:off x="2742480" y="3540600"/>
            <a:ext cx="1496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4068720" name="Straight Arrow Connector 35"/>
          <p:cNvCxnSpPr/>
          <p:nvPr/>
        </p:nvCxnSpPr>
        <p:spPr bwMode="auto">
          <a:xfrm flipV="1">
            <a:off x="5168520" y="306108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691258697" name="TextBox 37"/>
          <p:cNvSpPr/>
          <p:nvPr/>
        </p:nvSpPr>
        <p:spPr bwMode="auto">
          <a:xfrm>
            <a:off x="4626360" y="3543480"/>
            <a:ext cx="155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727543" name="TextBox 38"/>
          <p:cNvSpPr/>
          <p:nvPr/>
        </p:nvSpPr>
        <p:spPr bwMode="auto">
          <a:xfrm>
            <a:off x="846000" y="4773240"/>
            <a:ext cx="11043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What if  (*prev = prev_next) </a:t>
            </a: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ptos"/>
              </a:rPr>
              <a:t>validation fails 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due to a new node being inserted or the chain of logically deleted nodes being already eliminated by a concurrent thread?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We start from the last safe node (N1)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497443" name="TextBox 39"/>
          <p:cNvSpPr/>
          <p:nvPr/>
        </p:nvSpPr>
        <p:spPr bwMode="auto">
          <a:xfrm>
            <a:off x="1453320" y="2576519"/>
            <a:ext cx="645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1800" b="1" u="none" strike="noStrike">
                <a:solidFill>
                  <a:srgbClr val="FF0000"/>
                </a:solidFill>
                <a:latin typeface="Aptos"/>
                <a:ea typeface="Arial"/>
              </a:rPr>
              <a:t>prev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7714788" name="Straight Arrow Connector 40"/>
          <p:cNvCxnSpPr/>
          <p:nvPr/>
        </p:nvCxnSpPr>
        <p:spPr bwMode="auto">
          <a:xfrm flipV="1">
            <a:off x="1738080" y="1934280"/>
            <a:ext cx="7560" cy="58068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974548912" name="Straight Arrow Connector 41"/>
          <p:cNvCxnSpPr/>
          <p:nvPr/>
        </p:nvCxnSpPr>
        <p:spPr bwMode="auto">
          <a:xfrm>
            <a:off x="1745280" y="1924920"/>
            <a:ext cx="1422720" cy="7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311831835" name="Straight Arrow Connector 42"/>
          <p:cNvCxnSpPr/>
          <p:nvPr/>
        </p:nvCxnSpPr>
        <p:spPr bwMode="auto">
          <a:xfrm>
            <a:off x="3167640" y="1930680"/>
            <a:ext cx="360" cy="529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med" len="med"/>
          </a:ln>
        </p:spPr>
      </p:cxnSp>
      <p:sp>
        <p:nvSpPr>
          <p:cNvPr id="1980345341" name="TextBox 43"/>
          <p:cNvSpPr/>
          <p:nvPr/>
        </p:nvSpPr>
        <p:spPr bwMode="auto">
          <a:xfrm>
            <a:off x="1556640" y="1548000"/>
            <a:ext cx="1610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5406889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80840" y="14331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58778278" name="Straight Arrow Connector 5"/>
          <p:cNvCxnSpPr/>
          <p:nvPr/>
        </p:nvCxnSpPr>
        <p:spPr bwMode="auto">
          <a:xfrm flipV="1">
            <a:off x="6997320" y="30247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4274654" name="TextBox 46"/>
          <p:cNvSpPr/>
          <p:nvPr/>
        </p:nvSpPr>
        <p:spPr bwMode="auto">
          <a:xfrm>
            <a:off x="6505920" y="3541680"/>
            <a:ext cx="2743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256528" name="TextBox 47"/>
          <p:cNvSpPr/>
          <p:nvPr/>
        </p:nvSpPr>
        <p:spPr bwMode="auto">
          <a:xfrm>
            <a:off x="3165840" y="186516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17955" name="Graphic 48" descr="Crying face with solid fill with solid fill"/>
          <p:cNvPicPr/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775160" y="1932480"/>
            <a:ext cx="5263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9315076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Recovery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0081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98842654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629080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81517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32831470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35954489" name="TextBox 9"/>
          <p:cNvSpPr/>
          <p:nvPr/>
        </p:nvSpPr>
        <p:spPr bwMode="auto">
          <a:xfrm>
            <a:off x="2741400" y="2565360"/>
            <a:ext cx="78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430985" name="Arrow: Right 10"/>
          <p:cNvSpPr/>
          <p:nvPr/>
        </p:nvSpPr>
        <p:spPr bwMode="auto">
          <a:xfrm>
            <a:off x="397836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18950627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8063891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000544238" name="TextBox 17"/>
          <p:cNvSpPr/>
          <p:nvPr/>
        </p:nvSpPr>
        <p:spPr bwMode="auto">
          <a:xfrm>
            <a:off x="4723560" y="2567519"/>
            <a:ext cx="68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688037" name="Arrow: Right 1"/>
          <p:cNvSpPr/>
          <p:nvPr/>
        </p:nvSpPr>
        <p:spPr bwMode="auto">
          <a:xfrm>
            <a:off x="2099880" y="26528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5506993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69138803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647336428" name="TextBox 4"/>
          <p:cNvSpPr/>
          <p:nvPr/>
        </p:nvSpPr>
        <p:spPr bwMode="auto">
          <a:xfrm>
            <a:off x="920160" y="2567519"/>
            <a:ext cx="68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670832" name="Arrow: Right 12"/>
          <p:cNvSpPr/>
          <p:nvPr/>
        </p:nvSpPr>
        <p:spPr bwMode="auto">
          <a:xfrm>
            <a:off x="585792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25294666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28977612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30575311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3460067" name="Arrow: Right 14"/>
          <p:cNvSpPr/>
          <p:nvPr/>
        </p:nvSpPr>
        <p:spPr bwMode="auto">
          <a:xfrm>
            <a:off x="7642440" y="26730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74084545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130472823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249674709" name="TextBox 22"/>
          <p:cNvSpPr/>
          <p:nvPr/>
        </p:nvSpPr>
        <p:spPr bwMode="auto">
          <a:xfrm>
            <a:off x="6536520" y="2568240"/>
            <a:ext cx="785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322663" name="Arrow: Right 29"/>
          <p:cNvSpPr/>
          <p:nvPr/>
        </p:nvSpPr>
        <p:spPr bwMode="auto">
          <a:xfrm>
            <a:off x="9560880" y="2659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96927368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563678670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988757778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301347489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706863663" name="TextBox 30"/>
          <p:cNvSpPr/>
          <p:nvPr/>
        </p:nvSpPr>
        <p:spPr bwMode="auto">
          <a:xfrm>
            <a:off x="4113720" y="139608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30281799" name="Straight Arrow Connector 32"/>
          <p:cNvCxnSpPr/>
          <p:nvPr/>
        </p:nvCxnSpPr>
        <p:spPr bwMode="auto">
          <a:xfrm flipV="1">
            <a:off x="1390680" y="304920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105707357" name="Straight Arrow Connector 33"/>
          <p:cNvCxnSpPr/>
          <p:nvPr/>
        </p:nvCxnSpPr>
        <p:spPr bwMode="auto">
          <a:xfrm flipV="1">
            <a:off x="3288960" y="29959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033472033" name="TextBox 34"/>
          <p:cNvSpPr/>
          <p:nvPr/>
        </p:nvSpPr>
        <p:spPr bwMode="auto">
          <a:xfrm>
            <a:off x="844920" y="3540600"/>
            <a:ext cx="152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531434" name="TextBox 36"/>
          <p:cNvSpPr/>
          <p:nvPr/>
        </p:nvSpPr>
        <p:spPr bwMode="auto">
          <a:xfrm>
            <a:off x="2742480" y="3540600"/>
            <a:ext cx="155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75687646" name="Straight Arrow Connector 35"/>
          <p:cNvCxnSpPr/>
          <p:nvPr/>
        </p:nvCxnSpPr>
        <p:spPr bwMode="auto">
          <a:xfrm flipV="1">
            <a:off x="5168520" y="306108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94412274" name="TextBox 37"/>
          <p:cNvSpPr/>
          <p:nvPr/>
        </p:nvSpPr>
        <p:spPr bwMode="auto">
          <a:xfrm>
            <a:off x="4626360" y="3543480"/>
            <a:ext cx="155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357054" name="TextBox 38"/>
          <p:cNvSpPr/>
          <p:nvPr/>
        </p:nvSpPr>
        <p:spPr bwMode="auto">
          <a:xfrm>
            <a:off x="846000" y="4773240"/>
            <a:ext cx="11099880" cy="19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What if  the last safe node (N1) is also logically deleted?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We start from the beginning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361688" name="TextBox 39"/>
          <p:cNvSpPr/>
          <p:nvPr/>
        </p:nvSpPr>
        <p:spPr bwMode="auto">
          <a:xfrm>
            <a:off x="1453320" y="2576519"/>
            <a:ext cx="645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1800" b="1" u="none" strike="noStrike">
                <a:solidFill>
                  <a:srgbClr val="FF0000"/>
                </a:solidFill>
                <a:latin typeface="Aptos"/>
                <a:ea typeface="Arial"/>
              </a:rPr>
              <a:t>prev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7096740" name="Straight Arrow Connector 40"/>
          <p:cNvCxnSpPr/>
          <p:nvPr/>
        </p:nvCxnSpPr>
        <p:spPr bwMode="auto">
          <a:xfrm flipV="1">
            <a:off x="1738080" y="1934280"/>
            <a:ext cx="7560" cy="58068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916185190" name="Straight Arrow Connector 41"/>
          <p:cNvCxnSpPr/>
          <p:nvPr/>
        </p:nvCxnSpPr>
        <p:spPr bwMode="auto">
          <a:xfrm>
            <a:off x="1745280" y="1924920"/>
            <a:ext cx="1422720" cy="7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204656852" name="Straight Arrow Connector 42"/>
          <p:cNvCxnSpPr/>
          <p:nvPr/>
        </p:nvCxnSpPr>
        <p:spPr bwMode="auto">
          <a:xfrm>
            <a:off x="3167640" y="1930680"/>
            <a:ext cx="360" cy="529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med" len="med"/>
          </a:ln>
        </p:spPr>
      </p:cxnSp>
      <p:sp>
        <p:nvSpPr>
          <p:cNvPr id="236142013" name="TextBox 43"/>
          <p:cNvSpPr/>
          <p:nvPr/>
        </p:nvSpPr>
        <p:spPr bwMode="auto">
          <a:xfrm>
            <a:off x="1814400" y="1548000"/>
            <a:ext cx="135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163521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206760" y="14324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45436065" name="Straight Arrow Connector 5"/>
          <p:cNvCxnSpPr/>
          <p:nvPr/>
        </p:nvCxnSpPr>
        <p:spPr bwMode="auto">
          <a:xfrm flipV="1">
            <a:off x="6997320" y="30247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506198429" name="TextBox 46"/>
          <p:cNvSpPr/>
          <p:nvPr/>
        </p:nvSpPr>
        <p:spPr bwMode="auto">
          <a:xfrm>
            <a:off x="6505920" y="3541680"/>
            <a:ext cx="2743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65290" name="TextBox 47"/>
          <p:cNvSpPr/>
          <p:nvPr/>
        </p:nvSpPr>
        <p:spPr bwMode="auto">
          <a:xfrm>
            <a:off x="3165840" y="186516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4834237" name="Graphic 49" descr="Angry face with solid fill with solid fill"/>
          <p:cNvPicPr/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814400" y="1959840"/>
            <a:ext cx="551160" cy="52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702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Recovery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110897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18368239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87884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799676" name="Flowchart: Connector 40"/>
          <p:cNvSpPr/>
          <p:nvPr/>
        </p:nvSpPr>
        <p:spPr bwMode="auto">
          <a:xfrm>
            <a:off x="8072100" y="2472478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71873955" name="Straight Arrow Connector 41"/>
          <p:cNvCxnSpPr/>
          <p:nvPr/>
        </p:nvCxnSpPr>
        <p:spPr bwMode="auto">
          <a:xfrm>
            <a:off x="8555940" y="2984398"/>
            <a:ext cx="351360" cy="4410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545544801" name="Straight Arrow Connector 42"/>
          <p:cNvCxnSpPr/>
          <p:nvPr/>
        </p:nvCxnSpPr>
        <p:spPr bwMode="auto">
          <a:xfrm flipH="1">
            <a:off x="7868340" y="2986917"/>
            <a:ext cx="302760" cy="4539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024560702" name="Rectangle 43"/>
          <p:cNvSpPr/>
          <p:nvPr/>
        </p:nvSpPr>
        <p:spPr bwMode="auto">
          <a:xfrm>
            <a:off x="7556940" y="345203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817997" name="TextBox 46"/>
          <p:cNvSpPr/>
          <p:nvPr/>
        </p:nvSpPr>
        <p:spPr bwMode="auto">
          <a:xfrm>
            <a:off x="8164260" y="2404798"/>
            <a:ext cx="3949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752475" name="TextBox 2"/>
          <p:cNvSpPr/>
          <p:nvPr/>
        </p:nvSpPr>
        <p:spPr bwMode="auto">
          <a:xfrm>
            <a:off x="775440" y="4826880"/>
            <a:ext cx="6872760" cy="12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600" b="0" u="none" strike="noStrike">
                <a:solidFill>
                  <a:schemeClr val="accent5"/>
                </a:solidFill>
                <a:latin typeface="Aptos"/>
                <a:ea typeface="Arial"/>
              </a:rPr>
              <a:t>Leaf nodes contain actual keys</a:t>
            </a:r>
            <a:br>
              <a:rPr sz="2600"/>
            </a:br>
            <a:br>
              <a:rPr sz="2600"/>
            </a:br>
            <a:r>
              <a:rPr lang="en-US" sz="2600" b="0" u="none" strike="noStrike">
                <a:solidFill>
                  <a:schemeClr val="dk1"/>
                </a:solidFill>
                <a:latin typeface="Aptos"/>
                <a:ea typeface="Arial"/>
              </a:rPr>
              <a:t>Keys in Internal nodes are used for traversal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192993" name="Flowchart: Connector 4"/>
          <p:cNvSpPr/>
          <p:nvPr/>
        </p:nvSpPr>
        <p:spPr bwMode="auto">
          <a:xfrm>
            <a:off x="8732340" y="3408838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71072334" name="Straight Arrow Connector 5"/>
          <p:cNvCxnSpPr/>
          <p:nvPr/>
        </p:nvCxnSpPr>
        <p:spPr bwMode="auto">
          <a:xfrm>
            <a:off x="9216180" y="3920758"/>
            <a:ext cx="351360" cy="44064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778784834" name="Straight Arrow Connector 6"/>
          <p:cNvCxnSpPr/>
          <p:nvPr/>
        </p:nvCxnSpPr>
        <p:spPr bwMode="auto">
          <a:xfrm flipH="1">
            <a:off x="8528580" y="3923278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691003641" name="TextBox 7"/>
          <p:cNvSpPr/>
          <p:nvPr/>
        </p:nvSpPr>
        <p:spPr bwMode="auto">
          <a:xfrm>
            <a:off x="8824500" y="3340798"/>
            <a:ext cx="393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6"/>
                </a:solidFill>
                <a:latin typeface="Aptos"/>
                <a:ea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95965" name="Flowchart: Connector 8"/>
          <p:cNvSpPr/>
          <p:nvPr/>
        </p:nvSpPr>
        <p:spPr bwMode="auto">
          <a:xfrm>
            <a:off x="9363780" y="4352038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17198769" name="Straight Arrow Connector 9"/>
          <p:cNvCxnSpPr/>
          <p:nvPr/>
        </p:nvCxnSpPr>
        <p:spPr bwMode="auto">
          <a:xfrm>
            <a:off x="9847620" y="4863958"/>
            <a:ext cx="351360" cy="4410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324029913" name="Straight Arrow Connector 10"/>
          <p:cNvCxnSpPr/>
          <p:nvPr/>
        </p:nvCxnSpPr>
        <p:spPr bwMode="auto">
          <a:xfrm flipH="1">
            <a:off x="9160020" y="4866838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056651280" name="TextBox 11"/>
          <p:cNvSpPr/>
          <p:nvPr/>
        </p:nvSpPr>
        <p:spPr bwMode="auto">
          <a:xfrm>
            <a:off x="9455940" y="4284358"/>
            <a:ext cx="393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696989" name="Flowchart: Connector 12"/>
          <p:cNvSpPr/>
          <p:nvPr/>
        </p:nvSpPr>
        <p:spPr bwMode="auto">
          <a:xfrm>
            <a:off x="9995220" y="5295598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110937957" name="Straight Arrow Connector 13"/>
          <p:cNvCxnSpPr/>
          <p:nvPr/>
        </p:nvCxnSpPr>
        <p:spPr bwMode="auto">
          <a:xfrm>
            <a:off x="10479059" y="5807518"/>
            <a:ext cx="351360" cy="4410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87089389" name="Straight Arrow Connector 14"/>
          <p:cNvCxnSpPr/>
          <p:nvPr/>
        </p:nvCxnSpPr>
        <p:spPr bwMode="auto">
          <a:xfrm flipH="1">
            <a:off x="9791460" y="5810038"/>
            <a:ext cx="302760" cy="4539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484715729" name="TextBox 15"/>
          <p:cNvSpPr/>
          <p:nvPr/>
        </p:nvSpPr>
        <p:spPr bwMode="auto">
          <a:xfrm>
            <a:off x="10087380" y="5227558"/>
            <a:ext cx="393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FFC000"/>
                </a:solidFill>
                <a:latin typeface="Aptos"/>
                <a:ea typeface="Arial"/>
              </a:rPr>
              <a:t>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040401" name="Rectangle 16"/>
          <p:cNvSpPr/>
          <p:nvPr/>
        </p:nvSpPr>
        <p:spPr bwMode="auto">
          <a:xfrm>
            <a:off x="8268300" y="438803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7930620" name="Rectangle 17"/>
          <p:cNvSpPr/>
          <p:nvPr/>
        </p:nvSpPr>
        <p:spPr bwMode="auto">
          <a:xfrm>
            <a:off x="8827020" y="533159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H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186958" name="Rectangle 18"/>
          <p:cNvSpPr/>
          <p:nvPr/>
        </p:nvSpPr>
        <p:spPr bwMode="auto">
          <a:xfrm>
            <a:off x="9530820" y="628235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3786176" name="Rectangle 19"/>
          <p:cNvSpPr/>
          <p:nvPr/>
        </p:nvSpPr>
        <p:spPr bwMode="auto">
          <a:xfrm>
            <a:off x="10626660" y="627479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723901" name="TextBox 20"/>
          <p:cNvSpPr/>
          <p:nvPr/>
        </p:nvSpPr>
        <p:spPr bwMode="auto">
          <a:xfrm flipH="0" flipV="0">
            <a:off x="8731620" y="2405878"/>
            <a:ext cx="14439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494873" name="TextBox 21"/>
          <p:cNvSpPr/>
          <p:nvPr/>
        </p:nvSpPr>
        <p:spPr bwMode="auto">
          <a:xfrm flipH="0" flipV="0">
            <a:off x="9363780" y="3404878"/>
            <a:ext cx="1647653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6"/>
                </a:solidFill>
                <a:latin typeface="Aptos"/>
                <a:ea typeface="Arial"/>
              </a:rPr>
              <a:t>successor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5600330" name="TextBox 22"/>
          <p:cNvSpPr/>
          <p:nvPr/>
        </p:nvSpPr>
        <p:spPr bwMode="auto">
          <a:xfrm flipH="0" flipV="0">
            <a:off x="10565099" y="5295598"/>
            <a:ext cx="1054889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C000"/>
                </a:solidFill>
                <a:latin typeface="Aptos"/>
                <a:ea typeface="Arial"/>
              </a:rPr>
              <a:t>parent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910440" name="TextBox 23"/>
          <p:cNvSpPr/>
          <p:nvPr/>
        </p:nvSpPr>
        <p:spPr bwMode="auto">
          <a:xfrm>
            <a:off x="8440740" y="6263998"/>
            <a:ext cx="719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425534" name="Flowchart: Connector 3"/>
          <p:cNvSpPr/>
          <p:nvPr/>
        </p:nvSpPr>
        <p:spPr bwMode="auto">
          <a:xfrm>
            <a:off x="8036460" y="1385277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144728234" name="TextBox 26"/>
          <p:cNvSpPr/>
          <p:nvPr/>
        </p:nvSpPr>
        <p:spPr bwMode="auto">
          <a:xfrm>
            <a:off x="8128980" y="1317238"/>
            <a:ext cx="393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78219" name="TextBox 29"/>
          <p:cNvSpPr/>
          <p:nvPr/>
        </p:nvSpPr>
        <p:spPr bwMode="auto">
          <a:xfrm>
            <a:off x="8696700" y="1408678"/>
            <a:ext cx="106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785983" name="Title 1"/>
          <p:cNvSpPr/>
          <p:nvPr/>
        </p:nvSpPr>
        <p:spPr bwMode="auto">
          <a:xfrm flipH="0" flipV="0">
            <a:off x="844807" y="299699"/>
            <a:ext cx="8215312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2063358" name="Straight Arrow Connector 33"/>
          <p:cNvCxnSpPr/>
          <p:nvPr/>
        </p:nvCxnSpPr>
        <p:spPr bwMode="auto">
          <a:xfrm flipH="1">
            <a:off x="8361720" y="1992501"/>
            <a:ext cx="540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39882" name="TextBox 21"/>
          <p:cNvSpPr/>
          <p:nvPr/>
        </p:nvSpPr>
        <p:spPr bwMode="auto">
          <a:xfrm>
            <a:off x="9341454" y="3097440"/>
            <a:ext cx="2744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738940" name="TextBox 22"/>
          <p:cNvSpPr/>
          <p:nvPr/>
        </p:nvSpPr>
        <p:spPr bwMode="auto">
          <a:xfrm>
            <a:off x="10851832" y="5015158"/>
            <a:ext cx="12204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557043" name="TextBox 29"/>
          <p:cNvSpPr/>
          <p:nvPr/>
        </p:nvSpPr>
        <p:spPr bwMode="auto">
          <a:xfrm>
            <a:off x="826017" y="5379115"/>
            <a:ext cx="7074717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ptos"/>
              </a:rPr>
              <a:t>Leaf nodes G, H, E are deleted (flagged, F=1)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437841" name="Title 1"/>
          <p:cNvSpPr/>
          <p:nvPr/>
        </p:nvSpPr>
        <p:spPr bwMode="auto">
          <a:xfrm flipH="0" flipV="0">
            <a:off x="731545" y="271043"/>
            <a:ext cx="8171637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756611" name="Flowchart: Connector 40"/>
          <p:cNvSpPr/>
          <p:nvPr/>
        </p:nvSpPr>
        <p:spPr bwMode="auto">
          <a:xfrm>
            <a:off x="8501932" y="222308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84309271" name="Straight Arrow Connector 41"/>
          <p:cNvCxnSpPr/>
          <p:nvPr/>
        </p:nvCxnSpPr>
        <p:spPr bwMode="auto">
          <a:xfrm>
            <a:off x="8985772" y="2735002"/>
            <a:ext cx="351360" cy="44064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81671246" name="Straight Arrow Connector 42"/>
          <p:cNvCxnSpPr/>
          <p:nvPr/>
        </p:nvCxnSpPr>
        <p:spPr bwMode="auto">
          <a:xfrm flipH="1">
            <a:off x="8298172" y="2737522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166112266" name="Rectangle 43"/>
          <p:cNvSpPr/>
          <p:nvPr/>
        </p:nvSpPr>
        <p:spPr bwMode="auto">
          <a:xfrm>
            <a:off x="7986772" y="3202282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156581" name="TextBox 46"/>
          <p:cNvSpPr/>
          <p:nvPr/>
        </p:nvSpPr>
        <p:spPr bwMode="auto">
          <a:xfrm>
            <a:off x="8594092" y="2155042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400968" name="Flowchart: Connector 4"/>
          <p:cNvSpPr/>
          <p:nvPr/>
        </p:nvSpPr>
        <p:spPr bwMode="auto">
          <a:xfrm>
            <a:off x="9162172" y="3159081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56672920" name="Straight Arrow Connector 5"/>
          <p:cNvCxnSpPr/>
          <p:nvPr/>
        </p:nvCxnSpPr>
        <p:spPr bwMode="auto">
          <a:xfrm>
            <a:off x="9646012" y="3671002"/>
            <a:ext cx="351360" cy="44100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tailEnd type="triangle" w="med" len="med"/>
          </a:ln>
        </p:spPr>
      </p:cxnSp>
      <p:cxnSp>
        <p:nvCxnSpPr>
          <p:cNvPr id="1266001704" name="Straight Arrow Connector 6"/>
          <p:cNvCxnSpPr/>
          <p:nvPr/>
        </p:nvCxnSpPr>
        <p:spPr bwMode="auto">
          <a:xfrm flipH="1">
            <a:off x="8958772" y="3673522"/>
            <a:ext cx="302400" cy="45396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1712497435" name="TextBox 7"/>
          <p:cNvSpPr/>
          <p:nvPr/>
        </p:nvSpPr>
        <p:spPr bwMode="auto">
          <a:xfrm>
            <a:off x="9254332" y="309140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6"/>
                </a:solidFill>
                <a:latin typeface="Aptos"/>
                <a:ea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034443" name="Flowchart: Connector 8"/>
          <p:cNvSpPr/>
          <p:nvPr/>
        </p:nvSpPr>
        <p:spPr bwMode="auto">
          <a:xfrm>
            <a:off x="9793611" y="410264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43608882" name="Straight Arrow Connector 9"/>
          <p:cNvCxnSpPr/>
          <p:nvPr/>
        </p:nvCxnSpPr>
        <p:spPr bwMode="auto">
          <a:xfrm>
            <a:off x="10277452" y="4614562"/>
            <a:ext cx="351360" cy="44100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tailEnd type="triangle" w="med" len="med"/>
          </a:ln>
        </p:spPr>
      </p:cxnSp>
      <p:cxnSp>
        <p:nvCxnSpPr>
          <p:cNvPr id="375875977" name="Straight Arrow Connector 10"/>
          <p:cNvCxnSpPr/>
          <p:nvPr/>
        </p:nvCxnSpPr>
        <p:spPr bwMode="auto">
          <a:xfrm flipH="1">
            <a:off x="9589852" y="4617082"/>
            <a:ext cx="302760" cy="4536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1440998137" name="TextBox 11"/>
          <p:cNvSpPr/>
          <p:nvPr/>
        </p:nvSpPr>
        <p:spPr bwMode="auto">
          <a:xfrm>
            <a:off x="9885771" y="4034601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0582232" name="Flowchart: Connector 12"/>
          <p:cNvSpPr/>
          <p:nvPr/>
        </p:nvSpPr>
        <p:spPr bwMode="auto">
          <a:xfrm>
            <a:off x="10425052" y="504584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47415482" name="Straight Arrow Connector 13"/>
          <p:cNvCxnSpPr/>
          <p:nvPr/>
        </p:nvCxnSpPr>
        <p:spPr bwMode="auto">
          <a:xfrm>
            <a:off x="10908892" y="5557762"/>
            <a:ext cx="351360" cy="4410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cxnSp>
        <p:nvCxnSpPr>
          <p:cNvPr id="2112205458" name="Straight Arrow Connector 14"/>
          <p:cNvCxnSpPr/>
          <p:nvPr/>
        </p:nvCxnSpPr>
        <p:spPr bwMode="auto">
          <a:xfrm flipH="1">
            <a:off x="10221292" y="5560642"/>
            <a:ext cx="302760" cy="453600"/>
          </a:xfrm>
          <a:prstGeom prst="straightConnector1">
            <a:avLst/>
          </a:prstGeom>
          <a:ln w="12700">
            <a:solidFill>
              <a:srgbClr val="156082"/>
            </a:solidFill>
            <a:prstDash val="solid"/>
            <a:tailEnd type="triangle" w="med" len="med"/>
          </a:ln>
        </p:spPr>
      </p:cxnSp>
      <p:sp>
        <p:nvSpPr>
          <p:cNvPr id="1095121008" name="TextBox 15"/>
          <p:cNvSpPr/>
          <p:nvPr/>
        </p:nvSpPr>
        <p:spPr bwMode="auto">
          <a:xfrm>
            <a:off x="10517212" y="497816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FFC000"/>
                </a:solidFill>
                <a:latin typeface="Aptos"/>
                <a:ea typeface="Arial"/>
              </a:rPr>
              <a:t>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7416096" name="Rectangle 16"/>
          <p:cNvSpPr/>
          <p:nvPr/>
        </p:nvSpPr>
        <p:spPr bwMode="auto">
          <a:xfrm>
            <a:off x="8698132" y="4138642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G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978437" name="Rectangle 17"/>
          <p:cNvSpPr/>
          <p:nvPr/>
        </p:nvSpPr>
        <p:spPr bwMode="auto">
          <a:xfrm>
            <a:off x="9256852" y="5081842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H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438570" name="Rectangle 18"/>
          <p:cNvSpPr/>
          <p:nvPr/>
        </p:nvSpPr>
        <p:spPr bwMode="auto">
          <a:xfrm>
            <a:off x="9960652" y="6032601"/>
            <a:ext cx="465840" cy="36324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tx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371438" name="Rectangle 19"/>
          <p:cNvSpPr/>
          <p:nvPr/>
        </p:nvSpPr>
        <p:spPr bwMode="auto">
          <a:xfrm>
            <a:off x="11056491" y="6025403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E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4231495" name="TextBox 20"/>
          <p:cNvSpPr/>
          <p:nvPr/>
        </p:nvSpPr>
        <p:spPr bwMode="auto">
          <a:xfrm>
            <a:off x="9143452" y="2279962"/>
            <a:ext cx="27446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003995" name="TextBox 21"/>
          <p:cNvSpPr/>
          <p:nvPr/>
        </p:nvSpPr>
        <p:spPr bwMode="auto">
          <a:xfrm>
            <a:off x="9737452" y="3196882"/>
            <a:ext cx="237672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6"/>
                </a:solidFill>
                <a:latin typeface="Aptos"/>
                <a:ea typeface="Arial"/>
              </a:rPr>
              <a:t>successor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270207" name="TextBox 23"/>
          <p:cNvSpPr/>
          <p:nvPr/>
        </p:nvSpPr>
        <p:spPr bwMode="auto">
          <a:xfrm>
            <a:off x="8894512" y="6032601"/>
            <a:ext cx="7196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912056" name="TextBox 3"/>
          <p:cNvSpPr/>
          <p:nvPr/>
        </p:nvSpPr>
        <p:spPr bwMode="auto">
          <a:xfrm rot="18599997" flipH="0" flipV="0">
            <a:off x="8650098" y="3539740"/>
            <a:ext cx="7066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4757290" name="TextBox 25"/>
          <p:cNvSpPr/>
          <p:nvPr/>
        </p:nvSpPr>
        <p:spPr bwMode="auto">
          <a:xfrm rot="18179971" flipH="0" flipV="0">
            <a:off x="9163961" y="4369700"/>
            <a:ext cx="9604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315275" name="TextBox 26"/>
          <p:cNvSpPr/>
          <p:nvPr/>
        </p:nvSpPr>
        <p:spPr bwMode="auto">
          <a:xfrm rot="3119994" flipH="0" flipV="0">
            <a:off x="10958178" y="5497990"/>
            <a:ext cx="7862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996688" name="Flowchart: Connector 24"/>
          <p:cNvSpPr/>
          <p:nvPr/>
        </p:nvSpPr>
        <p:spPr bwMode="auto">
          <a:xfrm flipH="0" flipV="0">
            <a:off x="8452612" y="1183042"/>
            <a:ext cx="628918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47640041" name="TextBox 28"/>
          <p:cNvSpPr/>
          <p:nvPr/>
        </p:nvSpPr>
        <p:spPr bwMode="auto">
          <a:xfrm flipH="0" flipV="0">
            <a:off x="8452611" y="1110681"/>
            <a:ext cx="573479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 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076846" name="TextBox 31"/>
          <p:cNvSpPr/>
          <p:nvPr/>
        </p:nvSpPr>
        <p:spPr bwMode="auto">
          <a:xfrm>
            <a:off x="9179812" y="1206442"/>
            <a:ext cx="10674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92861870" name="Straight Arrow Connector 33"/>
          <p:cNvCxnSpPr/>
          <p:nvPr/>
        </p:nvCxnSpPr>
        <p:spPr bwMode="auto">
          <a:xfrm flipH="1">
            <a:off x="8802532" y="1781361"/>
            <a:ext cx="540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524969084" name="TextBox 22"/>
          <p:cNvSpPr/>
          <p:nvPr/>
        </p:nvSpPr>
        <p:spPr bwMode="auto">
          <a:xfrm flipH="0" flipV="0">
            <a:off x="10994932" y="4921556"/>
            <a:ext cx="105524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C000"/>
                </a:solidFill>
                <a:latin typeface="Aptos"/>
                <a:ea typeface="Arial"/>
              </a:rPr>
              <a:t>parent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699899" name="TextBox 21"/>
          <p:cNvSpPr/>
          <p:nvPr/>
        </p:nvSpPr>
        <p:spPr bwMode="auto">
          <a:xfrm>
            <a:off x="9491691" y="3542484"/>
            <a:ext cx="2744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291412" name="TextBox 22"/>
          <p:cNvSpPr/>
          <p:nvPr/>
        </p:nvSpPr>
        <p:spPr bwMode="auto">
          <a:xfrm>
            <a:off x="11002068" y="5460202"/>
            <a:ext cx="12204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12137" name="TextBox 29"/>
          <p:cNvSpPr/>
          <p:nvPr/>
        </p:nvSpPr>
        <p:spPr bwMode="auto">
          <a:xfrm>
            <a:off x="642600" y="5042157"/>
            <a:ext cx="7077238" cy="11890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ptos"/>
              </a:rPr>
              <a:t>When leaf nodes G, H, E are deleted (flagged, F=1)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ptos"/>
              </a:rPr>
              <a:t>Siblings (B-C, C-D, D-K) are tagged (T=1)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354505" name="Title 1"/>
          <p:cNvSpPr/>
          <p:nvPr/>
        </p:nvSpPr>
        <p:spPr bwMode="auto">
          <a:xfrm flipH="0" flipV="0">
            <a:off x="642600" y="287998"/>
            <a:ext cx="7845682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780363" name="Flowchart: Connector 40"/>
          <p:cNvSpPr/>
          <p:nvPr/>
        </p:nvSpPr>
        <p:spPr bwMode="auto">
          <a:xfrm>
            <a:off x="8432748" y="238616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32569779" name="Straight Arrow Connector 41"/>
          <p:cNvCxnSpPr/>
          <p:nvPr/>
        </p:nvCxnSpPr>
        <p:spPr bwMode="auto">
          <a:xfrm>
            <a:off x="8916588" y="2898082"/>
            <a:ext cx="351360" cy="44064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663246668" name="Straight Arrow Connector 42"/>
          <p:cNvCxnSpPr/>
          <p:nvPr/>
        </p:nvCxnSpPr>
        <p:spPr bwMode="auto">
          <a:xfrm flipH="1">
            <a:off x="8228988" y="2900601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487557667" name="Rectangle 43"/>
          <p:cNvSpPr/>
          <p:nvPr/>
        </p:nvSpPr>
        <p:spPr bwMode="auto">
          <a:xfrm>
            <a:off x="7917588" y="3365362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9704606" name="TextBox 46"/>
          <p:cNvSpPr/>
          <p:nvPr/>
        </p:nvSpPr>
        <p:spPr bwMode="auto">
          <a:xfrm>
            <a:off x="8524908" y="2318122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145977" name="Flowchart: Connector 4"/>
          <p:cNvSpPr/>
          <p:nvPr/>
        </p:nvSpPr>
        <p:spPr bwMode="auto">
          <a:xfrm>
            <a:off x="9092988" y="3322161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45488974" name="Straight Arrow Connector 5"/>
          <p:cNvCxnSpPr/>
          <p:nvPr/>
        </p:nvCxnSpPr>
        <p:spPr bwMode="auto">
          <a:xfrm>
            <a:off x="9576828" y="3834082"/>
            <a:ext cx="351360" cy="4410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cxnSp>
        <p:nvCxnSpPr>
          <p:cNvPr id="1173427181" name="Straight Arrow Connector 6"/>
          <p:cNvCxnSpPr/>
          <p:nvPr/>
        </p:nvCxnSpPr>
        <p:spPr bwMode="auto">
          <a:xfrm flipH="1">
            <a:off x="8889588" y="3836601"/>
            <a:ext cx="302400" cy="45396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882265151" name="TextBox 7"/>
          <p:cNvSpPr/>
          <p:nvPr/>
        </p:nvSpPr>
        <p:spPr bwMode="auto">
          <a:xfrm>
            <a:off x="9185148" y="325448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6"/>
                </a:solidFill>
                <a:latin typeface="Aptos"/>
                <a:ea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4671449" name="Flowchart: Connector 8"/>
          <p:cNvSpPr/>
          <p:nvPr/>
        </p:nvSpPr>
        <p:spPr bwMode="auto">
          <a:xfrm>
            <a:off x="9724427" y="426572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05836597" name="Straight Arrow Connector 9"/>
          <p:cNvCxnSpPr/>
          <p:nvPr/>
        </p:nvCxnSpPr>
        <p:spPr bwMode="auto">
          <a:xfrm>
            <a:off x="10208268" y="4777642"/>
            <a:ext cx="351360" cy="4410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cxnSp>
        <p:nvCxnSpPr>
          <p:cNvPr id="1456176711" name="Straight Arrow Connector 10"/>
          <p:cNvCxnSpPr/>
          <p:nvPr/>
        </p:nvCxnSpPr>
        <p:spPr bwMode="auto">
          <a:xfrm flipH="1">
            <a:off x="9520668" y="4780162"/>
            <a:ext cx="302760" cy="4536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1633303827" name="TextBox 11"/>
          <p:cNvSpPr/>
          <p:nvPr/>
        </p:nvSpPr>
        <p:spPr bwMode="auto">
          <a:xfrm>
            <a:off x="9816588" y="419768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60868" name="Flowchart: Connector 12"/>
          <p:cNvSpPr/>
          <p:nvPr/>
        </p:nvSpPr>
        <p:spPr bwMode="auto">
          <a:xfrm>
            <a:off x="10355868" y="520892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65688687" name="Straight Arrow Connector 13"/>
          <p:cNvCxnSpPr/>
          <p:nvPr/>
        </p:nvCxnSpPr>
        <p:spPr bwMode="auto">
          <a:xfrm>
            <a:off x="10839708" y="5720842"/>
            <a:ext cx="351360" cy="4410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cxnSp>
        <p:nvCxnSpPr>
          <p:cNvPr id="1152118447" name="Straight Arrow Connector 14"/>
          <p:cNvCxnSpPr/>
          <p:nvPr/>
        </p:nvCxnSpPr>
        <p:spPr bwMode="auto">
          <a:xfrm flipH="1">
            <a:off x="10152108" y="5723722"/>
            <a:ext cx="302760" cy="4536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sp>
        <p:nvSpPr>
          <p:cNvPr id="103737322" name="TextBox 15"/>
          <p:cNvSpPr/>
          <p:nvPr/>
        </p:nvSpPr>
        <p:spPr bwMode="auto">
          <a:xfrm>
            <a:off x="10448028" y="514124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FFC000"/>
                </a:solidFill>
                <a:latin typeface="Aptos"/>
                <a:ea typeface="Arial"/>
              </a:rPr>
              <a:t>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046763" name="Rectangle 16"/>
          <p:cNvSpPr/>
          <p:nvPr/>
        </p:nvSpPr>
        <p:spPr bwMode="auto">
          <a:xfrm>
            <a:off x="8628948" y="4301722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G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3929826" name="Rectangle 17"/>
          <p:cNvSpPr/>
          <p:nvPr/>
        </p:nvSpPr>
        <p:spPr bwMode="auto">
          <a:xfrm>
            <a:off x="9187668" y="5244922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H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2669157" name="Rectangle 18"/>
          <p:cNvSpPr/>
          <p:nvPr/>
        </p:nvSpPr>
        <p:spPr bwMode="auto">
          <a:xfrm>
            <a:off x="9891468" y="6195681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tx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288883" name="Rectangle 19"/>
          <p:cNvSpPr/>
          <p:nvPr/>
        </p:nvSpPr>
        <p:spPr bwMode="auto">
          <a:xfrm>
            <a:off x="10987308" y="6188484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E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687358" name="TextBox 20"/>
          <p:cNvSpPr/>
          <p:nvPr/>
        </p:nvSpPr>
        <p:spPr bwMode="auto">
          <a:xfrm>
            <a:off x="9074268" y="2443042"/>
            <a:ext cx="27446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4827128" name="TextBox 21"/>
          <p:cNvSpPr/>
          <p:nvPr/>
        </p:nvSpPr>
        <p:spPr bwMode="auto">
          <a:xfrm>
            <a:off x="9653508" y="3285089"/>
            <a:ext cx="237672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6"/>
                </a:solidFill>
                <a:latin typeface="Aptos"/>
                <a:ea typeface="Arial"/>
              </a:rPr>
              <a:t>successor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32990" name="TextBox 23"/>
          <p:cNvSpPr/>
          <p:nvPr/>
        </p:nvSpPr>
        <p:spPr bwMode="auto">
          <a:xfrm>
            <a:off x="8855378" y="6177322"/>
            <a:ext cx="719639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334653" name="TextBox 3"/>
          <p:cNvSpPr/>
          <p:nvPr/>
        </p:nvSpPr>
        <p:spPr bwMode="auto">
          <a:xfrm rot="18599963" flipH="0" flipV="0">
            <a:off x="8580914" y="3702819"/>
            <a:ext cx="70668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253983" name="TextBox 25"/>
          <p:cNvSpPr/>
          <p:nvPr/>
        </p:nvSpPr>
        <p:spPr bwMode="auto">
          <a:xfrm rot="18179939" flipH="0" flipV="0">
            <a:off x="9094777" y="4532781"/>
            <a:ext cx="96048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752544" name="TextBox 26"/>
          <p:cNvSpPr/>
          <p:nvPr/>
        </p:nvSpPr>
        <p:spPr bwMode="auto">
          <a:xfrm rot="3119955" flipH="0" flipV="0">
            <a:off x="10888995" y="5661069"/>
            <a:ext cx="78624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915413" name="Flowchart: Connector 24"/>
          <p:cNvSpPr/>
          <p:nvPr/>
        </p:nvSpPr>
        <p:spPr bwMode="auto">
          <a:xfrm>
            <a:off x="8442468" y="134612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973651400" name="TextBox 28"/>
          <p:cNvSpPr/>
          <p:nvPr/>
        </p:nvSpPr>
        <p:spPr bwMode="auto">
          <a:xfrm>
            <a:off x="8534988" y="127808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5227076" name="TextBox 31"/>
          <p:cNvSpPr/>
          <p:nvPr/>
        </p:nvSpPr>
        <p:spPr bwMode="auto">
          <a:xfrm>
            <a:off x="9121595" y="1401383"/>
            <a:ext cx="106740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20843613" name="Straight Arrow Connector 33"/>
          <p:cNvCxnSpPr/>
          <p:nvPr/>
        </p:nvCxnSpPr>
        <p:spPr bwMode="auto">
          <a:xfrm flipH="1">
            <a:off x="8733348" y="1944442"/>
            <a:ext cx="540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644231847" name=""/>
          <p:cNvSpPr txBox="1"/>
          <p:nvPr/>
        </p:nvSpPr>
        <p:spPr bwMode="auto">
          <a:xfrm rot="2755766" flipH="0" flipV="0">
            <a:off x="9623115" y="3737275"/>
            <a:ext cx="683040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1336850311" name=""/>
          <p:cNvSpPr txBox="1"/>
          <p:nvPr/>
        </p:nvSpPr>
        <p:spPr bwMode="auto">
          <a:xfrm rot="3276206" flipH="0" flipV="0">
            <a:off x="10229358" y="4664923"/>
            <a:ext cx="68339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1036504288" name=""/>
          <p:cNvSpPr txBox="1"/>
          <p:nvPr/>
        </p:nvSpPr>
        <p:spPr bwMode="auto">
          <a:xfrm rot="18321882" flipH="0" flipV="0">
            <a:off x="9776170" y="5641921"/>
            <a:ext cx="68411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2050676515" name="TextBox 22"/>
          <p:cNvSpPr/>
          <p:nvPr/>
        </p:nvSpPr>
        <p:spPr bwMode="auto">
          <a:xfrm flipH="0" flipV="0">
            <a:off x="10925748" y="5141242"/>
            <a:ext cx="105524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C000"/>
                </a:solidFill>
                <a:latin typeface="Aptos"/>
                <a:ea typeface="Arial"/>
              </a:rPr>
              <a:t>parent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99926" name="TextBox 22"/>
          <p:cNvSpPr/>
          <p:nvPr/>
        </p:nvSpPr>
        <p:spPr bwMode="auto">
          <a:xfrm>
            <a:off x="11120040" y="4644720"/>
            <a:ext cx="1167479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2769182" name="TextBox 29"/>
          <p:cNvSpPr/>
          <p:nvPr/>
        </p:nvSpPr>
        <p:spPr bwMode="auto">
          <a:xfrm>
            <a:off x="478800" y="4730400"/>
            <a:ext cx="7663679" cy="2438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200" b="0" u="none" strike="noStrike">
                <a:solidFill>
                  <a:schemeClr val="accent1"/>
                </a:solidFill>
                <a:latin typeface="Aptos"/>
                <a:ea typeface="Aptos"/>
              </a:rPr>
              <a:t>An important observation: a chain of consecutively tagged edges can be eliminated with one CAS operation by updating ancestor’s link from successor to the remaining leaf node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200" b="0" i="1" u="none" strike="noStrike">
                <a:solidFill>
                  <a:schemeClr val="accent1"/>
                </a:solidFill>
                <a:latin typeface="Aptos"/>
                <a:ea typeface="Aptos"/>
              </a:rPr>
              <a:t>successor node is the last untagged node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br>
              <a:rPr sz="2200"/>
            </a:b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33006927" name="Straight Arrow Connector 2"/>
          <p:cNvCxnSpPr/>
          <p:nvPr/>
        </p:nvCxnSpPr>
        <p:spPr bwMode="auto">
          <a:xfrm flipH="1">
            <a:off x="3027960" y="3228480"/>
            <a:ext cx="4761360" cy="21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804764094" name="Flowchart: Connector 89"/>
          <p:cNvSpPr/>
          <p:nvPr/>
        </p:nvSpPr>
        <p:spPr bwMode="auto">
          <a:xfrm>
            <a:off x="1239480" y="2451240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57645982" name="Straight Arrow Connector 90"/>
          <p:cNvCxnSpPr/>
          <p:nvPr/>
        </p:nvCxnSpPr>
        <p:spPr bwMode="auto">
          <a:xfrm>
            <a:off x="1723320" y="2963160"/>
            <a:ext cx="351360" cy="4410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228618490" name="Straight Arrow Connector 91"/>
          <p:cNvCxnSpPr/>
          <p:nvPr/>
        </p:nvCxnSpPr>
        <p:spPr bwMode="auto">
          <a:xfrm flipH="1">
            <a:off x="1035720" y="2966040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691904158" name="Rectangle 92"/>
          <p:cNvSpPr/>
          <p:nvPr/>
        </p:nvSpPr>
        <p:spPr bwMode="auto">
          <a:xfrm>
            <a:off x="724320" y="3430800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894684" name="TextBox 93"/>
          <p:cNvSpPr/>
          <p:nvPr/>
        </p:nvSpPr>
        <p:spPr bwMode="auto">
          <a:xfrm>
            <a:off x="1331640" y="2383559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3812378" name="TextBox 110"/>
          <p:cNvSpPr/>
          <p:nvPr/>
        </p:nvSpPr>
        <p:spPr bwMode="auto">
          <a:xfrm>
            <a:off x="1881000" y="2508480"/>
            <a:ext cx="27442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01854" name="Rectangle 118"/>
          <p:cNvSpPr/>
          <p:nvPr/>
        </p:nvSpPr>
        <p:spPr bwMode="auto">
          <a:xfrm>
            <a:off x="1900080" y="3408840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386132" name="TextBox 119"/>
          <p:cNvSpPr/>
          <p:nvPr/>
        </p:nvSpPr>
        <p:spPr bwMode="auto">
          <a:xfrm>
            <a:off x="2665440" y="3384000"/>
            <a:ext cx="719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112496" name="TextBox 24"/>
          <p:cNvSpPr/>
          <p:nvPr/>
        </p:nvSpPr>
        <p:spPr bwMode="auto">
          <a:xfrm>
            <a:off x="3321720" y="1974960"/>
            <a:ext cx="469908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200" b="0" u="none" strike="noStrike">
                <a:solidFill>
                  <a:schemeClr val="accent5"/>
                </a:solidFill>
                <a:latin typeface="Aptos"/>
                <a:ea typeface="Arial"/>
              </a:rPr>
              <a:t>Ancestor’s right link is changed from successor (B) to the remaining leaf node (K)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0757213" name="Title 1"/>
          <p:cNvSpPr/>
          <p:nvPr/>
        </p:nvSpPr>
        <p:spPr bwMode="auto">
          <a:xfrm flipH="0" flipV="0">
            <a:off x="724320" y="232737"/>
            <a:ext cx="7519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288322" name="Flowchart: Connector 28"/>
          <p:cNvSpPr/>
          <p:nvPr/>
        </p:nvSpPr>
        <p:spPr bwMode="auto">
          <a:xfrm>
            <a:off x="1236960" y="1413720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5425024" name="TextBox 31"/>
          <p:cNvSpPr/>
          <p:nvPr/>
        </p:nvSpPr>
        <p:spPr bwMode="auto">
          <a:xfrm>
            <a:off x="1329120" y="1345680"/>
            <a:ext cx="3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97005444" name="Straight Arrow Connector 35"/>
          <p:cNvCxnSpPr/>
          <p:nvPr/>
        </p:nvCxnSpPr>
        <p:spPr bwMode="auto">
          <a:xfrm flipH="1">
            <a:off x="1527840" y="2012040"/>
            <a:ext cx="504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84813539" name="TextBox 33"/>
          <p:cNvSpPr/>
          <p:nvPr/>
        </p:nvSpPr>
        <p:spPr bwMode="auto">
          <a:xfrm>
            <a:off x="1899000" y="1461780"/>
            <a:ext cx="106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743085" name="Flowchart: Connector 40"/>
          <p:cNvSpPr/>
          <p:nvPr/>
        </p:nvSpPr>
        <p:spPr bwMode="auto">
          <a:xfrm>
            <a:off x="8639560" y="1935357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81477326" name="Straight Arrow Connector 41"/>
          <p:cNvCxnSpPr/>
          <p:nvPr/>
        </p:nvCxnSpPr>
        <p:spPr bwMode="auto">
          <a:xfrm>
            <a:off x="9123400" y="2447277"/>
            <a:ext cx="351360" cy="44064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566505157" name="Straight Arrow Connector 42"/>
          <p:cNvCxnSpPr/>
          <p:nvPr/>
        </p:nvCxnSpPr>
        <p:spPr bwMode="auto">
          <a:xfrm flipH="1">
            <a:off x="8435800" y="2449797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675098325" name="Rectangle 43"/>
          <p:cNvSpPr/>
          <p:nvPr/>
        </p:nvSpPr>
        <p:spPr bwMode="auto">
          <a:xfrm>
            <a:off x="8124400" y="2914557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932561" name="TextBox 46"/>
          <p:cNvSpPr/>
          <p:nvPr/>
        </p:nvSpPr>
        <p:spPr bwMode="auto">
          <a:xfrm>
            <a:off x="8731720" y="1867317"/>
            <a:ext cx="394918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71267" name="Flowchart: Connector 4"/>
          <p:cNvSpPr/>
          <p:nvPr/>
        </p:nvSpPr>
        <p:spPr bwMode="auto">
          <a:xfrm>
            <a:off x="9299800" y="2871356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62769078" name="Straight Arrow Connector 5"/>
          <p:cNvCxnSpPr/>
          <p:nvPr/>
        </p:nvCxnSpPr>
        <p:spPr bwMode="auto">
          <a:xfrm>
            <a:off x="9783640" y="3383277"/>
            <a:ext cx="351360" cy="4410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cxnSp>
        <p:nvCxnSpPr>
          <p:cNvPr id="1905349607" name="Straight Arrow Connector 6"/>
          <p:cNvCxnSpPr/>
          <p:nvPr/>
        </p:nvCxnSpPr>
        <p:spPr bwMode="auto">
          <a:xfrm flipH="1">
            <a:off x="9096400" y="3385797"/>
            <a:ext cx="302400" cy="45396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58663009" name="TextBox 7"/>
          <p:cNvSpPr/>
          <p:nvPr/>
        </p:nvSpPr>
        <p:spPr bwMode="auto">
          <a:xfrm>
            <a:off x="9391960" y="2803677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6"/>
                </a:solidFill>
                <a:latin typeface="Aptos"/>
                <a:ea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7925029" name="Flowchart: Connector 8"/>
          <p:cNvSpPr/>
          <p:nvPr/>
        </p:nvSpPr>
        <p:spPr bwMode="auto">
          <a:xfrm>
            <a:off x="9931239" y="3814917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52454549" name="Straight Arrow Connector 9"/>
          <p:cNvCxnSpPr/>
          <p:nvPr/>
        </p:nvCxnSpPr>
        <p:spPr bwMode="auto">
          <a:xfrm>
            <a:off x="10415080" y="4326837"/>
            <a:ext cx="351360" cy="4410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cxnSp>
        <p:nvCxnSpPr>
          <p:cNvPr id="2069625801" name="Straight Arrow Connector 10"/>
          <p:cNvCxnSpPr/>
          <p:nvPr/>
        </p:nvCxnSpPr>
        <p:spPr bwMode="auto">
          <a:xfrm flipH="1">
            <a:off x="9727480" y="4329357"/>
            <a:ext cx="302760" cy="4536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805949550" name="TextBox 11"/>
          <p:cNvSpPr/>
          <p:nvPr/>
        </p:nvSpPr>
        <p:spPr bwMode="auto">
          <a:xfrm>
            <a:off x="10023400" y="3746877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102069" name="Flowchart: Connector 12"/>
          <p:cNvSpPr/>
          <p:nvPr/>
        </p:nvSpPr>
        <p:spPr bwMode="auto">
          <a:xfrm>
            <a:off x="10562680" y="4758117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84678334" name="Straight Arrow Connector 13"/>
          <p:cNvCxnSpPr/>
          <p:nvPr/>
        </p:nvCxnSpPr>
        <p:spPr bwMode="auto">
          <a:xfrm>
            <a:off x="11046520" y="5270037"/>
            <a:ext cx="351360" cy="4410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cxnSp>
        <p:nvCxnSpPr>
          <p:cNvPr id="76129410" name="Straight Arrow Connector 14"/>
          <p:cNvCxnSpPr/>
          <p:nvPr/>
        </p:nvCxnSpPr>
        <p:spPr bwMode="auto">
          <a:xfrm flipH="1">
            <a:off x="10358920" y="5272917"/>
            <a:ext cx="302760" cy="4536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sp>
        <p:nvSpPr>
          <p:cNvPr id="559425450" name="TextBox 15"/>
          <p:cNvSpPr/>
          <p:nvPr/>
        </p:nvSpPr>
        <p:spPr bwMode="auto">
          <a:xfrm>
            <a:off x="10654840" y="4690437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FFC000"/>
                </a:solidFill>
                <a:latin typeface="Aptos"/>
                <a:ea typeface="Arial"/>
              </a:rPr>
              <a:t>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720471" name="Rectangle 16"/>
          <p:cNvSpPr/>
          <p:nvPr/>
        </p:nvSpPr>
        <p:spPr bwMode="auto">
          <a:xfrm>
            <a:off x="8835760" y="3850917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G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616573" name="Rectangle 17"/>
          <p:cNvSpPr/>
          <p:nvPr/>
        </p:nvSpPr>
        <p:spPr bwMode="auto">
          <a:xfrm>
            <a:off x="9394480" y="4794117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H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662537" name="Rectangle 18"/>
          <p:cNvSpPr/>
          <p:nvPr/>
        </p:nvSpPr>
        <p:spPr bwMode="auto">
          <a:xfrm>
            <a:off x="10098280" y="5744876"/>
            <a:ext cx="465840" cy="36324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tx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042821" name="Rectangle 19"/>
          <p:cNvSpPr/>
          <p:nvPr/>
        </p:nvSpPr>
        <p:spPr bwMode="auto">
          <a:xfrm>
            <a:off x="11194120" y="5737680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E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599356" name="TextBox 20"/>
          <p:cNvSpPr/>
          <p:nvPr/>
        </p:nvSpPr>
        <p:spPr bwMode="auto">
          <a:xfrm>
            <a:off x="9281080" y="1992237"/>
            <a:ext cx="27450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593235" name="TextBox 21"/>
          <p:cNvSpPr/>
          <p:nvPr/>
        </p:nvSpPr>
        <p:spPr bwMode="auto">
          <a:xfrm flipH="0" flipV="0">
            <a:off x="9878860" y="2834283"/>
            <a:ext cx="2051929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6"/>
                </a:solidFill>
                <a:latin typeface="Aptos"/>
                <a:ea typeface="Arial"/>
              </a:rPr>
              <a:t>successor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390671" name="TextBox 23"/>
          <p:cNvSpPr/>
          <p:nvPr/>
        </p:nvSpPr>
        <p:spPr bwMode="auto">
          <a:xfrm>
            <a:off x="9444520" y="5729757"/>
            <a:ext cx="71999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19400" name="TextBox 3"/>
          <p:cNvSpPr/>
          <p:nvPr/>
        </p:nvSpPr>
        <p:spPr bwMode="auto">
          <a:xfrm rot="18599928" flipH="0" flipV="0">
            <a:off x="8787726" y="3252195"/>
            <a:ext cx="7070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892243" name="TextBox 25"/>
          <p:cNvSpPr/>
          <p:nvPr/>
        </p:nvSpPr>
        <p:spPr bwMode="auto">
          <a:xfrm rot="18179905" flipH="0" flipV="0">
            <a:off x="9301590" y="4082155"/>
            <a:ext cx="9608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256603" name="TextBox 26"/>
          <p:cNvSpPr/>
          <p:nvPr/>
        </p:nvSpPr>
        <p:spPr bwMode="auto">
          <a:xfrm rot="3119927" flipH="0" flipV="0">
            <a:off x="11095808" y="5210443"/>
            <a:ext cx="7866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018668" name="Flowchart: Connector 24"/>
          <p:cNvSpPr/>
          <p:nvPr/>
        </p:nvSpPr>
        <p:spPr bwMode="auto">
          <a:xfrm>
            <a:off x="8649280" y="895316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95298663" name="TextBox 28"/>
          <p:cNvSpPr/>
          <p:nvPr/>
        </p:nvSpPr>
        <p:spPr bwMode="auto">
          <a:xfrm>
            <a:off x="8741800" y="827277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9108239" name="TextBox 31"/>
          <p:cNvSpPr/>
          <p:nvPr/>
        </p:nvSpPr>
        <p:spPr bwMode="auto">
          <a:xfrm>
            <a:off x="9301600" y="918717"/>
            <a:ext cx="10677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96186636" name="Straight Arrow Connector 33"/>
          <p:cNvCxnSpPr/>
          <p:nvPr/>
        </p:nvCxnSpPr>
        <p:spPr bwMode="auto">
          <a:xfrm flipH="1">
            <a:off x="8940160" y="1493637"/>
            <a:ext cx="540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638737494" name=""/>
          <p:cNvSpPr txBox="1"/>
          <p:nvPr/>
        </p:nvSpPr>
        <p:spPr bwMode="auto">
          <a:xfrm rot="2755766" flipH="0" flipV="0">
            <a:off x="9829926" y="3286649"/>
            <a:ext cx="68339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573402279" name=""/>
          <p:cNvSpPr txBox="1"/>
          <p:nvPr/>
        </p:nvSpPr>
        <p:spPr bwMode="auto">
          <a:xfrm rot="3276206" flipH="0" flipV="0">
            <a:off x="10436171" y="4214299"/>
            <a:ext cx="68375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1583489154" name=""/>
          <p:cNvSpPr txBox="1"/>
          <p:nvPr/>
        </p:nvSpPr>
        <p:spPr bwMode="auto">
          <a:xfrm rot="18321882" flipH="0" flipV="0">
            <a:off x="9982981" y="5191296"/>
            <a:ext cx="68447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577262282" name="TextBox 22"/>
          <p:cNvSpPr/>
          <p:nvPr/>
        </p:nvSpPr>
        <p:spPr bwMode="auto">
          <a:xfrm flipH="0" flipV="0">
            <a:off x="11120040" y="4690437"/>
            <a:ext cx="105524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C000"/>
                </a:solidFill>
                <a:latin typeface="Aptos"/>
                <a:ea typeface="Arial"/>
              </a:rPr>
              <a:t>parent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037889" name="PlaceHolder 1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600" b="0" u="none" strike="noStrike">
                <a:solidFill>
                  <a:schemeClr val="dk1"/>
                </a:solidFill>
                <a:latin typeface="Aptos"/>
                <a:ea typeface="Aptos"/>
              </a:rPr>
              <a:t>We allocate 5 hazard pointers to protect nodes in the underlying search procedure: current, leaf, parent, successor, and ancestor. The current node points to the lowest node that is currently considered</a:t>
            </a:r>
            <a:endParaRPr lang="en-US" sz="26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6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600" b="0" u="none" strike="noStrike">
                <a:solidFill>
                  <a:schemeClr val="dk1"/>
                </a:solidFill>
                <a:latin typeface="Aptos"/>
                <a:ea typeface="Aptos"/>
              </a:rPr>
              <a:t>After each HP reservation of the current node, if the corresponding node is flagged or tagged, we need to verify that ancestor still points to successor</a:t>
            </a:r>
            <a:endParaRPr lang="en-US" sz="26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6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600" b="0" u="none" strike="noStrike">
                <a:solidFill>
                  <a:schemeClr val="dk1"/>
                </a:solidFill>
                <a:latin typeface="Aptos"/>
                <a:ea typeface="Aptos"/>
              </a:rPr>
              <a:t>If ancestor points to some other node or successor becomes tagged, we need to restart from the very beginning</a:t>
            </a:r>
            <a:endParaRPr lang="en-US" sz="26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79703727" name="Title 1"/>
          <p:cNvSpPr/>
          <p:nvPr/>
        </p:nvSpPr>
        <p:spPr bwMode="auto">
          <a:xfrm>
            <a:off x="990720" y="51768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213463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75756211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404045809" name="TextBox 9"/>
          <p:cNvSpPr/>
          <p:nvPr/>
        </p:nvSpPr>
        <p:spPr bwMode="auto">
          <a:xfrm>
            <a:off x="2741400" y="2565360"/>
            <a:ext cx="78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171133" name="Arrow: Right 10"/>
          <p:cNvSpPr/>
          <p:nvPr/>
        </p:nvSpPr>
        <p:spPr bwMode="auto">
          <a:xfrm>
            <a:off x="3978360" y="267948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97882610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73253481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427238397" name="TextBox 17"/>
          <p:cNvSpPr/>
          <p:nvPr/>
        </p:nvSpPr>
        <p:spPr bwMode="auto">
          <a:xfrm>
            <a:off x="4723560" y="2567519"/>
            <a:ext cx="68039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391870" name="Arrow: Right 1"/>
          <p:cNvSpPr/>
          <p:nvPr/>
        </p:nvSpPr>
        <p:spPr bwMode="auto">
          <a:xfrm>
            <a:off x="2099880" y="265284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77528663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16170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 w="12700">
            <a:solidFill>
              <a:srgbClr val="000000"/>
            </a:solidFill>
            <a:prstDash val="solid"/>
          </a:ln>
        </p:spPr>
      </p:cxnSp>
      <p:sp>
        <p:nvSpPr>
          <p:cNvPr id="1396539261" name="TextBox 4"/>
          <p:cNvSpPr/>
          <p:nvPr/>
        </p:nvSpPr>
        <p:spPr bwMode="auto">
          <a:xfrm>
            <a:off x="920160" y="2567519"/>
            <a:ext cx="68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14396" name="Arrow: Right 12"/>
          <p:cNvSpPr/>
          <p:nvPr/>
        </p:nvSpPr>
        <p:spPr bwMode="auto">
          <a:xfrm>
            <a:off x="5857920" y="267948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94262401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61904067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755854179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3459109" name="Arrow: Right 14"/>
          <p:cNvSpPr/>
          <p:nvPr/>
        </p:nvSpPr>
        <p:spPr bwMode="auto">
          <a:xfrm>
            <a:off x="7642440" y="267300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918585654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3115361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578022868" name="TextBox 22"/>
          <p:cNvSpPr/>
          <p:nvPr/>
        </p:nvSpPr>
        <p:spPr bwMode="auto">
          <a:xfrm>
            <a:off x="6536520" y="2568240"/>
            <a:ext cx="785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903533" name="Arrow: Right 29"/>
          <p:cNvSpPr/>
          <p:nvPr/>
        </p:nvSpPr>
        <p:spPr bwMode="auto">
          <a:xfrm>
            <a:off x="9560880" y="265932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62456980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635676000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009439239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482254194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94832776" name="TextBox 30"/>
          <p:cNvSpPr/>
          <p:nvPr/>
        </p:nvSpPr>
        <p:spPr bwMode="auto">
          <a:xfrm>
            <a:off x="4113720" y="1396080"/>
            <a:ext cx="2744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8358" name="TextBox 36"/>
          <p:cNvSpPr/>
          <p:nvPr/>
        </p:nvSpPr>
        <p:spPr bwMode="auto">
          <a:xfrm flipH="0" flipV="0">
            <a:off x="1972332" y="4769938"/>
            <a:ext cx="7911824" cy="8233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sz="24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original data structure with EBR allows wait-free read-only traversals, no need to restart from the beginning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8260836" name="TextBox 37"/>
          <p:cNvSpPr/>
          <p:nvPr/>
        </p:nvSpPr>
        <p:spPr bwMode="auto">
          <a:xfrm>
            <a:off x="4626360" y="3543480"/>
            <a:ext cx="15548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549694" name="TextBox 39"/>
          <p:cNvSpPr/>
          <p:nvPr/>
        </p:nvSpPr>
        <p:spPr bwMode="auto">
          <a:xfrm>
            <a:off x="1453319" y="2576519"/>
            <a:ext cx="649080" cy="36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718120" name="TextBox 46"/>
          <p:cNvSpPr/>
          <p:nvPr/>
        </p:nvSpPr>
        <p:spPr bwMode="auto">
          <a:xfrm>
            <a:off x="6505920" y="3541680"/>
            <a:ext cx="2744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035837" name="Title 1"/>
          <p:cNvSpPr/>
          <p:nvPr/>
        </p:nvSpPr>
        <p:spPr bwMode="auto">
          <a:xfrm>
            <a:off x="670447" y="528479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SCOT: Wait-free traversal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496140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38016471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9899616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810641" name="TextBox 37"/>
          <p:cNvSpPr/>
          <p:nvPr/>
        </p:nvSpPr>
        <p:spPr bwMode="auto">
          <a:xfrm>
            <a:off x="4380698" y="3975840"/>
            <a:ext cx="15548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8986081" name="TextBox 38"/>
          <p:cNvSpPr/>
          <p:nvPr/>
        </p:nvSpPr>
        <p:spPr bwMode="auto">
          <a:xfrm flipH="0" flipV="0">
            <a:off x="681367" y="4976815"/>
            <a:ext cx="10801658" cy="11890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If validation fails due to the data structure state change </a:t>
            </a:r>
            <a:r>
              <a:rPr sz="24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and the last safe node is logically deleted</a:t>
            </a:r>
            <a:r>
              <a:rPr lang="en-US" sz="2400" b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, we need to restart from the beginning; </a:t>
            </a:r>
            <a:endParaRPr lang="en-US"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 defTabSz="914400">
              <a:lnSpc>
                <a:spcPct val="100000"/>
              </a:lnSpc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guarantees lock-free but not wait-free progress</a:t>
            </a:r>
            <a:r>
              <a:rPr lang="en-US" sz="2400" b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.  </a:t>
            </a:r>
            <a:endParaRPr sz="2400" b="0" u="none" strike="noStrike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69642275" name="Title 1"/>
          <p:cNvSpPr/>
          <p:nvPr/>
        </p:nvSpPr>
        <p:spPr bwMode="auto">
          <a:xfrm>
            <a:off x="823320" y="503280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SCOT: Wait-free traversal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028549" name="Rectangle 6"/>
          <p:cNvSpPr/>
          <p:nvPr/>
        </p:nvSpPr>
        <p:spPr bwMode="auto">
          <a:xfrm>
            <a:off x="2688479" y="31870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02419031" name="Straight Arrow Connector 7"/>
          <p:cNvCxnSpPr/>
          <p:nvPr/>
        </p:nvCxnSpPr>
        <p:spPr bwMode="auto">
          <a:xfrm>
            <a:off x="3310559" y="3186719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76378193" name="TextBox 9"/>
          <p:cNvSpPr/>
          <p:nvPr/>
        </p:nvSpPr>
        <p:spPr bwMode="auto">
          <a:xfrm>
            <a:off x="2690639" y="3267000"/>
            <a:ext cx="7812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581221" name="Arrow: Right 10"/>
          <p:cNvSpPr/>
          <p:nvPr/>
        </p:nvSpPr>
        <p:spPr bwMode="auto">
          <a:xfrm>
            <a:off x="3927599" y="338111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63834215" name="Rectangle 15"/>
          <p:cNvSpPr/>
          <p:nvPr/>
        </p:nvSpPr>
        <p:spPr bwMode="auto">
          <a:xfrm>
            <a:off x="4560839" y="3223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32230822" name="Straight Arrow Connector 16"/>
          <p:cNvCxnSpPr/>
          <p:nvPr/>
        </p:nvCxnSpPr>
        <p:spPr bwMode="auto">
          <a:xfrm>
            <a:off x="5218919" y="3223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2396757" name="TextBox 17"/>
          <p:cNvSpPr/>
          <p:nvPr/>
        </p:nvSpPr>
        <p:spPr bwMode="auto">
          <a:xfrm>
            <a:off x="4672798" y="3269158"/>
            <a:ext cx="6807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5014779" name="Arrow: Right 1"/>
          <p:cNvSpPr/>
          <p:nvPr/>
        </p:nvSpPr>
        <p:spPr bwMode="auto">
          <a:xfrm>
            <a:off x="2049119" y="335447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75225109" name="Rectangle 2"/>
          <p:cNvSpPr/>
          <p:nvPr/>
        </p:nvSpPr>
        <p:spPr bwMode="auto">
          <a:xfrm>
            <a:off x="797399" y="3196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81358210" name="Straight Arrow Connector 3"/>
          <p:cNvCxnSpPr/>
          <p:nvPr/>
        </p:nvCxnSpPr>
        <p:spPr bwMode="auto">
          <a:xfrm>
            <a:off x="1455839" y="319644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739404179" name="TextBox 4"/>
          <p:cNvSpPr/>
          <p:nvPr/>
        </p:nvSpPr>
        <p:spPr bwMode="auto">
          <a:xfrm>
            <a:off x="869399" y="3269158"/>
            <a:ext cx="6861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21609" name="Arrow: Right 12"/>
          <p:cNvSpPr/>
          <p:nvPr/>
        </p:nvSpPr>
        <p:spPr bwMode="auto">
          <a:xfrm>
            <a:off x="5807159" y="338111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97061458" name="Rectangle 13"/>
          <p:cNvSpPr/>
          <p:nvPr/>
        </p:nvSpPr>
        <p:spPr bwMode="auto">
          <a:xfrm>
            <a:off x="8251559" y="31903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55816687" name="Straight Arrow Connector 18"/>
          <p:cNvCxnSpPr/>
          <p:nvPr/>
        </p:nvCxnSpPr>
        <p:spPr bwMode="auto">
          <a:xfrm>
            <a:off x="8909999" y="31903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39871237" name="TextBox 20"/>
          <p:cNvSpPr/>
          <p:nvPr/>
        </p:nvSpPr>
        <p:spPr bwMode="auto">
          <a:xfrm>
            <a:off x="8343719" y="3263039"/>
            <a:ext cx="5925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300944" name="Arrow: Right 14"/>
          <p:cNvSpPr/>
          <p:nvPr/>
        </p:nvSpPr>
        <p:spPr bwMode="auto">
          <a:xfrm>
            <a:off x="7591679" y="337463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70836877" name="Rectangle 19"/>
          <p:cNvSpPr/>
          <p:nvPr/>
        </p:nvSpPr>
        <p:spPr bwMode="auto">
          <a:xfrm>
            <a:off x="6453719" y="3197158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8481583" name="Straight Arrow Connector 21"/>
          <p:cNvCxnSpPr/>
          <p:nvPr/>
        </p:nvCxnSpPr>
        <p:spPr bwMode="auto">
          <a:xfrm>
            <a:off x="7112159" y="3196799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359558883" name="TextBox 22"/>
          <p:cNvSpPr/>
          <p:nvPr/>
        </p:nvSpPr>
        <p:spPr bwMode="auto">
          <a:xfrm>
            <a:off x="6485759" y="3269879"/>
            <a:ext cx="78623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162423" name="Arrow: Right 29"/>
          <p:cNvSpPr/>
          <p:nvPr/>
        </p:nvSpPr>
        <p:spPr bwMode="auto">
          <a:xfrm>
            <a:off x="9510119" y="336095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09532446" name="Straight Arrow Connector 8"/>
          <p:cNvCxnSpPr/>
          <p:nvPr/>
        </p:nvCxnSpPr>
        <p:spPr bwMode="auto">
          <a:xfrm flipH="1">
            <a:off x="2412719" y="300276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479147547" name="Straight Arrow Connector 23"/>
          <p:cNvCxnSpPr/>
          <p:nvPr/>
        </p:nvCxnSpPr>
        <p:spPr bwMode="auto">
          <a:xfrm flipH="1">
            <a:off x="7880399" y="300276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368092852" name="Straight Arrow Connector 24"/>
          <p:cNvCxnSpPr/>
          <p:nvPr/>
        </p:nvCxnSpPr>
        <p:spPr bwMode="auto">
          <a:xfrm flipV="1">
            <a:off x="2414159" y="401076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191076672" name="Straight Arrow Connector 25"/>
          <p:cNvCxnSpPr/>
          <p:nvPr/>
        </p:nvCxnSpPr>
        <p:spPr bwMode="auto">
          <a:xfrm flipV="1">
            <a:off x="2414159" y="3001319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809514567" name="TextBox 30"/>
          <p:cNvSpPr/>
          <p:nvPr/>
        </p:nvSpPr>
        <p:spPr bwMode="auto">
          <a:xfrm>
            <a:off x="4062959" y="2097719"/>
            <a:ext cx="27442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2642816" name="TextBox 39"/>
          <p:cNvSpPr/>
          <p:nvPr/>
        </p:nvSpPr>
        <p:spPr bwMode="auto">
          <a:xfrm>
            <a:off x="1402559" y="3278158"/>
            <a:ext cx="645840" cy="36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1800" b="1" u="none" strike="noStrike">
                <a:solidFill>
                  <a:srgbClr val="FF0000"/>
                </a:solidFill>
                <a:latin typeface="Aptos"/>
                <a:ea typeface="Arial"/>
              </a:rPr>
              <a:t>prev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7203783" name="Straight Arrow Connector 40"/>
          <p:cNvCxnSpPr/>
          <p:nvPr/>
        </p:nvCxnSpPr>
        <p:spPr bwMode="auto">
          <a:xfrm flipV="1">
            <a:off x="1687319" y="2635919"/>
            <a:ext cx="7560" cy="58068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873076370" name="Straight Arrow Connector 41"/>
          <p:cNvCxnSpPr/>
          <p:nvPr/>
        </p:nvCxnSpPr>
        <p:spPr bwMode="auto">
          <a:xfrm>
            <a:off x="1694519" y="2626559"/>
            <a:ext cx="1422720" cy="7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1676851272" name="Straight Arrow Connector 42"/>
          <p:cNvCxnSpPr/>
          <p:nvPr/>
        </p:nvCxnSpPr>
        <p:spPr bwMode="auto">
          <a:xfrm>
            <a:off x="3116879" y="2632319"/>
            <a:ext cx="360" cy="529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med" len="med"/>
          </a:ln>
        </p:spPr>
      </p:cxnSp>
      <p:sp>
        <p:nvSpPr>
          <p:cNvPr id="987821372" name="TextBox 43"/>
          <p:cNvSpPr/>
          <p:nvPr/>
        </p:nvSpPr>
        <p:spPr bwMode="auto">
          <a:xfrm>
            <a:off x="1763639" y="2249639"/>
            <a:ext cx="13536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139503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55999" y="2134079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93682" name="TextBox 47"/>
          <p:cNvSpPr/>
          <p:nvPr/>
        </p:nvSpPr>
        <p:spPr bwMode="auto">
          <a:xfrm>
            <a:off x="3115079" y="2566799"/>
            <a:ext cx="27442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450948" name="Rectangle 26"/>
          <p:cNvSpPr/>
          <p:nvPr/>
        </p:nvSpPr>
        <p:spPr bwMode="auto">
          <a:xfrm>
            <a:off x="10170000" y="317700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27424245" name="TextBox 28"/>
          <p:cNvSpPr/>
          <p:nvPr/>
        </p:nvSpPr>
        <p:spPr bwMode="auto">
          <a:xfrm>
            <a:off x="10136879" y="3249719"/>
            <a:ext cx="5922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551826" name="Rectangle 26"/>
          <p:cNvSpPr/>
          <p:nvPr/>
        </p:nvSpPr>
        <p:spPr bwMode="auto">
          <a:xfrm>
            <a:off x="10780199" y="317700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623340" name="TextBox 5"/>
          <p:cNvSpPr/>
          <p:nvPr/>
        </p:nvSpPr>
        <p:spPr bwMode="auto">
          <a:xfrm flipH="0" flipV="0">
            <a:off x="107642" y="6754343"/>
            <a:ext cx="11976834" cy="2441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514034487" name="Title 1"/>
          <p:cNvSpPr/>
          <p:nvPr/>
        </p:nvSpPr>
        <p:spPr bwMode="auto">
          <a:xfrm>
            <a:off x="838380" y="578478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Wait-free traversal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354314" name=""/>
          <p:cNvSpPr txBox="1"/>
          <p:nvPr/>
        </p:nvSpPr>
        <p:spPr bwMode="auto">
          <a:xfrm rot="0" flipH="0" flipV="0">
            <a:off x="907008" y="1995177"/>
            <a:ext cx="10473710" cy="1920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 algn="l" defTabSz="914400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Our approach is specifically tailored for traversals and uses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a per-thread record entry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. 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  <a:p>
            <a:pPr marL="305908" indent="-305908" algn="l" defTabSz="914400">
              <a:lnSpc>
                <a:spcPct val="100000"/>
              </a:lnSpc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>
            <a:pPr marL="305908" indent="-305908" algn="l" defTabSz="914400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Avoids nonstandard instructions (only a regular CAS) and complexity related to dynamically-allocated descriptors (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OPODIS ’12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,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PPoPP ’14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).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915184" name=""/>
          <p:cNvSpPr txBox="1"/>
          <p:nvPr/>
        </p:nvSpPr>
        <p:spPr bwMode="auto">
          <a:xfrm rot="0" flipH="0" flipV="0">
            <a:off x="956984" y="4437567"/>
            <a:ext cx="8602867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Search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          Request_Help           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Slow_Search</a:t>
            </a: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/>
          </a:p>
        </p:txBody>
      </p:sp>
      <p:cxnSp>
        <p:nvCxnSpPr>
          <p:cNvPr id="184284429" name=""/>
          <p:cNvCxnSpPr/>
          <p:nvPr/>
        </p:nvCxnSpPr>
        <p:spPr bwMode="auto">
          <a:xfrm flipH="0" flipV="0">
            <a:off x="4887593" y="4669426"/>
            <a:ext cx="513847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8617661" name=""/>
          <p:cNvCxnSpPr/>
          <p:nvPr/>
        </p:nvCxnSpPr>
        <p:spPr bwMode="auto">
          <a:xfrm flipH="0" flipV="0">
            <a:off x="2137464" y="4669426"/>
            <a:ext cx="513846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812599" name="TextBox 5"/>
          <p:cNvSpPr/>
          <p:nvPr/>
        </p:nvSpPr>
        <p:spPr bwMode="auto">
          <a:xfrm flipH="0" flipV="0">
            <a:off x="107641" y="6754342"/>
            <a:ext cx="11976833" cy="24419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287879487" name="Title 1"/>
          <p:cNvSpPr/>
          <p:nvPr/>
        </p:nvSpPr>
        <p:spPr bwMode="auto">
          <a:xfrm>
            <a:off x="838379" y="578477"/>
            <a:ext cx="10515238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Wait-free traversal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685461" name=""/>
          <p:cNvSpPr txBox="1"/>
          <p:nvPr/>
        </p:nvSpPr>
        <p:spPr bwMode="auto">
          <a:xfrm rot="0" flipH="0" flipV="0">
            <a:off x="907007" y="1995176"/>
            <a:ext cx="10473709" cy="19205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7" indent="-305907" algn="l" defTabSz="914400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Our approach is specifically tailored for traversals and uses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a per-thread record entry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. 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  <a:p>
            <a:pPr marL="305907" indent="-305907" algn="l" defTabSz="914400">
              <a:lnSpc>
                <a:spcPct val="100000"/>
              </a:lnSpc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>
            <a:pPr marL="305907" indent="-305907" algn="l" defTabSz="914400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Avoids nonstandard instructions (only a regular CAS) and complexity related to dynamically-allocated descriptors (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OPODIS ’12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,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PPoPP ’14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).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125" name=""/>
          <p:cNvSpPr txBox="1"/>
          <p:nvPr/>
        </p:nvSpPr>
        <p:spPr bwMode="auto">
          <a:xfrm rot="0" flipH="0" flipV="0">
            <a:off x="956984" y="4437567"/>
            <a:ext cx="8602507" cy="2652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Search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          Request_Help           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Slow_Search</a:t>
            </a: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r>
              <a:rPr sz="2400"/>
              <a:t>Insert / Delete        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Help_Threads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sz="2400"/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          Slow_Search</a:t>
            </a: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/>
          </a:p>
        </p:txBody>
      </p:sp>
      <p:cxnSp>
        <p:nvCxnSpPr>
          <p:cNvPr id="789116720" name=""/>
          <p:cNvCxnSpPr/>
          <p:nvPr/>
        </p:nvCxnSpPr>
        <p:spPr bwMode="auto">
          <a:xfrm flipH="0" flipV="0">
            <a:off x="3014766" y="5763627"/>
            <a:ext cx="513846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405682" name=""/>
          <p:cNvCxnSpPr/>
          <p:nvPr/>
        </p:nvCxnSpPr>
        <p:spPr bwMode="auto">
          <a:xfrm flipH="0" flipV="0">
            <a:off x="4887592" y="4669425"/>
            <a:ext cx="513846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155610" name=""/>
          <p:cNvCxnSpPr/>
          <p:nvPr/>
        </p:nvCxnSpPr>
        <p:spPr bwMode="auto">
          <a:xfrm flipH="0" flipV="0">
            <a:off x="5664480" y="5763627"/>
            <a:ext cx="958764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847545" name=""/>
          <p:cNvSpPr txBox="1"/>
          <p:nvPr/>
        </p:nvSpPr>
        <p:spPr bwMode="auto">
          <a:xfrm rot="0" flipH="0" flipV="0">
            <a:off x="5833635" y="5397508"/>
            <a:ext cx="620454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accent6"/>
                </a:solidFill>
                <a:latin typeface="Aptos"/>
                <a:ea typeface="Aptos"/>
                <a:cs typeface="Aptos"/>
              </a:rPr>
              <a:t>True</a:t>
            </a:r>
            <a:endParaRPr sz="1800">
              <a:solidFill>
                <a:schemeClr val="accent6"/>
              </a:solidFill>
            </a:endParaRPr>
          </a:p>
        </p:txBody>
      </p:sp>
      <p:cxnSp>
        <p:nvCxnSpPr>
          <p:cNvPr id="1230039084" name=""/>
          <p:cNvCxnSpPr/>
          <p:nvPr/>
        </p:nvCxnSpPr>
        <p:spPr bwMode="auto">
          <a:xfrm flipH="0" flipV="0">
            <a:off x="2137464" y="4669425"/>
            <a:ext cx="513846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698664" name="TextBox 5"/>
          <p:cNvSpPr/>
          <p:nvPr/>
        </p:nvSpPr>
        <p:spPr bwMode="auto">
          <a:xfrm flipH="0" flipV="0">
            <a:off x="912048" y="2066439"/>
            <a:ext cx="10300347" cy="36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316687" name="Title 1"/>
          <p:cNvSpPr/>
          <p:nvPr/>
        </p:nvSpPr>
        <p:spPr bwMode="auto">
          <a:xfrm>
            <a:off x="794927" y="497079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Wait-free traversal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6114148" name=""/>
          <p:cNvSpPr txBox="1"/>
          <p:nvPr/>
        </p:nvSpPr>
        <p:spPr bwMode="auto">
          <a:xfrm rot="0" flipH="0" flipV="0">
            <a:off x="800282" y="1822239"/>
            <a:ext cx="1093031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900371877" name=""/>
          <p:cNvSpPr/>
          <p:nvPr/>
        </p:nvSpPr>
        <p:spPr bwMode="auto">
          <a:xfrm rot="0" flipH="0" flipV="0">
            <a:off x="2179798" y="3004029"/>
            <a:ext cx="2746969" cy="1215690"/>
          </a:xfrm>
          <a:prstGeom prst="rect">
            <a:avLst/>
          </a:prstGeom>
          <a:noFill/>
          <a:ln w="12699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25701045" name=""/>
          <p:cNvCxnSpPr/>
          <p:nvPr/>
        </p:nvCxnSpPr>
        <p:spPr bwMode="auto">
          <a:xfrm flipH="1" flipV="0">
            <a:off x="3740149" y="3004029"/>
            <a:ext cx="0" cy="121569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360485" name=""/>
          <p:cNvSpPr txBox="1"/>
          <p:nvPr/>
        </p:nvSpPr>
        <p:spPr bwMode="auto">
          <a:xfrm rot="0" flipH="0" flipV="0">
            <a:off x="1996162" y="3199983"/>
            <a:ext cx="183636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03848537" name=""/>
          <p:cNvSpPr txBox="1"/>
          <p:nvPr/>
        </p:nvSpPr>
        <p:spPr bwMode="auto">
          <a:xfrm rot="0" flipH="0" flipV="0">
            <a:off x="2260168" y="2558826"/>
            <a:ext cx="266767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Input request (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</a:t>
            </a:r>
            <a:r>
              <a:rPr lang="en-US" sz="2000" b="0" i="0" u="none" strike="noStrike" cap="none" spc="0" baseline="-25000">
                <a:solidFill>
                  <a:srgbClr val="000000"/>
                </a:solidFill>
                <a:latin typeface="Aptos"/>
                <a:ea typeface="Arial"/>
                <a:cs typeface="Arial"/>
              </a:rPr>
              <a:t>helpee</a:t>
            </a:r>
            <a:r>
              <a:rPr sz="20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)</a:t>
            </a:r>
            <a:endParaRPr sz="2000"/>
          </a:p>
        </p:txBody>
      </p:sp>
      <p:sp>
        <p:nvSpPr>
          <p:cNvPr id="224646396" name=""/>
          <p:cNvSpPr txBox="1"/>
          <p:nvPr/>
        </p:nvSpPr>
        <p:spPr bwMode="auto">
          <a:xfrm rot="0" flipH="0" flipV="0">
            <a:off x="2222371" y="3400628"/>
            <a:ext cx="142546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slow-path cycle #</a:t>
            </a:r>
            <a:endParaRPr sz="1800"/>
          </a:p>
        </p:txBody>
      </p:sp>
      <p:sp>
        <p:nvSpPr>
          <p:cNvPr id="1354620105" name=""/>
          <p:cNvSpPr txBox="1"/>
          <p:nvPr/>
        </p:nvSpPr>
        <p:spPr bwMode="auto">
          <a:xfrm rot="0" flipH="0" flipV="0">
            <a:off x="4192293" y="3527758"/>
            <a:ext cx="319281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1</a:t>
            </a:r>
            <a:endParaRPr/>
          </a:p>
        </p:txBody>
      </p:sp>
      <p:cxnSp>
        <p:nvCxnSpPr>
          <p:cNvPr id="774574661" name=""/>
          <p:cNvCxnSpPr/>
          <p:nvPr/>
        </p:nvCxnSpPr>
        <p:spPr bwMode="auto">
          <a:xfrm flipH="0" flipV="0">
            <a:off x="2179798" y="3365507"/>
            <a:ext cx="2746969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3770836" name=""/>
          <p:cNvSpPr txBox="1"/>
          <p:nvPr/>
        </p:nvSpPr>
        <p:spPr bwMode="auto">
          <a:xfrm rot="0" flipH="0" flipV="0">
            <a:off x="3791241" y="3004029"/>
            <a:ext cx="94571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IsInput</a:t>
            </a:r>
            <a:endParaRPr sz="2000"/>
          </a:p>
        </p:txBody>
      </p:sp>
      <p:sp>
        <p:nvSpPr>
          <p:cNvPr id="269484652" name=""/>
          <p:cNvSpPr txBox="1"/>
          <p:nvPr/>
        </p:nvSpPr>
        <p:spPr bwMode="auto">
          <a:xfrm rot="0" flipH="0" flipV="0">
            <a:off x="3936036" y="4219719"/>
            <a:ext cx="65612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bit 0</a:t>
            </a:r>
            <a:endParaRPr sz="2000"/>
          </a:p>
        </p:txBody>
      </p:sp>
      <p:sp>
        <p:nvSpPr>
          <p:cNvPr id="2097942901" name=""/>
          <p:cNvSpPr txBox="1"/>
          <p:nvPr/>
        </p:nvSpPr>
        <p:spPr bwMode="auto">
          <a:xfrm rot="0" flipH="0" flipV="0">
            <a:off x="2487315" y="2968907"/>
            <a:ext cx="809042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Value</a:t>
            </a:r>
            <a:endParaRPr sz="2000"/>
          </a:p>
        </p:txBody>
      </p:sp>
      <p:sp>
        <p:nvSpPr>
          <p:cNvPr id="451626110" name=""/>
          <p:cNvSpPr txBox="1"/>
          <p:nvPr/>
        </p:nvSpPr>
        <p:spPr bwMode="auto">
          <a:xfrm rot="0" flipH="0" flipV="0">
            <a:off x="2331952" y="4219719"/>
            <a:ext cx="112084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/>
              <a:t>bit 63:1</a:t>
            </a:r>
            <a:endParaRPr sz="2000"/>
          </a:p>
        </p:txBody>
      </p:sp>
      <p:sp>
        <p:nvSpPr>
          <p:cNvPr id="1532059437" name=""/>
          <p:cNvSpPr/>
          <p:nvPr/>
        </p:nvSpPr>
        <p:spPr bwMode="auto">
          <a:xfrm rot="0" flipH="0" flipV="0">
            <a:off x="6415911" y="3057820"/>
            <a:ext cx="2746968" cy="1215689"/>
          </a:xfrm>
          <a:prstGeom prst="rect">
            <a:avLst/>
          </a:prstGeom>
          <a:noFill/>
          <a:ln w="12699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86026379" name=""/>
          <p:cNvCxnSpPr/>
          <p:nvPr/>
        </p:nvCxnSpPr>
        <p:spPr bwMode="auto">
          <a:xfrm flipH="1" flipV="0">
            <a:off x="7976264" y="3057820"/>
            <a:ext cx="0" cy="1215689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9607290" name=""/>
          <p:cNvSpPr txBox="1"/>
          <p:nvPr/>
        </p:nvSpPr>
        <p:spPr bwMode="auto">
          <a:xfrm rot="0" flipH="0" flipV="0">
            <a:off x="7228479" y="3238585"/>
            <a:ext cx="183636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17106441" name=""/>
          <p:cNvSpPr txBox="1"/>
          <p:nvPr/>
        </p:nvSpPr>
        <p:spPr bwMode="auto">
          <a:xfrm rot="0" flipH="0" flipV="0">
            <a:off x="6458485" y="2582673"/>
            <a:ext cx="290886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Output result (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</a:t>
            </a:r>
            <a:r>
              <a:rPr lang="en-US" sz="2000" b="0" i="0" u="none" strike="noStrike" cap="none" spc="0" baseline="-25000">
                <a:solidFill>
                  <a:srgbClr val="000000"/>
                </a:solidFill>
                <a:latin typeface="Aptos"/>
                <a:ea typeface="Arial"/>
                <a:cs typeface="Arial"/>
              </a:rPr>
              <a:t>helpee</a:t>
            </a:r>
            <a:r>
              <a:rPr sz="20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)</a:t>
            </a:r>
            <a:endParaRPr sz="2000"/>
          </a:p>
        </p:txBody>
      </p:sp>
      <p:sp>
        <p:nvSpPr>
          <p:cNvPr id="129037087" name=""/>
          <p:cNvSpPr txBox="1"/>
          <p:nvPr/>
        </p:nvSpPr>
        <p:spPr bwMode="auto">
          <a:xfrm rot="0" flipH="0" flipV="0">
            <a:off x="6458485" y="3454420"/>
            <a:ext cx="143194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result</a:t>
            </a:r>
            <a:br>
              <a:rPr lang="en-US" sz="1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sz="1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True/False</a:t>
            </a:r>
            <a:endParaRPr sz="1800"/>
          </a:p>
        </p:txBody>
      </p:sp>
      <p:sp>
        <p:nvSpPr>
          <p:cNvPr id="1467777092" name=""/>
          <p:cNvSpPr txBox="1"/>
          <p:nvPr/>
        </p:nvSpPr>
        <p:spPr bwMode="auto">
          <a:xfrm rot="0" flipH="0" flipV="0">
            <a:off x="8428407" y="3581550"/>
            <a:ext cx="319281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0</a:t>
            </a:r>
            <a:endParaRPr sz="2000"/>
          </a:p>
        </p:txBody>
      </p:sp>
      <p:cxnSp>
        <p:nvCxnSpPr>
          <p:cNvPr id="1512902301" name=""/>
          <p:cNvCxnSpPr/>
          <p:nvPr/>
        </p:nvCxnSpPr>
        <p:spPr bwMode="auto">
          <a:xfrm flipH="0" flipV="0">
            <a:off x="6415911" y="3419298"/>
            <a:ext cx="2746968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3595082" name=""/>
          <p:cNvSpPr txBox="1"/>
          <p:nvPr/>
        </p:nvSpPr>
        <p:spPr bwMode="auto">
          <a:xfrm rot="0" flipH="0" flipV="0">
            <a:off x="8027354" y="3057820"/>
            <a:ext cx="94571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IsInput</a:t>
            </a:r>
            <a:endParaRPr sz="2000"/>
          </a:p>
        </p:txBody>
      </p:sp>
      <p:sp>
        <p:nvSpPr>
          <p:cNvPr id="599826254" name=""/>
          <p:cNvSpPr txBox="1"/>
          <p:nvPr/>
        </p:nvSpPr>
        <p:spPr bwMode="auto">
          <a:xfrm rot="0" flipH="0" flipV="0">
            <a:off x="8172150" y="4273511"/>
            <a:ext cx="65612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bit 0</a:t>
            </a:r>
            <a:endParaRPr sz="2000"/>
          </a:p>
        </p:txBody>
      </p:sp>
      <p:sp>
        <p:nvSpPr>
          <p:cNvPr id="1409639213" name=""/>
          <p:cNvSpPr txBox="1"/>
          <p:nvPr/>
        </p:nvSpPr>
        <p:spPr bwMode="auto">
          <a:xfrm rot="0" flipH="0" flipV="0">
            <a:off x="6723429" y="3022697"/>
            <a:ext cx="809042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Value</a:t>
            </a:r>
            <a:endParaRPr sz="2000"/>
          </a:p>
        </p:txBody>
      </p:sp>
      <p:sp>
        <p:nvSpPr>
          <p:cNvPr id="1143087283" name=""/>
          <p:cNvSpPr txBox="1"/>
          <p:nvPr/>
        </p:nvSpPr>
        <p:spPr bwMode="auto">
          <a:xfrm rot="0" flipH="0" flipV="0">
            <a:off x="6568066" y="4273511"/>
            <a:ext cx="112120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/>
              <a:t>bit 63:1</a:t>
            </a:r>
            <a:endParaRPr sz="2000"/>
          </a:p>
        </p:txBody>
      </p:sp>
      <p:sp>
        <p:nvSpPr>
          <p:cNvPr id="1297261192" name=""/>
          <p:cNvSpPr txBox="1"/>
          <p:nvPr/>
        </p:nvSpPr>
        <p:spPr bwMode="auto">
          <a:xfrm rot="0" flipH="0" flipV="0">
            <a:off x="3179367" y="5411982"/>
            <a:ext cx="6348307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Output is produced by both helpee and helpers</a:t>
            </a:r>
            <a:endParaRPr sz="2400">
              <a:latin typeface="Aptos"/>
              <a:cs typeface="Aptos"/>
            </a:endParaRPr>
          </a:p>
        </p:txBody>
      </p:sp>
      <p:cxnSp>
        <p:nvCxnSpPr>
          <p:cNvPr id="229444732" name=""/>
          <p:cNvCxnSpPr/>
          <p:nvPr/>
        </p:nvCxnSpPr>
        <p:spPr bwMode="auto">
          <a:xfrm flipH="0" flipV="0">
            <a:off x="5007532" y="2779892"/>
            <a:ext cx="1257907" cy="360"/>
          </a:xfrm>
          <a:prstGeom prst="line">
            <a:avLst/>
          </a:prstGeom>
          <a:ln w="57150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73094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 Setup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5965615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825559"/>
            <a:ext cx="10769399" cy="496726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AMD EPYC 9754, 128 cores, 256 hardware threads, 384 GiB of RAM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SMR Schemes</a:t>
            </a: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No-Reclamation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NR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 baseline which leaks memory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Epoch-Based Reclamation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EBR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Hazard Pointers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HP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): TPDS ’04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Hazard Eras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HE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): SPAA ’17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Interval-Based Reclamation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IBR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): PPoPP ’18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Hyaline-1S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HLN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): PODC ’19, PLDI ’21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71187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Harris vs. Harris-Michael list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+mn-lt"/>
                <a:ea typeface="Aptos Display"/>
                <a:cs typeface="Aptos Display"/>
              </a:rPr>
              <a:t> (Throughput)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11920450" name=""/>
          <p:cNvSpPr/>
          <p:nvPr/>
        </p:nvSpPr>
        <p:spPr bwMode="auto">
          <a:xfrm>
            <a:off x="8836200" y="1491480"/>
            <a:ext cx="2873519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8723342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67299" y="2074194"/>
            <a:ext cx="5958161" cy="3064292"/>
          </a:xfrm>
          <a:prstGeom prst="rect">
            <a:avLst/>
          </a:prstGeom>
        </p:spPr>
      </p:pic>
      <p:pic>
        <p:nvPicPr>
          <p:cNvPr id="1145252315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260822" y="2130294"/>
            <a:ext cx="5878327" cy="3023233"/>
          </a:xfrm>
          <a:prstGeom prst="rect">
            <a:avLst/>
          </a:prstGeom>
        </p:spPr>
      </p:pic>
      <p:sp>
        <p:nvSpPr>
          <p:cNvPr id="1333588895" name=""/>
          <p:cNvSpPr txBox="1"/>
          <p:nvPr/>
        </p:nvSpPr>
        <p:spPr bwMode="auto">
          <a:xfrm rot="0" flipH="0" flipV="0">
            <a:off x="1880575" y="5370345"/>
            <a:ext cx="2717534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(a) Key Range = 512 </a:t>
            </a:r>
            <a:endParaRPr sz="2400"/>
          </a:p>
        </p:txBody>
      </p:sp>
      <p:sp>
        <p:nvSpPr>
          <p:cNvPr id="1197672203" name=""/>
          <p:cNvSpPr txBox="1"/>
          <p:nvPr/>
        </p:nvSpPr>
        <p:spPr bwMode="auto">
          <a:xfrm rot="0" flipH="0" flipV="0">
            <a:off x="7983243" y="5370345"/>
            <a:ext cx="3223245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(b) Key Range =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85468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The Natarajan-Mittal tree</a:t>
            </a:r>
            <a:r>
              <a:rPr lang="en-US" sz="4400" b="0" u="none" strike="noStrike">
                <a:solidFill>
                  <a:schemeClr val="dk1"/>
                </a:solidFill>
                <a:latin typeface="Aptos"/>
              </a:rPr>
              <a:t> 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(Throughput)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1438065" name=""/>
          <p:cNvSpPr/>
          <p:nvPr/>
        </p:nvSpPr>
        <p:spPr bwMode="auto">
          <a:xfrm>
            <a:off x="8335080" y="1491480"/>
            <a:ext cx="3399120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6663875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300111" y="2061882"/>
            <a:ext cx="5795888" cy="2911540"/>
          </a:xfrm>
          <a:prstGeom prst="rect">
            <a:avLst/>
          </a:prstGeom>
        </p:spPr>
      </p:pic>
      <p:sp>
        <p:nvSpPr>
          <p:cNvPr id="1060514397" name=""/>
          <p:cNvSpPr txBox="1"/>
          <p:nvPr/>
        </p:nvSpPr>
        <p:spPr bwMode="auto">
          <a:xfrm rot="0" flipH="0" flipV="0">
            <a:off x="1686315" y="5330810"/>
            <a:ext cx="3372068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(a)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Range =100,000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sp>
        <p:nvSpPr>
          <p:cNvPr id="968515442" name=""/>
          <p:cNvSpPr txBox="1"/>
          <p:nvPr/>
        </p:nvSpPr>
        <p:spPr bwMode="auto">
          <a:xfrm rot="0" flipH="0" flipV="0">
            <a:off x="7620640" y="5330810"/>
            <a:ext cx="3917250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(b)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Range = 50,000,000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pic>
        <p:nvPicPr>
          <p:cNvPr id="440826502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314097" y="2057751"/>
            <a:ext cx="5787054" cy="2915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38605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Code Availability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534682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825559"/>
            <a:ext cx="9512640" cy="194684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ptos"/>
              </a:rPr>
              <a:t>Code is open-source and available: </a:t>
            </a:r>
            <a:br>
              <a:rPr sz="2000"/>
            </a:br>
            <a:br>
              <a:rPr sz="2000"/>
            </a:b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GitHub Repository:</a:t>
            </a:r>
            <a:r>
              <a:rPr sz="2000"/>
              <a:t> </a:t>
            </a:r>
            <a:r>
              <a:rPr lang="en-US" sz="2000" b="0" u="sng" strike="noStrike">
                <a:solidFill>
                  <a:schemeClr val="hlink"/>
                </a:solidFill>
                <a:latin typeface="Aptos"/>
                <a:ea typeface="Aptos"/>
                <a:hlinkClick r:id="rId3" tooltip=""/>
              </a:rPr>
              <a:t>https://github.com/rusnikola/scot</a:t>
            </a:r>
            <a:br>
              <a:rPr sz="2000"/>
            </a:br>
            <a:br>
              <a:rPr sz="2000"/>
            </a:b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Zenodo DOI:</a:t>
            </a:r>
            <a:r>
              <a:rPr sz="2000">
                <a:solidFill>
                  <a:schemeClr val="tx1"/>
                </a:solidFill>
              </a:rPr>
              <a:t> </a:t>
            </a:r>
            <a:r>
              <a:rPr lang="en-US" sz="2000" b="0" i="0" u="sng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  <a:hlinkClick r:id="rId4" tooltip=""/>
              </a:rPr>
              <a:t>https://doi.org/10.5281/zenodo.17707898</a:t>
            </a:r>
            <a:br>
              <a:rPr sz="2000">
                <a:solidFill>
                  <a:schemeClr val="tx1"/>
                </a:solidFill>
              </a:rPr>
            </a:b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 </a:t>
            </a:r>
            <a:endParaRPr sz="2000" b="0" u="none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850760923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8176089" y="2940216"/>
            <a:ext cx="3447367" cy="3447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44436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39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Code Availability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08122813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825559"/>
            <a:ext cx="9512640" cy="194684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ptos"/>
              </a:rPr>
              <a:t>Code is open-source and available: </a:t>
            </a:r>
            <a:br>
              <a:rPr sz="2000"/>
            </a:br>
            <a:br>
              <a:rPr sz="2000"/>
            </a:b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GitHub Repository:</a:t>
            </a:r>
            <a:r>
              <a:rPr sz="2000"/>
              <a:t> </a:t>
            </a:r>
            <a:r>
              <a:rPr lang="en-US" sz="2000" b="0" u="sng" strike="noStrike">
                <a:solidFill>
                  <a:schemeClr val="hlink"/>
                </a:solidFill>
                <a:latin typeface="Aptos"/>
                <a:ea typeface="Aptos"/>
                <a:hlinkClick r:id="rId3" tooltip=""/>
              </a:rPr>
              <a:t>https://github.com/rusnikola/scot</a:t>
            </a:r>
            <a:br>
              <a:rPr sz="2000"/>
            </a:br>
            <a:br>
              <a:rPr sz="2000"/>
            </a:b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Zenodo DOI:</a:t>
            </a:r>
            <a:r>
              <a:rPr sz="2000">
                <a:solidFill>
                  <a:schemeClr val="tx1"/>
                </a:solidFill>
              </a:rPr>
              <a:t> </a:t>
            </a:r>
            <a:r>
              <a:rPr lang="en-US" sz="2000" b="0" i="0" u="sng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  <a:hlinkClick r:id="rId4" tooltip=""/>
              </a:rPr>
              <a:t>https://doi.org/10.5281/zenodo.17707898</a:t>
            </a:r>
            <a:br>
              <a:rPr sz="2000">
                <a:solidFill>
                  <a:schemeClr val="tx1"/>
                </a:solidFill>
              </a:rPr>
            </a:b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 </a:t>
            </a:r>
            <a:endParaRPr sz="2000" b="0" u="none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23988964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905952" y="3266072"/>
            <a:ext cx="3447366" cy="3447366"/>
          </a:xfrm>
          <a:prstGeom prst="rect">
            <a:avLst/>
          </a:prstGeom>
        </p:spPr>
      </p:pic>
      <p:graphicFrame>
        <p:nvGraphicFramePr>
          <p:cNvPr id="1103131180" name="Diagram1"/>
          <p:cNvGraphicFramePr>
            <a:graphicFrameLocks xmlns:a="http://schemas.openxmlformats.org/drawingml/2006/main"/>
          </p:cNvGraphicFramePr>
          <p:nvPr/>
        </p:nvGraphicFramePr>
        <p:xfrm rot="0">
          <a:off x="-1158447" y="3728627"/>
          <a:ext cx="8922240" cy="2868840"/>
          <a:chOff x="0" y="0"/>
          <a:chExt cx="8922240" cy="2868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9" r:qs="rId10" r:cs="rId8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991101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838080" y="365040"/>
            <a:ext cx="11301069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Harris vs. Harris-Michael list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 </a:t>
            </a:r>
            <a:b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</a:b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(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Avg. Number of Not-Yet-Reclaimed Objects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9502923" name=""/>
          <p:cNvSpPr/>
          <p:nvPr/>
        </p:nvSpPr>
        <p:spPr bwMode="auto">
          <a:xfrm>
            <a:off x="8836200" y="1491480"/>
            <a:ext cx="2873519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1139298" name=""/>
          <p:cNvSpPr txBox="1"/>
          <p:nvPr/>
        </p:nvSpPr>
        <p:spPr bwMode="auto">
          <a:xfrm rot="0" flipH="0" flipV="0">
            <a:off x="1880575" y="5370345"/>
            <a:ext cx="2717534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(a) Key Range = 512 </a:t>
            </a:r>
            <a:endParaRPr sz="2400"/>
          </a:p>
        </p:txBody>
      </p:sp>
      <p:sp>
        <p:nvSpPr>
          <p:cNvPr id="1169882143" name=""/>
          <p:cNvSpPr txBox="1"/>
          <p:nvPr/>
        </p:nvSpPr>
        <p:spPr bwMode="auto">
          <a:xfrm rot="0" flipH="0" flipV="0">
            <a:off x="7826582" y="5370345"/>
            <a:ext cx="3223245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(b) Key Range =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pic>
        <p:nvPicPr>
          <p:cNvPr id="789056883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282444" y="2130294"/>
            <a:ext cx="5813554" cy="3072525"/>
          </a:xfrm>
          <a:prstGeom prst="rect">
            <a:avLst/>
          </a:prstGeom>
        </p:spPr>
      </p:pic>
      <p:pic>
        <p:nvPicPr>
          <p:cNvPr id="10674675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248289" y="2112536"/>
            <a:ext cx="5834062" cy="3074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088092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838080" y="365040"/>
            <a:ext cx="11062544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The Natarajan-Mittal tree</a:t>
            </a:r>
            <a:r>
              <a:rPr lang="en-US" sz="4400" b="0" u="none" strike="noStrike">
                <a:solidFill>
                  <a:schemeClr val="dk1"/>
                </a:solidFill>
                <a:latin typeface="Aptos"/>
              </a:rPr>
              <a:t> </a:t>
            </a:r>
            <a:b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</a:b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(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Avg. Number of Not-Yet-Reclaimed Objects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1098827" name=""/>
          <p:cNvSpPr/>
          <p:nvPr/>
        </p:nvSpPr>
        <p:spPr bwMode="auto">
          <a:xfrm>
            <a:off x="8335080" y="1491480"/>
            <a:ext cx="3399120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711976" name=""/>
          <p:cNvSpPr txBox="1"/>
          <p:nvPr/>
        </p:nvSpPr>
        <p:spPr bwMode="auto">
          <a:xfrm rot="0" flipH="0" flipV="0">
            <a:off x="1893108" y="5559591"/>
            <a:ext cx="2802541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(a)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Range = 128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sp>
        <p:nvSpPr>
          <p:cNvPr id="408645900" name=""/>
          <p:cNvSpPr txBox="1"/>
          <p:nvPr/>
        </p:nvSpPr>
        <p:spPr bwMode="auto">
          <a:xfrm rot="0" flipH="0" flipV="0">
            <a:off x="7620641" y="5559591"/>
            <a:ext cx="3437973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(b)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Key Range = 100,000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pic>
        <p:nvPicPr>
          <p:cNvPr id="1470646316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332763" y="2154019"/>
            <a:ext cx="5821529" cy="3084084"/>
          </a:xfrm>
          <a:prstGeom prst="rect">
            <a:avLst/>
          </a:prstGeom>
        </p:spPr>
      </p:pic>
      <p:pic>
        <p:nvPicPr>
          <p:cNvPr id="1936652277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369352" y="2324851"/>
            <a:ext cx="5845404" cy="30893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352998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838080" y="365040"/>
            <a:ext cx="11075077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The  Natarajan-Mittal tree</a:t>
            </a:r>
            <a:r>
              <a:rPr lang="en-US" sz="4400" b="0" u="none" strike="noStrike">
                <a:solidFill>
                  <a:schemeClr val="dk1"/>
                </a:solidFill>
                <a:latin typeface="Aptos"/>
              </a:rPr>
              <a:t> </a:t>
            </a:r>
            <a:b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</a:b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(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Avg. Number of Not-Yet-Reclaimed Objects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84541212" name=""/>
          <p:cNvSpPr/>
          <p:nvPr/>
        </p:nvSpPr>
        <p:spPr bwMode="auto">
          <a:xfrm>
            <a:off x="8335080" y="1491480"/>
            <a:ext cx="3399120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942053" name=""/>
          <p:cNvSpPr txBox="1"/>
          <p:nvPr/>
        </p:nvSpPr>
        <p:spPr bwMode="auto">
          <a:xfrm rot="0" flipH="0" flipV="0">
            <a:off x="1893108" y="5330811"/>
            <a:ext cx="280290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 sz="2400"/>
          </a:p>
        </p:txBody>
      </p:sp>
      <p:sp>
        <p:nvSpPr>
          <p:cNvPr id="719785436" name=""/>
          <p:cNvSpPr txBox="1"/>
          <p:nvPr/>
        </p:nvSpPr>
        <p:spPr bwMode="auto">
          <a:xfrm rot="0" flipH="0" flipV="0">
            <a:off x="3720967" y="6045186"/>
            <a:ext cx="4749460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(c)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Range = 50,000,000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pic>
        <p:nvPicPr>
          <p:cNvPr id="1693947051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682915" y="1940271"/>
            <a:ext cx="7404072" cy="3848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40</Slides>
  <Notes>40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23</cp:revision>
  <dcterms:created xsi:type="dcterms:W3CDTF">2025-05-29T15:53:53Z</dcterms:created>
  <dcterms:modified xsi:type="dcterms:W3CDTF">2026-01-29T01:38:16Z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32</vt:i4>
  </property>
  <property fmtid="{D5CDD505-2E9C-101B-9397-08002B2CF9AE}" pid="4" name="PresentationFormat">
    <vt:lpwstr>On-screen Show (4:3)</vt:lpwstr>
  </property>
  <property fmtid="{D5CDD505-2E9C-101B-9397-08002B2CF9AE}" pid="5" name="Slides">
    <vt:i4>32</vt:i4>
  </property>
</Properties>
</file>